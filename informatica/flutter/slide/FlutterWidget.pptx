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Stile chi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4" d="100"/>
          <a:sy n="154" d="100"/>
        </p:scale>
        <p:origin x="53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BB34AD-373B-4B48-BDFF-12660A4FA1F5}" type="datetimeFigureOut">
              <a:rPr lang="it-IT" smtClean="0"/>
              <a:t>16/06/2021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8D557B3-5C15-4E63-BA02-46530807D084}" type="slidenum">
              <a:rPr lang="it-IT" smtClean="0"/>
              <a:t>‹N›</a:t>
            </a:fld>
            <a:endParaRPr lang="it-IT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5453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B34AD-373B-4B48-BDFF-12660A4FA1F5}" type="datetimeFigureOut">
              <a:rPr lang="it-IT" smtClean="0"/>
              <a:t>16/06/2021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557B3-5C15-4E63-BA02-46530807D0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32009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B34AD-373B-4B48-BDFF-12660A4FA1F5}" type="datetimeFigureOut">
              <a:rPr lang="it-IT" smtClean="0"/>
              <a:t>16/06/2021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557B3-5C15-4E63-BA02-46530807D084}" type="slidenum">
              <a:rPr lang="it-IT" smtClean="0"/>
              <a:t>‹N›</a:t>
            </a:fld>
            <a:endParaRPr lang="it-IT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8367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B34AD-373B-4B48-BDFF-12660A4FA1F5}" type="datetimeFigureOut">
              <a:rPr lang="it-IT" smtClean="0"/>
              <a:t>16/06/2021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557B3-5C15-4E63-BA02-46530807D0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409550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B34AD-373B-4B48-BDFF-12660A4FA1F5}" type="datetimeFigureOut">
              <a:rPr lang="it-IT" smtClean="0"/>
              <a:t>16/06/2021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557B3-5C15-4E63-BA02-46530807D0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35216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B34AD-373B-4B48-BDFF-12660A4FA1F5}" type="datetimeFigureOut">
              <a:rPr lang="it-IT" smtClean="0"/>
              <a:t>16/06/2021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557B3-5C15-4E63-BA02-46530807D0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40572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B34AD-373B-4B48-BDFF-12660A4FA1F5}" type="datetimeFigureOut">
              <a:rPr lang="it-IT" smtClean="0"/>
              <a:t>16/06/2021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557B3-5C15-4E63-BA02-46530807D0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37833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B34AD-373B-4B48-BDFF-12660A4FA1F5}" type="datetimeFigureOut">
              <a:rPr lang="it-IT" smtClean="0"/>
              <a:t>16/06/2021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557B3-5C15-4E63-BA02-46530807D0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980275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B34AD-373B-4B48-BDFF-12660A4FA1F5}" type="datetimeFigureOut">
              <a:rPr lang="it-IT" smtClean="0"/>
              <a:t>16/06/2021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557B3-5C15-4E63-BA02-46530807D0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82386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B34AD-373B-4B48-BDFF-12660A4FA1F5}" type="datetimeFigureOut">
              <a:rPr lang="it-IT" smtClean="0"/>
              <a:t>16/06/2021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557B3-5C15-4E63-BA02-46530807D0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06623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B34AD-373B-4B48-BDFF-12660A4FA1F5}" type="datetimeFigureOut">
              <a:rPr lang="it-IT" smtClean="0"/>
              <a:t>16/06/2021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557B3-5C15-4E63-BA02-46530807D0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66546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B6BB34AD-373B-4B48-BDFF-12660A4FA1F5}" type="datetimeFigureOut">
              <a:rPr lang="it-IT" smtClean="0"/>
              <a:t>16/06/2021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F8D557B3-5C15-4E63-BA02-46530807D0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17820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4.JPG"/><Relationship Id="rId2" Type="http://schemas.openxmlformats.org/officeDocument/2006/relationships/hyperlink" Target="https://www.woolha.com/tutorials/flutter-using-baseline-widget-example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forgeeks.org/center-widget-in-flutter/" TargetMode="External"/><Relationship Id="rId5" Type="http://schemas.openxmlformats.org/officeDocument/2006/relationships/image" Target="../media/image3.JPG"/><Relationship Id="rId4" Type="http://schemas.openxmlformats.org/officeDocument/2006/relationships/hyperlink" Target="https://api.flutter.dev/flutter/widgets/Container-class.html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flutter-c%C3%B4te-divoire/flutter-widget-padding-eng-840266d2a75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hyperlink" Target="https://api.flutter.dev/flutter/widgets/SizedBox-class.html" TargetMode="Externa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7" Type="http://schemas.openxmlformats.org/officeDocument/2006/relationships/image" Target="../media/image9.JPG"/><Relationship Id="rId2" Type="http://schemas.openxmlformats.org/officeDocument/2006/relationships/hyperlink" Target="https://api.flutter.dev/flutter/widgets/Column-class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pi.flutter.dev/flutter/widgets/ListView-class.html" TargetMode="External"/><Relationship Id="rId5" Type="http://schemas.openxmlformats.org/officeDocument/2006/relationships/image" Target="../media/image8.JPG"/><Relationship Id="rId4" Type="http://schemas.openxmlformats.org/officeDocument/2006/relationships/hyperlink" Target="https://api.flutter.dev/flutter/widgets/GridView-class.htm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hyperlink" Target="https://api.flutter.dev/flutter/widgets/Row-class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hyperlink" Target="https://api.flutter.dev/flutter/widgets/Stack-class.html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flutter.dev/docs/development/ui/layout" TargetMode="External"/><Relationship Id="rId2" Type="http://schemas.openxmlformats.org/officeDocument/2006/relationships/hyperlink" Target="https://flutter.dev/docs/codelabs/layout-basics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hyperlink" Target="https://meysam-mahfouzi.medium.com/flutter-layout-challenge-squares-3d0bc4c78793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E50EBA-5ED0-46E7-8CCB-96EE1D7816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Flutter widget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748DDB2-82D5-4796-BB86-9EA613DB7A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Di base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0F1E4429-EBFE-4B2E-B1F2-1A91B65258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702" y="507310"/>
            <a:ext cx="781159" cy="100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142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aborazione 4">
            <a:extLst>
              <a:ext uri="{FF2B5EF4-FFF2-40B4-BE49-F238E27FC236}">
                <a16:creationId xmlns:a16="http://schemas.microsoft.com/office/drawing/2014/main" id="{EB7B31FE-F269-4F2B-A58A-CA0D14A6E27B}"/>
              </a:ext>
            </a:extLst>
          </p:cNvPr>
          <p:cNvSpPr/>
          <p:nvPr/>
        </p:nvSpPr>
        <p:spPr>
          <a:xfrm>
            <a:off x="4802156" y="1990531"/>
            <a:ext cx="2264228" cy="796212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Widget</a:t>
            </a:r>
          </a:p>
        </p:txBody>
      </p:sp>
      <p:sp>
        <p:nvSpPr>
          <p:cNvPr id="6" name="Elaborazione 5">
            <a:extLst>
              <a:ext uri="{FF2B5EF4-FFF2-40B4-BE49-F238E27FC236}">
                <a16:creationId xmlns:a16="http://schemas.microsoft.com/office/drawing/2014/main" id="{AC888F5D-F5AE-408D-B5E7-CF0A1B9B5028}"/>
              </a:ext>
            </a:extLst>
          </p:cNvPr>
          <p:cNvSpPr/>
          <p:nvPr/>
        </p:nvSpPr>
        <p:spPr>
          <a:xfrm>
            <a:off x="3626497" y="3502089"/>
            <a:ext cx="1779037" cy="740229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Single-</a:t>
            </a:r>
            <a:r>
              <a:rPr lang="it-IT" dirty="0" err="1"/>
              <a:t>child</a:t>
            </a:r>
            <a:r>
              <a:rPr lang="it-IT" dirty="0"/>
              <a:t> Widget</a:t>
            </a:r>
          </a:p>
        </p:txBody>
      </p:sp>
      <p:sp>
        <p:nvSpPr>
          <p:cNvPr id="7" name="Elaborazione 6">
            <a:extLst>
              <a:ext uri="{FF2B5EF4-FFF2-40B4-BE49-F238E27FC236}">
                <a16:creationId xmlns:a16="http://schemas.microsoft.com/office/drawing/2014/main" id="{2FEEF7F6-AB2D-4992-B4B4-DA2468058043}"/>
              </a:ext>
            </a:extLst>
          </p:cNvPr>
          <p:cNvSpPr/>
          <p:nvPr/>
        </p:nvSpPr>
        <p:spPr>
          <a:xfrm>
            <a:off x="6295053" y="3502089"/>
            <a:ext cx="1779037" cy="740229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Multi-</a:t>
            </a:r>
            <a:r>
              <a:rPr lang="it-IT" dirty="0" err="1"/>
              <a:t>child</a:t>
            </a:r>
            <a:r>
              <a:rPr lang="it-IT" dirty="0"/>
              <a:t> Widget</a:t>
            </a:r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B047966D-A23D-4A80-B414-7A23F3CDDC61}"/>
              </a:ext>
            </a:extLst>
          </p:cNvPr>
          <p:cNvCxnSpPr>
            <a:endCxn id="6" idx="0"/>
          </p:cNvCxnSpPr>
          <p:nvPr/>
        </p:nvCxnSpPr>
        <p:spPr>
          <a:xfrm flipH="1">
            <a:off x="4516016" y="2786743"/>
            <a:ext cx="696687" cy="715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87934630-C306-43D2-8252-BBC9E83F1153}"/>
              </a:ext>
            </a:extLst>
          </p:cNvPr>
          <p:cNvCxnSpPr>
            <a:cxnSpLocks/>
          </p:cNvCxnSpPr>
          <p:nvPr/>
        </p:nvCxnSpPr>
        <p:spPr>
          <a:xfrm>
            <a:off x="6475445" y="2786743"/>
            <a:ext cx="534956" cy="715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2623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13731FB-08EB-4BB7-9102-8F224EDC0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Single </a:t>
            </a:r>
            <a:r>
              <a:rPr lang="it-IT" dirty="0" err="1"/>
              <a:t>child</a:t>
            </a:r>
            <a:r>
              <a:rPr lang="it-IT" dirty="0"/>
              <a:t> Widget</a:t>
            </a:r>
          </a:p>
        </p:txBody>
      </p:sp>
      <p:pic>
        <p:nvPicPr>
          <p:cNvPr id="5" name="Segnaposto contenuto 4">
            <a:hlinkClick r:id="rId2"/>
            <a:extLst>
              <a:ext uri="{FF2B5EF4-FFF2-40B4-BE49-F238E27FC236}">
                <a16:creationId xmlns:a16="http://schemas.microsoft.com/office/drawing/2014/main" id="{611A21C7-C27E-4CED-B7BB-6E28EA7F80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493" y="1965960"/>
            <a:ext cx="1933575" cy="1885950"/>
          </a:xfr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9AFF4B1B-BBE6-4037-A177-B6C4F7231B33}"/>
              </a:ext>
            </a:extLst>
          </p:cNvPr>
          <p:cNvSpPr txBox="1"/>
          <p:nvPr/>
        </p:nvSpPr>
        <p:spPr>
          <a:xfrm>
            <a:off x="1274492" y="3851910"/>
            <a:ext cx="19335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Baseline:</a:t>
            </a:r>
          </a:p>
          <a:p>
            <a:r>
              <a:rPr lang="it-IT" sz="1200" dirty="0"/>
              <a:t>Un widget che posiziona il figlio in base alla linea di base specificata</a:t>
            </a:r>
          </a:p>
        </p:txBody>
      </p:sp>
      <p:pic>
        <p:nvPicPr>
          <p:cNvPr id="8" name="Immagine 7">
            <a:hlinkClick r:id="rId4"/>
            <a:extLst>
              <a:ext uri="{FF2B5EF4-FFF2-40B4-BE49-F238E27FC236}">
                <a16:creationId xmlns:a16="http://schemas.microsoft.com/office/drawing/2014/main" id="{2519F752-3331-494C-9C59-9B17E50E6A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612" y="1965960"/>
            <a:ext cx="1914525" cy="1905000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2CB5858B-2E80-497C-AC67-C1767B9FC390}"/>
              </a:ext>
            </a:extLst>
          </p:cNvPr>
          <p:cNvSpPr txBox="1"/>
          <p:nvPr/>
        </p:nvSpPr>
        <p:spPr>
          <a:xfrm>
            <a:off x="4118612" y="3870960"/>
            <a:ext cx="19145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Container:</a:t>
            </a:r>
          </a:p>
          <a:p>
            <a:r>
              <a:rPr lang="it-IT" sz="1200" dirty="0"/>
              <a:t>Un widget che contiene i comuni widget di pittura, posizionamento e dimensionamento</a:t>
            </a:r>
          </a:p>
        </p:txBody>
      </p:sp>
      <p:pic>
        <p:nvPicPr>
          <p:cNvPr id="11" name="Immagine 10">
            <a:hlinkClick r:id="rId6"/>
            <a:extLst>
              <a:ext uri="{FF2B5EF4-FFF2-40B4-BE49-F238E27FC236}">
                <a16:creationId xmlns:a16="http://schemas.microsoft.com/office/drawing/2014/main" id="{72F6D4C1-7B70-417A-8795-474E8AC189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3681" y="1985010"/>
            <a:ext cx="1905000" cy="1885950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855C24FC-4D9B-45E9-A9ED-D91435EC4861}"/>
              </a:ext>
            </a:extLst>
          </p:cNvPr>
          <p:cNvSpPr txBox="1"/>
          <p:nvPr/>
        </p:nvSpPr>
        <p:spPr>
          <a:xfrm>
            <a:off x="6934156" y="3870960"/>
            <a:ext cx="191452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Center:</a:t>
            </a:r>
          </a:p>
          <a:p>
            <a:r>
              <a:rPr lang="it-IT" sz="1200" dirty="0"/>
              <a:t>Un widget che posiziona al suo centro il suo figlio</a:t>
            </a:r>
          </a:p>
        </p:txBody>
      </p:sp>
    </p:spTree>
    <p:extLst>
      <p:ext uri="{BB962C8B-B14F-4D97-AF65-F5344CB8AC3E}">
        <p14:creationId xmlns:p14="http://schemas.microsoft.com/office/powerpoint/2010/main" val="3086105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ED3CD8-0722-4FDA-A4AB-1C165ADF9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003939"/>
          </a:xfrm>
        </p:spPr>
        <p:txBody>
          <a:bodyPr/>
          <a:lstStyle/>
          <a:p>
            <a:r>
              <a:rPr lang="it-IT" dirty="0"/>
              <a:t>Single </a:t>
            </a:r>
            <a:r>
              <a:rPr lang="it-IT" dirty="0" err="1"/>
              <a:t>child</a:t>
            </a:r>
            <a:r>
              <a:rPr lang="it-IT" dirty="0"/>
              <a:t> Widget</a:t>
            </a:r>
          </a:p>
        </p:txBody>
      </p:sp>
      <p:pic>
        <p:nvPicPr>
          <p:cNvPr id="17" name="Segnaposto contenuto 16">
            <a:extLst>
              <a:ext uri="{FF2B5EF4-FFF2-40B4-BE49-F238E27FC236}">
                <a16:creationId xmlns:a16="http://schemas.microsoft.com/office/drawing/2014/main" id="{B9A0778B-471F-4B2F-8EFC-98904F4185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529" y="1930400"/>
            <a:ext cx="781159" cy="1009791"/>
          </a:xfr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199C46D9-8171-4CFB-83A6-4E684B6248ED}"/>
              </a:ext>
            </a:extLst>
          </p:cNvPr>
          <p:cNvSpPr txBox="1"/>
          <p:nvPr/>
        </p:nvSpPr>
        <p:spPr>
          <a:xfrm>
            <a:off x="1343608" y="3556015"/>
            <a:ext cx="164840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Expanded</a:t>
            </a:r>
            <a:r>
              <a:rPr lang="it-IT" dirty="0"/>
              <a:t>:</a:t>
            </a:r>
          </a:p>
          <a:p>
            <a:r>
              <a:rPr lang="it-IT" sz="1200" dirty="0"/>
              <a:t>Un widget che espande un figlio necessariamente di una riga, una colonna o un Flex.</a:t>
            </a:r>
          </a:p>
        </p:txBody>
      </p:sp>
      <p:pic>
        <p:nvPicPr>
          <p:cNvPr id="9" name="Immagine 8">
            <a:hlinkClick r:id="rId3"/>
            <a:extLst>
              <a:ext uri="{FF2B5EF4-FFF2-40B4-BE49-F238E27FC236}">
                <a16:creationId xmlns:a16="http://schemas.microsoft.com/office/drawing/2014/main" id="{6F0C64D4-6D09-4AA7-9619-FCCD6DF086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2043" y="1618584"/>
            <a:ext cx="1914525" cy="1914525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EE666A3-E73D-47A3-8628-BCC47485FFF2}"/>
              </a:ext>
            </a:extLst>
          </p:cNvPr>
          <p:cNvSpPr txBox="1"/>
          <p:nvPr/>
        </p:nvSpPr>
        <p:spPr>
          <a:xfrm>
            <a:off x="3902043" y="3556015"/>
            <a:ext cx="19145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Padding</a:t>
            </a:r>
            <a:r>
              <a:rPr lang="it-IT" dirty="0"/>
              <a:t>:</a:t>
            </a:r>
          </a:p>
          <a:p>
            <a:r>
              <a:rPr lang="it-IT" sz="1200" dirty="0"/>
              <a:t>Un widget che inserisce il suo figlio con il </a:t>
            </a:r>
            <a:r>
              <a:rPr lang="it-IT" sz="1200" dirty="0" err="1"/>
              <a:t>padding</a:t>
            </a:r>
            <a:r>
              <a:rPr lang="it-IT" sz="1200" dirty="0"/>
              <a:t> fornito.</a:t>
            </a:r>
          </a:p>
        </p:txBody>
      </p:sp>
      <p:pic>
        <p:nvPicPr>
          <p:cNvPr id="12" name="Immagine 11">
            <a:hlinkClick r:id="rId5"/>
            <a:extLst>
              <a:ext uri="{FF2B5EF4-FFF2-40B4-BE49-F238E27FC236}">
                <a16:creationId xmlns:a16="http://schemas.microsoft.com/office/drawing/2014/main" id="{9C9FBBA8-A99D-493A-A663-1E6E1B5432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394" y="1613539"/>
            <a:ext cx="1924050" cy="1905000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212D0A1-946E-45EC-BE1A-6070267768DB}"/>
              </a:ext>
            </a:extLst>
          </p:cNvPr>
          <p:cNvSpPr txBox="1"/>
          <p:nvPr/>
        </p:nvSpPr>
        <p:spPr>
          <a:xfrm>
            <a:off x="7031394" y="3518539"/>
            <a:ext cx="1924050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SizedBox</a:t>
            </a:r>
            <a:r>
              <a:rPr lang="it-IT" dirty="0"/>
              <a:t>:</a:t>
            </a:r>
            <a:endParaRPr lang="it-IT" sz="1200" dirty="0"/>
          </a:p>
          <a:p>
            <a:r>
              <a:rPr lang="it-IT" sz="1200" dirty="0"/>
              <a:t>Se viene assegnato un figlio, questo widget lo costringe ad avere una larghezza e/o un'altezza specifiche. Questi valori verranno ignorati se il genitore di questo widget non li consente. Ad esempio, questo accade se il genitore è lo schermo (forza il figlio ad avere le stesse dimensioni del genitore)</a:t>
            </a:r>
          </a:p>
        </p:txBody>
      </p:sp>
    </p:spTree>
    <p:extLst>
      <p:ext uri="{BB962C8B-B14F-4D97-AF65-F5344CB8AC3E}">
        <p14:creationId xmlns:p14="http://schemas.microsoft.com/office/powerpoint/2010/main" val="1631932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D71B249-1829-4083-BC46-BA126881B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Multi </a:t>
            </a:r>
            <a:r>
              <a:rPr lang="it-IT" dirty="0" err="1"/>
              <a:t>child</a:t>
            </a:r>
            <a:r>
              <a:rPr lang="it-IT" dirty="0"/>
              <a:t> Widget</a:t>
            </a:r>
          </a:p>
        </p:txBody>
      </p:sp>
      <p:pic>
        <p:nvPicPr>
          <p:cNvPr id="5" name="Segnaposto contenuto 4">
            <a:hlinkClick r:id="rId2"/>
            <a:extLst>
              <a:ext uri="{FF2B5EF4-FFF2-40B4-BE49-F238E27FC236}">
                <a16:creationId xmlns:a16="http://schemas.microsoft.com/office/drawing/2014/main" id="{48541B29-C778-4086-97ED-2AE0C1BEB7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2170241"/>
            <a:ext cx="1895475" cy="1895475"/>
          </a:xfrm>
        </p:spPr>
      </p:pic>
      <p:pic>
        <p:nvPicPr>
          <p:cNvPr id="7" name="Immagine 6">
            <a:hlinkClick r:id="rId4"/>
            <a:extLst>
              <a:ext uri="{FF2B5EF4-FFF2-40B4-BE49-F238E27FC236}">
                <a16:creationId xmlns:a16="http://schemas.microsoft.com/office/drawing/2014/main" id="{F4E60EAF-97EA-47A4-883E-09FA5D60DE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010" y="2179766"/>
            <a:ext cx="1914525" cy="1924050"/>
          </a:xfrm>
          <a:prstGeom prst="rect">
            <a:avLst/>
          </a:prstGeom>
        </p:spPr>
      </p:pic>
      <p:pic>
        <p:nvPicPr>
          <p:cNvPr id="9" name="Immagine 8">
            <a:hlinkClick r:id="rId6"/>
            <a:extLst>
              <a:ext uri="{FF2B5EF4-FFF2-40B4-BE49-F238E27FC236}">
                <a16:creationId xmlns:a16="http://schemas.microsoft.com/office/drawing/2014/main" id="{4754E506-2DF4-47C7-B1B6-AA591EA3660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1736" y="2158285"/>
            <a:ext cx="1857375" cy="1943100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53F26BE-991D-49C0-8A9E-C77729743A3B}"/>
              </a:ext>
            </a:extLst>
          </p:cNvPr>
          <p:cNvSpPr txBox="1"/>
          <p:nvPr/>
        </p:nvSpPr>
        <p:spPr>
          <a:xfrm>
            <a:off x="677333" y="4065716"/>
            <a:ext cx="18954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Column</a:t>
            </a:r>
            <a:r>
              <a:rPr lang="it-IT" dirty="0"/>
              <a:t>:</a:t>
            </a:r>
          </a:p>
          <a:p>
            <a:r>
              <a:rPr lang="it-IT" sz="1200" dirty="0"/>
              <a:t>Layout con lista di </a:t>
            </a:r>
            <a:r>
              <a:rPr lang="it-IT" sz="1200" dirty="0" err="1"/>
              <a:t>child</a:t>
            </a:r>
            <a:r>
              <a:rPr lang="it-IT" sz="1200" dirty="0"/>
              <a:t> in direzione verticale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BABC231-8736-4006-8E84-94B5974CE660}"/>
              </a:ext>
            </a:extLst>
          </p:cNvPr>
          <p:cNvSpPr txBox="1"/>
          <p:nvPr/>
        </p:nvSpPr>
        <p:spPr>
          <a:xfrm>
            <a:off x="3820009" y="4101385"/>
            <a:ext cx="191452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GridView</a:t>
            </a:r>
            <a:r>
              <a:rPr lang="it-IT" dirty="0"/>
              <a:t>:</a:t>
            </a:r>
          </a:p>
          <a:p>
            <a:r>
              <a:rPr lang="it-IT" sz="1200" dirty="0"/>
              <a:t>Lista a griglia fatta di pattern di celle disposte in array con layout verticali o orizzontali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733A5B01-71E9-4FC4-BF48-56E22C8F8457}"/>
              </a:ext>
            </a:extLst>
          </p:cNvPr>
          <p:cNvSpPr txBox="1"/>
          <p:nvPr/>
        </p:nvSpPr>
        <p:spPr>
          <a:xfrm>
            <a:off x="6981735" y="4065716"/>
            <a:ext cx="18573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ListView</a:t>
            </a:r>
            <a:r>
              <a:rPr lang="it-IT" dirty="0"/>
              <a:t>:</a:t>
            </a:r>
          </a:p>
          <a:p>
            <a:r>
              <a:rPr lang="it-IT" sz="1200" dirty="0"/>
              <a:t>Una lista lineare di  widget scorrevoli in direzione indicata</a:t>
            </a:r>
          </a:p>
        </p:txBody>
      </p:sp>
    </p:spTree>
    <p:extLst>
      <p:ext uri="{BB962C8B-B14F-4D97-AF65-F5344CB8AC3E}">
        <p14:creationId xmlns:p14="http://schemas.microsoft.com/office/powerpoint/2010/main" val="3332364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EDC8B9-BC19-41B0-BA26-E95FFAE3F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Multi </a:t>
            </a:r>
            <a:r>
              <a:rPr lang="it-IT" dirty="0" err="1"/>
              <a:t>child</a:t>
            </a:r>
            <a:r>
              <a:rPr lang="it-IT" dirty="0"/>
              <a:t> Widget</a:t>
            </a:r>
          </a:p>
        </p:txBody>
      </p:sp>
      <p:pic>
        <p:nvPicPr>
          <p:cNvPr id="5" name="Segnaposto contenuto 4">
            <a:hlinkClick r:id="rId2"/>
            <a:extLst>
              <a:ext uri="{FF2B5EF4-FFF2-40B4-BE49-F238E27FC236}">
                <a16:creationId xmlns:a16="http://schemas.microsoft.com/office/drawing/2014/main" id="{D1904C8E-FEDB-40F1-B615-5E2EDCD174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1538" y="2254526"/>
            <a:ext cx="1895475" cy="1914525"/>
          </a:xfrm>
        </p:spPr>
      </p:pic>
      <p:pic>
        <p:nvPicPr>
          <p:cNvPr id="7" name="Immagine 6">
            <a:hlinkClick r:id="rId4"/>
            <a:extLst>
              <a:ext uri="{FF2B5EF4-FFF2-40B4-BE49-F238E27FC236}">
                <a16:creationId xmlns:a16="http://schemas.microsoft.com/office/drawing/2014/main" id="{DCA05F51-5FBC-49F1-A3A3-77F38C3B05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262" y="2264051"/>
            <a:ext cx="1895475" cy="1905000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44643CCA-56CD-468D-9951-6502494CE97D}"/>
              </a:ext>
            </a:extLst>
          </p:cNvPr>
          <p:cNvSpPr txBox="1"/>
          <p:nvPr/>
        </p:nvSpPr>
        <p:spPr>
          <a:xfrm>
            <a:off x="1241537" y="4169051"/>
            <a:ext cx="18954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Row</a:t>
            </a:r>
            <a:r>
              <a:rPr lang="it-IT" dirty="0"/>
              <a:t>:</a:t>
            </a:r>
          </a:p>
          <a:p>
            <a:r>
              <a:rPr lang="it-IT" sz="1200" dirty="0"/>
              <a:t>Layout di lista di widget in direzione orizzontale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6F7C2D6B-2F4C-4795-982E-1B44E722F3C5}"/>
              </a:ext>
            </a:extLst>
          </p:cNvPr>
          <p:cNvSpPr txBox="1"/>
          <p:nvPr/>
        </p:nvSpPr>
        <p:spPr>
          <a:xfrm>
            <a:off x="5148261" y="4169051"/>
            <a:ext cx="1895475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Stack:</a:t>
            </a:r>
          </a:p>
          <a:p>
            <a:r>
              <a:rPr lang="it-IT" sz="1200" dirty="0"/>
              <a:t>Questa classe è utile se vuoi sovrapporre più figli in modo semplice, ad esempio avere del testo e un'immagine, sovrapposti con un gradiente e un pulsante attaccato in basso</a:t>
            </a:r>
          </a:p>
        </p:txBody>
      </p:sp>
    </p:spTree>
    <p:extLst>
      <p:ext uri="{BB962C8B-B14F-4D97-AF65-F5344CB8AC3E}">
        <p14:creationId xmlns:p14="http://schemas.microsoft.com/office/powerpoint/2010/main" val="3235070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09FB38-8238-40C5-B67D-32C3FEC6E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Flutter layout concetti ed esempi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50F1F7F-7E16-4BBE-A87D-FDDA3B6FE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>
                <a:hlinkClick r:id="rId2"/>
              </a:rPr>
              <a:t>Basic Flutter layouts concepts</a:t>
            </a:r>
            <a:endParaRPr lang="it-IT" dirty="0"/>
          </a:p>
          <a:p>
            <a:r>
              <a:rPr lang="it-IT" dirty="0">
                <a:hlinkClick r:id="rId3"/>
              </a:rPr>
              <a:t>Layouts in Flutter</a:t>
            </a:r>
            <a:endParaRPr lang="it-IT" dirty="0"/>
          </a:p>
          <a:p>
            <a:r>
              <a:rPr lang="it-IT" dirty="0">
                <a:hlinkClick r:id="rId4"/>
              </a:rPr>
              <a:t>Squares</a:t>
            </a:r>
            <a:endParaRPr lang="it-IT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0D98D72E-DC67-46BA-9E0E-869A120089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9691" y="3073659"/>
            <a:ext cx="1308931" cy="2692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041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B7106AB-0232-448E-8BD0-A8B54A25E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09600"/>
          </a:xfrm>
        </p:spPr>
        <p:txBody>
          <a:bodyPr>
            <a:normAutofit fontScale="90000"/>
          </a:bodyPr>
          <a:lstStyle/>
          <a:p>
            <a:r>
              <a:rPr lang="it-IT" dirty="0"/>
              <a:t>W FLUTTER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089EC80-315F-49BC-9D59-4576A4827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19201"/>
            <a:ext cx="8596668" cy="482216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it-IT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'</a:t>
            </a:r>
            <a:r>
              <a:rPr lang="it-IT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package:flutter</a:t>
            </a:r>
            <a:r>
              <a:rPr lang="it-IT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it-IT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material.dart</a:t>
            </a:r>
            <a:r>
              <a:rPr lang="it-IT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';</a:t>
            </a:r>
          </a:p>
          <a:p>
            <a:pPr marL="0" indent="0">
              <a:buNone/>
            </a:pPr>
            <a:r>
              <a:rPr lang="it-IT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it-IT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it-IT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 marL="0" indent="0">
              <a:buNone/>
            </a:pPr>
            <a:r>
              <a:rPr lang="it-IT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it-IT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runApp</a:t>
            </a:r>
            <a:r>
              <a:rPr lang="it-IT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it-IT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MyApp</a:t>
            </a:r>
            <a:r>
              <a:rPr lang="it-IT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pPr marL="0" indent="0">
              <a:buNone/>
            </a:pPr>
            <a:r>
              <a:rPr lang="it-IT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it-IT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it-IT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MyApp</a:t>
            </a:r>
            <a:r>
              <a:rPr lang="it-IT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extends</a:t>
            </a:r>
            <a:r>
              <a:rPr lang="it-IT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StatelessWidget</a:t>
            </a:r>
            <a:r>
              <a:rPr lang="it-IT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0" indent="0">
              <a:buNone/>
            </a:pPr>
            <a:r>
              <a:rPr lang="it-IT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@override</a:t>
            </a:r>
          </a:p>
          <a:p>
            <a:pPr marL="0" indent="0">
              <a:buNone/>
            </a:pPr>
            <a:r>
              <a:rPr lang="it-IT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Widget build(</a:t>
            </a:r>
            <a:r>
              <a:rPr lang="it-IT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BuildContext</a:t>
            </a:r>
            <a:r>
              <a:rPr lang="it-IT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context</a:t>
            </a:r>
            <a:r>
              <a:rPr lang="it-IT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buNone/>
            </a:pPr>
            <a:r>
              <a:rPr lang="it-IT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it-IT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it-IT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MaterialApp</a:t>
            </a:r>
            <a:r>
              <a:rPr lang="it-IT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marL="0" indent="0">
              <a:buNone/>
            </a:pPr>
            <a:r>
              <a:rPr lang="it-IT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home: Scaffold(</a:t>
            </a:r>
          </a:p>
          <a:p>
            <a:pPr marL="0" indent="0">
              <a:buNone/>
            </a:pPr>
            <a:r>
              <a:rPr lang="it-IT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body: </a:t>
            </a:r>
            <a:r>
              <a:rPr lang="it-IT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child</a:t>
            </a:r>
            <a:r>
              <a:rPr lang="it-IT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Text("W FLUTTER")</a:t>
            </a:r>
          </a:p>
          <a:p>
            <a:pPr marL="0" indent="0">
              <a:buNone/>
            </a:pPr>
            <a:r>
              <a:rPr lang="it-IT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),</a:t>
            </a:r>
          </a:p>
          <a:p>
            <a:pPr marL="0" indent="0">
              <a:buNone/>
            </a:pPr>
            <a:r>
              <a:rPr lang="it-IT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);</a:t>
            </a:r>
          </a:p>
          <a:p>
            <a:pPr marL="0" indent="0">
              <a:buNone/>
            </a:pPr>
            <a:r>
              <a:rPr lang="it-IT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None/>
            </a:pPr>
            <a:r>
              <a:rPr lang="it-IT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it-IT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it-IT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6573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6BDF25-096D-4E84-A607-CFFCEFEDD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34482"/>
          </a:xfrm>
        </p:spPr>
        <p:txBody>
          <a:bodyPr>
            <a:normAutofit fontScale="90000"/>
          </a:bodyPr>
          <a:lstStyle/>
          <a:p>
            <a:r>
              <a:rPr lang="it-IT" dirty="0"/>
              <a:t>Esempi single </a:t>
            </a:r>
            <a:r>
              <a:rPr lang="it-IT" dirty="0" err="1"/>
              <a:t>child</a:t>
            </a:r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FB56777-7343-4C10-A519-EA5EA2A65405}"/>
              </a:ext>
            </a:extLst>
          </p:cNvPr>
          <p:cNvSpPr txBox="1"/>
          <p:nvPr/>
        </p:nvSpPr>
        <p:spPr>
          <a:xfrm>
            <a:off x="771330" y="1244082"/>
            <a:ext cx="8502672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Sostituire le seguenti righe a body:</a:t>
            </a:r>
          </a:p>
          <a:p>
            <a:endParaRPr lang="it-IT" dirty="0"/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Text("W Flutter", style: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Theme.of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(context).textTheme.headline4)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Container(height: 200, width: 200, color: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Colors.red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Center(child: Container(height: 200, width: 200, color: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Colors.red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Container(height: 200, width: 200, color: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Colors.red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child: Text("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prova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"))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Center(child: Container(height: 200, width: 200, color: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Colors.red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child: Text("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prova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")))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Center(child: Container(height: 200, width: 200, color: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Colors.red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           child: Padding(padding: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EdgeInsets.all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(30), child: Text("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prova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")))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Center(child: Container(height: 200, width: 200, color: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Colors.red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          child: Baseline(baseline: 0,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baselineType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TextBaseline.alphabetic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child: Text("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prova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"))))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16982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DE35704-EF18-4E0D-86F5-B682A6CAB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702906"/>
          </a:xfrm>
        </p:spPr>
        <p:txBody>
          <a:bodyPr/>
          <a:lstStyle/>
          <a:p>
            <a:r>
              <a:rPr lang="it-IT" dirty="0"/>
              <a:t>Esempi multi </a:t>
            </a:r>
            <a:r>
              <a:rPr lang="it-IT" dirty="0" err="1"/>
              <a:t>child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2E7AE12-C0B1-4BA9-82DF-8E30CA0AF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12033"/>
            <a:ext cx="8596668" cy="462932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it-IT" dirty="0">
                <a:solidFill>
                  <a:schemeClr val="tx1"/>
                </a:solidFill>
              </a:rPr>
              <a:t>Sostituire le seguenti righe a body: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Column(children: [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Container(height: 50, width: 50, color: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Colors.red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Container(height: 50, width: 50, color: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Colors.yellow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Container(height: 50, width: 50, color: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Colors.blue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])</a:t>
            </a:r>
            <a:endParaRPr lang="it-IT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300"/>
              </a:spcBef>
            </a:pPr>
            <a:r>
              <a:rPr lang="it-IT" sz="12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… oppure con </a:t>
            </a:r>
            <a:r>
              <a:rPr lang="it-IT" sz="1200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Row</a:t>
            </a:r>
            <a:endParaRPr lang="it-IT" sz="1200" dirty="0">
              <a:solidFill>
                <a:schemeClr val="tx1"/>
              </a:solidFill>
              <a:latin typeface="+mj-lt"/>
              <a:cs typeface="Courier New" panose="02070309020205020404" pitchFamily="49" charset="0"/>
            </a:endParaRP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Column(children: [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Container(height: 50, width: 50, color: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Colors.red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Expanded(child: Container(height: 50, width: 50, color: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Colors.yellow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Container(height: 50, width: 50, color: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Colors.blue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])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Column(children: [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Expanded(child: Container(height: 50, width: 50, color: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Colors.red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Expanded(child: Container(height: 50, width: 50, color: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Colors.yellow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Expanded(child: Container(height: 50, width: 50, color: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Colors.blue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])</a:t>
            </a: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flex </a:t>
            </a:r>
            <a:r>
              <a:rPr lang="en-US" sz="1200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dichiara</a:t>
            </a:r>
            <a:r>
              <a:rPr lang="en-US" sz="12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 di </a:t>
            </a:r>
            <a:r>
              <a:rPr lang="en-US" sz="1200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quante</a:t>
            </a:r>
            <a:r>
              <a:rPr lang="en-US" sz="12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 parti, rispetto </a:t>
            </a:r>
            <a:r>
              <a:rPr lang="en-US" sz="1200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agli</a:t>
            </a:r>
            <a:r>
              <a:rPr lang="en-US" sz="12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altri</a:t>
            </a:r>
            <a:r>
              <a:rPr lang="en-US" sz="12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fratelli</a:t>
            </a:r>
            <a:r>
              <a:rPr lang="en-US" sz="12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, </a:t>
            </a:r>
            <a:r>
              <a:rPr lang="en-US" sz="1200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verrà</a:t>
            </a:r>
            <a:r>
              <a:rPr lang="en-US" sz="12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espanso</a:t>
            </a:r>
            <a:r>
              <a:rPr lang="en-US" sz="1200" dirty="0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 il widget</a:t>
            </a:r>
            <a:endParaRPr lang="it-IT" sz="1200" dirty="0">
              <a:solidFill>
                <a:schemeClr val="tx1"/>
              </a:solidFill>
              <a:latin typeface="+mj-lt"/>
              <a:cs typeface="Courier New" panose="02070309020205020404" pitchFamily="49" charset="0"/>
            </a:endParaRPr>
          </a:p>
          <a:p>
            <a:pPr>
              <a:spcBef>
                <a:spcPts val="600"/>
              </a:spcBef>
            </a:pPr>
            <a:endParaRPr lang="it-IT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300"/>
              </a:spcBef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Row(children: [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Expanded(child: Container(height: 50, width: 50, color: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Colors.red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flex: 4),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Expanded(child: Container(height: 50, width: 50, color: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Colors.yellow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flex: 3),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Expanded(child: Container(height: 50, width: 50, color: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Colors.blue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flex: 2)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])</a:t>
            </a:r>
          </a:p>
          <a:p>
            <a:pPr>
              <a:spcBef>
                <a:spcPts val="0"/>
              </a:spcBef>
            </a:pPr>
            <a:endParaRPr lang="it-IT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1681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757611-8AF9-4AE5-BD64-BB4BE0B15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 multi </a:t>
            </a:r>
            <a:r>
              <a:rPr lang="it-IT" dirty="0" err="1"/>
              <a:t>child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A699CAA-5A7C-4809-A94E-541737B62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Stack(</a:t>
            </a:r>
            <a:b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children: [</a:t>
            </a:r>
            <a:b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Container(height: 200, width: 200, color: </a:t>
            </a:r>
            <a:r>
              <a:rPr 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Colors.red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b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Container(height: 150, width: 150, color: </a:t>
            </a:r>
            <a:r>
              <a:rPr 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Colors.yellow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b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Container(height: 100, width: 100, color: </a:t>
            </a:r>
            <a:r>
              <a:rPr 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Colors.blue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])</a:t>
            </a:r>
          </a:p>
          <a:p>
            <a:r>
              <a:rPr 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ListView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b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children: [</a:t>
            </a:r>
            <a:b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ListTile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(title: Text("</a:t>
            </a:r>
            <a:r>
              <a:rPr 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prova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")),</a:t>
            </a:r>
            <a:b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ListTile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(title: Text("</a:t>
            </a:r>
            <a:r>
              <a:rPr 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prova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")),</a:t>
            </a:r>
            <a:b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ListTile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(title: Text("</a:t>
            </a:r>
            <a:r>
              <a:rPr 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prova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")),</a:t>
            </a:r>
            <a:b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ListTile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(title: Text("</a:t>
            </a:r>
            <a:r>
              <a:rPr 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prova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")),</a:t>
            </a:r>
            <a:b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ListTile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(title: Text("</a:t>
            </a:r>
            <a:r>
              <a:rPr 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prova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")),</a:t>
            </a:r>
            <a:b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ListTile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(title: Text("</a:t>
            </a:r>
            <a:r>
              <a:rPr 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prova</a:t>
            </a: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"))</a:t>
            </a:r>
            <a:b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])</a:t>
            </a:r>
          </a:p>
        </p:txBody>
      </p:sp>
    </p:spTree>
    <p:extLst>
      <p:ext uri="{BB962C8B-B14F-4D97-AF65-F5344CB8AC3E}">
        <p14:creationId xmlns:p14="http://schemas.microsoft.com/office/powerpoint/2010/main" val="1826508257"/>
      </p:ext>
    </p:extLst>
  </p:cSld>
  <p:clrMapOvr>
    <a:masterClrMapping/>
  </p:clrMapOvr>
</p:sld>
</file>

<file path=ppt/theme/theme1.xml><?xml version="1.0" encoding="utf-8"?>
<a:theme xmlns:a="http://schemas.openxmlformats.org/drawingml/2006/main" name="Base">
  <a:themeElements>
    <a:clrScheme name="Base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e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e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Base</Template>
  <TotalTime>504</TotalTime>
  <Words>940</Words>
  <Application>Microsoft Office PowerPoint</Application>
  <PresentationFormat>Widescreen</PresentationFormat>
  <Paragraphs>88</Paragraphs>
  <Slides>11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5" baseType="lpstr">
      <vt:lpstr>Arial</vt:lpstr>
      <vt:lpstr>Corbel</vt:lpstr>
      <vt:lpstr>Courier New</vt:lpstr>
      <vt:lpstr>Base</vt:lpstr>
      <vt:lpstr>Flutter widget</vt:lpstr>
      <vt:lpstr>Presentazione standard di PowerPoint</vt:lpstr>
      <vt:lpstr>Single child Widget</vt:lpstr>
      <vt:lpstr>Single child Widget</vt:lpstr>
      <vt:lpstr>Multi child Widget</vt:lpstr>
      <vt:lpstr>Multi child Widget</vt:lpstr>
      <vt:lpstr>Flutter layout concetti ed esempi</vt:lpstr>
      <vt:lpstr>W FLUTTER</vt:lpstr>
      <vt:lpstr>Esempi single child</vt:lpstr>
      <vt:lpstr>Esempi multi child</vt:lpstr>
      <vt:lpstr>Esempi multi child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Flutter widget</dc:title>
  <dc:creator>alberto</dc:creator>
  <cp:lastModifiedBy>alberto</cp:lastModifiedBy>
  <cp:revision>29</cp:revision>
  <dcterms:created xsi:type="dcterms:W3CDTF">2021-06-14T07:53:25Z</dcterms:created>
  <dcterms:modified xsi:type="dcterms:W3CDTF">2021-06-16T08:18:20Z</dcterms:modified>
</cp:coreProperties>
</file>