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56" r:id="rId3"/>
    <p:sldId id="269" r:id="rId4"/>
    <p:sldId id="270" r:id="rId5"/>
    <p:sldId id="257" r:id="rId6"/>
    <p:sldId id="258" r:id="rId7"/>
    <p:sldId id="271" r:id="rId8"/>
    <p:sldId id="268" r:id="rId9"/>
    <p:sldId id="266" r:id="rId10"/>
    <p:sldId id="272" r:id="rId11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D"/>
    <a:srgbClr val="55C0F8"/>
    <a:srgbClr val="179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700" autoAdjust="0"/>
  </p:normalViewPr>
  <p:slideViewPr>
    <p:cSldViewPr>
      <p:cViewPr>
        <p:scale>
          <a:sx n="82" d="100"/>
          <a:sy n="82" d="100"/>
        </p:scale>
        <p:origin x="-1474" y="-1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9EBAD-F3A4-4A59-A0A6-100A09CE4ED8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3E199-11DE-49A3-8616-08970B8170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911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3E199-11DE-49A3-8616-08970B8170A4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529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3E199-11DE-49A3-8616-08970B8170A4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6655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3E199-11DE-49A3-8616-08970B8170A4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52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799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656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229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8496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60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722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443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8624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66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843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496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5C0A4-DFB6-4AD3-A3E3-264674039E53}" type="datetimeFigureOut">
              <a:rPr lang="it-IT" smtClean="0"/>
              <a:t>31/05/2021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764FC-9F88-49F4-8183-BDA8B76399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013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2.png"/><Relationship Id="rId7" Type="http://schemas.openxmlformats.org/officeDocument/2006/relationships/slide" Target="slide6.xml"/><Relationship Id="rId12" Type="http://schemas.openxmlformats.org/officeDocument/2006/relationships/slide" Target="slide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7.xml"/><Relationship Id="rId4" Type="http://schemas.openxmlformats.org/officeDocument/2006/relationships/slide" Target="slide2.xml"/><Relationship Id="rId9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9vWwN1kFRM7dWs8JjXpBRw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654165"/>
            <a:ext cx="4540349" cy="2535742"/>
          </a:xfrm>
          <a:prstGeom prst="rect">
            <a:avLst/>
          </a:prstGeom>
        </p:spPr>
      </p:pic>
      <p:sp>
        <p:nvSpPr>
          <p:cNvPr id="6" name="Parallelogramma 4"/>
          <p:cNvSpPr/>
          <p:nvPr/>
        </p:nvSpPr>
        <p:spPr>
          <a:xfrm>
            <a:off x="0" y="188640"/>
            <a:ext cx="9144000" cy="1872208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-23734"/>
            <a:ext cx="8172400" cy="1796550"/>
          </a:xfrm>
        </p:spPr>
        <p:txBody>
          <a:bodyPr>
            <a:noAutofit/>
          </a:bodyPr>
          <a:lstStyle/>
          <a:p>
            <a:pPr marL="360000" algn="l"/>
            <a:r>
              <a:rPr lang="it-IT" sz="3600" dirty="0" smtClean="0">
                <a:solidFill>
                  <a:schemeClr val="bg1"/>
                </a:solidFill>
                <a:latin typeface="Consolas" pitchFamily="49" charset="0"/>
              </a:rPr>
              <a:t>Linguaggio Flutter</a:t>
            </a:r>
            <a:br>
              <a:rPr lang="it-IT" sz="3600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it-IT" sz="3600" dirty="0" smtClean="0">
                <a:solidFill>
                  <a:schemeClr val="bg1"/>
                </a:solidFill>
                <a:latin typeface="Consolas" pitchFamily="49" charset="0"/>
              </a:rPr>
              <a:t>per applicazioni CrossPlatform</a:t>
            </a:r>
            <a:endParaRPr lang="it-IT" sz="20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4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/>
          <p:cNvSpPr txBox="1"/>
          <p:nvPr/>
        </p:nvSpPr>
        <p:spPr>
          <a:xfrm>
            <a:off x="395536" y="1455167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3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ed interazione con dispositivi Bluetooth</a:t>
            </a: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332656"/>
            <a:ext cx="643058" cy="643058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395536" y="2232579"/>
            <a:ext cx="6768752" cy="4503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Argomenti trattati:</a:t>
            </a:r>
          </a:p>
          <a:p>
            <a:pPr>
              <a:spcAft>
                <a:spcPts val="800"/>
              </a:spcAft>
            </a:pPr>
            <a:r>
              <a:rPr lang="it-IT" sz="2000" dirty="0" smtClean="0">
                <a:ln w="0"/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1 Cosa è Flutter?</a:t>
            </a:r>
          </a:p>
          <a:p>
            <a:pPr>
              <a:spcAft>
                <a:spcPts val="800"/>
              </a:spcAft>
            </a:pPr>
            <a:r>
              <a:rPr lang="it-IT" sz="2000" dirty="0">
                <a:solidFill>
                  <a:schemeClr val="bg1"/>
                </a:solidFill>
                <a:latin typeface="Consolas" pitchFamily="49" charset="0"/>
              </a:rPr>
              <a:t>2</a:t>
            </a: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</a:rPr>
              <a:t> </a:t>
            </a:r>
            <a:r>
              <a:rPr lang="it-IT" sz="2000" dirty="0">
                <a:solidFill>
                  <a:schemeClr val="bg1"/>
                </a:solidFill>
                <a:latin typeface="Consolas" pitchFamily="49" charset="0"/>
              </a:rPr>
              <a:t>Linguaggio Dart.</a:t>
            </a:r>
            <a:endParaRPr lang="it-IT" sz="2000" dirty="0" smtClean="0">
              <a:ln w="0"/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>
              <a:spcAft>
                <a:spcPts val="800"/>
              </a:spcAft>
            </a:pPr>
            <a:r>
              <a:rPr lang="it-IT" sz="20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3</a:t>
            </a: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Applicazioni Native e CrossPlatform.</a:t>
            </a:r>
          </a:p>
          <a:p>
            <a:pPr>
              <a:spcAft>
                <a:spcPts val="800"/>
              </a:spcAft>
            </a:pPr>
            <a:r>
              <a:rPr lang="it-IT" sz="20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4</a:t>
            </a: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I vantaggi di Flutter.</a:t>
            </a:r>
          </a:p>
          <a:p>
            <a:pPr>
              <a:spcAft>
                <a:spcPts val="800"/>
              </a:spcAft>
            </a:pPr>
            <a:r>
              <a:rPr lang="it-IT" sz="20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5</a:t>
            </a: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Widgets.</a:t>
            </a:r>
          </a:p>
          <a:p>
            <a:pPr>
              <a:spcAft>
                <a:spcPts val="800"/>
              </a:spcAft>
            </a:pPr>
            <a:r>
              <a:rPr lang="it-IT" sz="20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6</a:t>
            </a: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stateless e stateful.</a:t>
            </a:r>
          </a:p>
          <a:p>
            <a:pPr>
              <a:spcAft>
                <a:spcPts val="800"/>
              </a:spcAft>
            </a:pPr>
            <a:r>
              <a:rPr lang="it-IT" sz="2000" dirty="0">
                <a:solidFill>
                  <a:schemeClr val="bg1"/>
                </a:solidFill>
                <a:latin typeface="Consolas" pitchFamily="49" charset="0"/>
              </a:rPr>
              <a:t>7</a:t>
            </a: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</a:rPr>
              <a:t> </a:t>
            </a:r>
            <a:r>
              <a:rPr lang="it-IT" sz="2000" dirty="0">
                <a:solidFill>
                  <a:schemeClr val="bg1"/>
                </a:solidFill>
                <a:latin typeface="Consolas" pitchFamily="49" charset="0"/>
              </a:rPr>
              <a:t>Material Design</a:t>
            </a: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</a:rPr>
              <a:t>.</a:t>
            </a:r>
            <a:endParaRPr lang="it-IT" sz="2000" dirty="0" smtClean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>
              <a:spcAft>
                <a:spcPts val="800"/>
              </a:spcAft>
            </a:pP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8 </a:t>
            </a:r>
            <a:r>
              <a:rPr lang="it-IT" sz="2000" dirty="0">
                <a:solidFill>
                  <a:schemeClr val="bg1"/>
                </a:solidFill>
                <a:latin typeface="Consolas" pitchFamily="49" charset="0"/>
              </a:rPr>
              <a:t>Concorrenti.</a:t>
            </a:r>
            <a:endParaRPr lang="it-IT" sz="2000" dirty="0" smtClean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>
              <a:spcAft>
                <a:spcPts val="800"/>
              </a:spcAft>
            </a:pP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9 Conclusioni.</a:t>
            </a:r>
          </a:p>
          <a:p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</a:t>
            </a:r>
            <a:endParaRPr lang="it-IT" sz="2000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7164288" y="6642556"/>
            <a:ext cx="2232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Todaro Francesco 5^A INF</a:t>
            </a:r>
          </a:p>
        </p:txBody>
      </p:sp>
      <p:sp>
        <p:nvSpPr>
          <p:cNvPr id="11" name="Rettangolo 10">
            <a:hlinkClick r:id="rId4" action="ppaction://hlinksldjump"/>
          </p:cNvPr>
          <p:cNvSpPr/>
          <p:nvPr/>
        </p:nvSpPr>
        <p:spPr>
          <a:xfrm>
            <a:off x="395536" y="2708920"/>
            <a:ext cx="252028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hlinkClick r:id="rId5" action="ppaction://hlinksldjump"/>
          </p:cNvPr>
          <p:cNvSpPr/>
          <p:nvPr/>
        </p:nvSpPr>
        <p:spPr>
          <a:xfrm>
            <a:off x="385148" y="3524821"/>
            <a:ext cx="53769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hlinkClick r:id="rId6" action="ppaction://hlinksldjump"/>
          </p:cNvPr>
          <p:cNvSpPr/>
          <p:nvPr/>
        </p:nvSpPr>
        <p:spPr>
          <a:xfrm>
            <a:off x="395536" y="3933056"/>
            <a:ext cx="342403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hlinkClick r:id="rId7" action="ppaction://hlinksldjump"/>
          </p:cNvPr>
          <p:cNvSpPr/>
          <p:nvPr/>
        </p:nvSpPr>
        <p:spPr>
          <a:xfrm>
            <a:off x="385148" y="4340461"/>
            <a:ext cx="145698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hlinkClick r:id="rId8" action="ppaction://hlinksldjump"/>
          </p:cNvPr>
          <p:cNvSpPr/>
          <p:nvPr/>
        </p:nvSpPr>
        <p:spPr>
          <a:xfrm>
            <a:off x="2411760" y="2996952"/>
            <a:ext cx="259228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hlinkClick r:id="rId9" action="ppaction://hlinksldjump"/>
          </p:cNvPr>
          <p:cNvSpPr/>
          <p:nvPr/>
        </p:nvSpPr>
        <p:spPr>
          <a:xfrm>
            <a:off x="450716" y="5111830"/>
            <a:ext cx="2592288" cy="340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hlinkClick r:id="rId10" action="ppaction://hlinksldjump"/>
          </p:cNvPr>
          <p:cNvSpPr/>
          <p:nvPr/>
        </p:nvSpPr>
        <p:spPr>
          <a:xfrm>
            <a:off x="385148" y="4746994"/>
            <a:ext cx="331236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>
            <a:hlinkClick r:id="rId11" action="ppaction://hlinksldjump"/>
          </p:cNvPr>
          <p:cNvSpPr/>
          <p:nvPr/>
        </p:nvSpPr>
        <p:spPr>
          <a:xfrm>
            <a:off x="395536" y="6344668"/>
            <a:ext cx="20058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ttangolo 20">
            <a:hlinkClick r:id="rId12" action="ppaction://hlinksldjump"/>
          </p:cNvPr>
          <p:cNvSpPr/>
          <p:nvPr/>
        </p:nvSpPr>
        <p:spPr>
          <a:xfrm>
            <a:off x="385148" y="5937085"/>
            <a:ext cx="2016224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hlinkClick r:id="rId8" action="ppaction://hlinksldjump"/>
          </p:cNvPr>
          <p:cNvSpPr/>
          <p:nvPr/>
        </p:nvSpPr>
        <p:spPr>
          <a:xfrm>
            <a:off x="385148" y="3140968"/>
            <a:ext cx="2520280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476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20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700"/>
                            </p:stCondLst>
                            <p:childTnLst>
                              <p:par>
                                <p:cTn id="6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200"/>
                            </p:stCondLst>
                            <p:childTnLst>
                              <p:par>
                                <p:cTn id="6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700"/>
                            </p:stCondLst>
                            <p:childTnLst>
                              <p:par>
                                <p:cTn id="7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200"/>
                            </p:stCondLst>
                            <p:childTnLst>
                              <p:par>
                                <p:cTn id="7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997" y="0"/>
            <a:ext cx="2178665" cy="1944216"/>
          </a:xfrm>
          <a:prstGeom prst="rect">
            <a:avLst/>
          </a:prstGeom>
        </p:spPr>
      </p:pic>
      <p:sp>
        <p:nvSpPr>
          <p:cNvPr id="5" name="Parallelogramma 4"/>
          <p:cNvSpPr/>
          <p:nvPr/>
        </p:nvSpPr>
        <p:spPr>
          <a:xfrm>
            <a:off x="-2" y="197760"/>
            <a:ext cx="7092282" cy="1296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920" y="197760"/>
            <a:ext cx="6264694" cy="1220708"/>
          </a:xfrm>
        </p:spPr>
        <p:txBody>
          <a:bodyPr>
            <a:noAutofit/>
          </a:bodyPr>
          <a:lstStyle/>
          <a:p>
            <a:pPr marL="216000"/>
            <a:r>
              <a:rPr lang="it-IT" sz="5600" dirty="0" smtClean="0">
                <a:solidFill>
                  <a:schemeClr val="bg1"/>
                </a:solidFill>
                <a:latin typeface="Consolas" pitchFamily="49" charset="0"/>
              </a:rPr>
              <a:t>Cosa è Flutter?</a:t>
            </a:r>
            <a:endParaRPr lang="it-IT" sz="5600" dirty="0">
              <a:solidFill>
                <a:schemeClr val="bg1"/>
              </a:solidFill>
              <a:latin typeface="Consolas" pitchFamily="49" charset="0"/>
            </a:endParaRPr>
          </a:p>
        </p:txBody>
      </p:sp>
      <p:grpSp>
        <p:nvGrpSpPr>
          <p:cNvPr id="17" name="Gruppo 16"/>
          <p:cNvGrpSpPr/>
          <p:nvPr/>
        </p:nvGrpSpPr>
        <p:grpSpPr>
          <a:xfrm>
            <a:off x="611559" y="1944216"/>
            <a:ext cx="5184577" cy="818701"/>
            <a:chOff x="611559" y="1944216"/>
            <a:chExt cx="5184577" cy="818701"/>
          </a:xfrm>
        </p:grpSpPr>
        <p:pic>
          <p:nvPicPr>
            <p:cNvPr id="6" name="Immagine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0618" y="2233457"/>
              <a:ext cx="941262" cy="529460"/>
            </a:xfrm>
            <a:prstGeom prst="rect">
              <a:avLst/>
            </a:prstGeom>
          </p:spPr>
        </p:pic>
        <p:sp>
          <p:nvSpPr>
            <p:cNvPr id="7" name="CasellaDiTesto 6"/>
            <p:cNvSpPr txBox="1"/>
            <p:nvPr/>
          </p:nvSpPr>
          <p:spPr>
            <a:xfrm>
              <a:off x="611559" y="1944216"/>
              <a:ext cx="51845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itchFamily="34" charset="0"/>
                <a:buChar char="•"/>
              </a:pPr>
              <a:r>
                <a:rPr lang="it-IT" sz="2000" dirty="0">
                  <a:solidFill>
                    <a:schemeClr val="bg1"/>
                  </a:solidFill>
                  <a:latin typeface="Consolas" pitchFamily="49" charset="0"/>
                  <a:ea typeface="+mj-ea"/>
                  <a:cs typeface="+mj-cs"/>
                </a:rPr>
                <a:t>È </a:t>
              </a:r>
              <a:r>
                <a:rPr lang="it-IT" sz="2000" dirty="0" smtClean="0">
                  <a:solidFill>
                    <a:schemeClr val="bg1"/>
                  </a:solidFill>
                  <a:latin typeface="Consolas" pitchFamily="49" charset="0"/>
                  <a:ea typeface="+mj-ea"/>
                  <a:cs typeface="+mj-cs"/>
                </a:rPr>
                <a:t>un framework, nonché un </a:t>
              </a:r>
              <a:r>
                <a:rPr lang="it-IT" sz="2000" dirty="0">
                  <a:solidFill>
                    <a:schemeClr val="bg1"/>
                  </a:solidFill>
                  <a:latin typeface="Consolas" pitchFamily="49" charset="0"/>
                  <a:ea typeface="+mj-ea"/>
                  <a:cs typeface="+mj-cs"/>
                </a:rPr>
                <a:t>UI toolkit di </a:t>
              </a:r>
            </a:p>
          </p:txBody>
        </p:sp>
      </p:grpSp>
      <p:sp>
        <p:nvSpPr>
          <p:cNvPr id="8" name="CasellaDiTesto 7"/>
          <p:cNvSpPr txBox="1"/>
          <p:nvPr/>
        </p:nvSpPr>
        <p:spPr>
          <a:xfrm>
            <a:off x="611556" y="5538920"/>
            <a:ext cx="6408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Sviluppo di applicazioni per dispositivi mobile, web e desktop.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611556" y="2831182"/>
            <a:ext cx="5400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Flutter 1.0  </a:t>
            </a:r>
            <a:r>
              <a:rPr lang="it-IT" sz="20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4 dicembre 2018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11557" y="3501008"/>
            <a:ext cx="5400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Flutter 2.0  3 marzo 2021</a:t>
            </a:r>
            <a:endParaRPr lang="it-IT" sz="2000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</p:txBody>
      </p:sp>
      <p:sp>
        <p:nvSpPr>
          <p:cNvPr id="12" name="CasellaDiTesto 11"/>
          <p:cNvSpPr txBox="1"/>
          <p:nvPr/>
        </p:nvSpPr>
        <p:spPr>
          <a:xfrm>
            <a:off x="611559" y="4193374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it-IT" sz="20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Open</a:t>
            </a:r>
            <a:r>
              <a:rPr lang="it-IT" dirty="0" smtClean="0"/>
              <a:t> </a:t>
            </a:r>
            <a:r>
              <a:rPr lang="it-IT" sz="20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source</a:t>
            </a:r>
            <a:endParaRPr lang="it-IT" sz="2000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</p:txBody>
      </p:sp>
      <p:grpSp>
        <p:nvGrpSpPr>
          <p:cNvPr id="16" name="Gruppo 15"/>
          <p:cNvGrpSpPr/>
          <p:nvPr/>
        </p:nvGrpSpPr>
        <p:grpSpPr>
          <a:xfrm>
            <a:off x="611556" y="4804215"/>
            <a:ext cx="4415400" cy="498062"/>
            <a:chOff x="611556" y="4804215"/>
            <a:chExt cx="4415400" cy="498062"/>
          </a:xfrm>
        </p:grpSpPr>
        <p:sp>
          <p:nvSpPr>
            <p:cNvPr id="14" name="CasellaDiTesto 13"/>
            <p:cNvSpPr txBox="1"/>
            <p:nvPr/>
          </p:nvSpPr>
          <p:spPr>
            <a:xfrm>
              <a:off x="611556" y="4853191"/>
              <a:ext cx="43924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itchFamily="34" charset="0"/>
                <a:buChar char="•"/>
              </a:pPr>
              <a:r>
                <a:rPr lang="it-IT" sz="2000" dirty="0" smtClean="0">
                  <a:solidFill>
                    <a:schemeClr val="bg1"/>
                  </a:solidFill>
                  <a:latin typeface="Consolas" pitchFamily="49" charset="0"/>
                  <a:ea typeface="+mj-ea"/>
                  <a:cs typeface="+mj-cs"/>
                </a:rPr>
                <a:t>Utilizza il linguaggio </a:t>
              </a:r>
              <a:endParaRPr lang="it-IT" sz="20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endParaRPr>
            </a:p>
          </p:txBody>
        </p:sp>
        <p:pic>
          <p:nvPicPr>
            <p:cNvPr id="15" name="Immagine 1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9951" y="4804215"/>
              <a:ext cx="887005" cy="498062"/>
            </a:xfrm>
            <a:prstGeom prst="rect">
              <a:avLst/>
            </a:prstGeom>
          </p:spPr>
        </p:pic>
      </p:grpSp>
      <p:sp>
        <p:nvSpPr>
          <p:cNvPr id="18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93060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73" fill="hold">
                                          <p:stCondLst>
                                            <p:cond delay="27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3" decel="50000" autoRev="1" fill="hold">
                                          <p:stCondLst>
                                            <p:cond delay="27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1" fill="hold">
                                          <p:stCondLst>
                                            <p:cond delay="51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2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95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7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45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12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95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8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4"/>
          <p:cNvSpPr/>
          <p:nvPr/>
        </p:nvSpPr>
        <p:spPr>
          <a:xfrm>
            <a:off x="-25154" y="188640"/>
            <a:ext cx="6865406" cy="1296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-41296" y="188640"/>
            <a:ext cx="6511588" cy="1143000"/>
          </a:xfrm>
        </p:spPr>
        <p:txBody>
          <a:bodyPr>
            <a:normAutofit fontScale="90000"/>
          </a:bodyPr>
          <a:lstStyle/>
          <a:p>
            <a:pPr marL="360000" algn="l"/>
            <a:r>
              <a:rPr lang="it-IT" sz="6000" dirty="0" smtClean="0">
                <a:solidFill>
                  <a:schemeClr val="bg1"/>
                </a:solidFill>
                <a:latin typeface="Consolas" pitchFamily="49" charset="0"/>
              </a:rPr>
              <a:t>Linguaggio Dart</a:t>
            </a:r>
            <a:endParaRPr lang="it-IT" sz="60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1844825"/>
            <a:ext cx="7056784" cy="3240360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Dart è un linguaggio object-oriented.</a:t>
            </a:r>
          </a:p>
          <a:p>
            <a:pPr>
              <a:spcAft>
                <a:spcPts val="8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È ottimizzato per le User Interface.</a:t>
            </a:r>
          </a:p>
          <a:p>
            <a:pPr>
              <a:spcAft>
                <a:spcPts val="8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Ha una sintassi «familiare» -&gt; è facile da imparare.</a:t>
            </a:r>
          </a:p>
          <a:p>
            <a:pPr>
              <a:spcAft>
                <a:spcPts val="2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Include la Dart VM che ha due tipi di compilazione: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it-IT" sz="18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 </a:t>
            </a:r>
            <a:r>
              <a:rPr lang="it-IT" sz="1800" b="1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-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compilazione just in time (JIT)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   per fasi di sviluppo rapide.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  </a:t>
            </a:r>
            <a:r>
              <a:rPr lang="it-IT" sz="1800" b="1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-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compilazione ahead of time (AOT)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it-IT" sz="18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  per la produzione dell’applicazione.</a:t>
            </a:r>
            <a:endParaRPr lang="it-IT" sz="1800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</p:txBody>
      </p:sp>
      <p:sp>
        <p:nvSpPr>
          <p:cNvPr id="5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184857"/>
            <a:ext cx="1997949" cy="1948000"/>
          </a:xfrm>
          <a:prstGeom prst="rect">
            <a:avLst/>
          </a:prstGeom>
        </p:spPr>
      </p:pic>
      <p:pic>
        <p:nvPicPr>
          <p:cNvPr id="4" name="Immagine 3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818" y="5134357"/>
            <a:ext cx="3785474" cy="15350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533883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5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45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2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95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7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45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200"/>
                            </p:stCondLst>
                            <p:childTnLst>
                              <p:par>
                                <p:cTn id="7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con angoli arrotondati in diagonale 5"/>
          <p:cNvSpPr/>
          <p:nvPr/>
        </p:nvSpPr>
        <p:spPr>
          <a:xfrm>
            <a:off x="747851" y="1700808"/>
            <a:ext cx="7602399" cy="360041"/>
          </a:xfrm>
          <a:prstGeom prst="round2DiagRect">
            <a:avLst/>
          </a:prstGeom>
          <a:solidFill>
            <a:srgbClr val="00B0FD"/>
          </a:solidFill>
          <a:ln>
            <a:solidFill>
              <a:srgbClr val="55C0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allelogramma 4"/>
          <p:cNvSpPr/>
          <p:nvPr/>
        </p:nvSpPr>
        <p:spPr>
          <a:xfrm>
            <a:off x="-2" y="197760"/>
            <a:ext cx="7164290" cy="1296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6130" y="197760"/>
            <a:ext cx="6500085" cy="1220708"/>
          </a:xfrm>
        </p:spPr>
        <p:txBody>
          <a:bodyPr>
            <a:noAutofit/>
          </a:bodyPr>
          <a:lstStyle/>
          <a:p>
            <a:pPr marL="252000" algn="l"/>
            <a:r>
              <a:rPr lang="it-IT" sz="5600" dirty="0" smtClean="0">
                <a:solidFill>
                  <a:schemeClr val="bg1"/>
                </a:solidFill>
                <a:latin typeface="Consolas" pitchFamily="49" charset="0"/>
              </a:rPr>
              <a:t>Applicazioni</a:t>
            </a:r>
            <a:endParaRPr lang="it-IT" sz="56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18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/>
          <p:cNvSpPr txBox="1"/>
          <p:nvPr/>
        </p:nvSpPr>
        <p:spPr>
          <a:xfrm>
            <a:off x="539553" y="3133413"/>
            <a:ext cx="39999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Progettate per garantire prestazioni ottimali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I componenti non si adattano correttamente a schermi di diverse dimensioni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Sono 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create appositamente per uno specifico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bg1"/>
              </a:solidFill>
              <a:latin typeface="Consolas" pitchFamily="49" charset="0"/>
            </a:endParaRPr>
          </a:p>
          <a:p>
            <a:pPr algn="ctr"/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Nel caso si volesse creare </a:t>
            </a:r>
            <a:endParaRPr lang="it-IT" dirty="0" smtClean="0">
              <a:solidFill>
                <a:schemeClr val="bg1"/>
              </a:solidFill>
              <a:latin typeface="Consolas" pitchFamily="49" charset="0"/>
            </a:endParaRPr>
          </a:p>
          <a:p>
            <a:pPr algn="ctr"/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l’app 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per un altro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OS</a:t>
            </a:r>
          </a:p>
          <a:p>
            <a:pPr algn="ctr"/>
            <a:endParaRPr lang="it-IT" dirty="0" smtClean="0">
              <a:solidFill>
                <a:schemeClr val="bg1"/>
              </a:solidFill>
              <a:latin typeface="Consolas" pitchFamily="49" charset="0"/>
            </a:endParaRPr>
          </a:p>
          <a:p>
            <a:pPr algn="ctr"/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Riscrivere completamente l’app</a:t>
            </a:r>
            <a:endParaRPr lang="it-IT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12" name="Freccia a destra 11"/>
          <p:cNvSpPr/>
          <p:nvPr/>
        </p:nvSpPr>
        <p:spPr>
          <a:xfrm rot="5400000">
            <a:off x="2280728" y="5178030"/>
            <a:ext cx="216025" cy="14401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a destra 13"/>
          <p:cNvSpPr/>
          <p:nvPr/>
        </p:nvSpPr>
        <p:spPr>
          <a:xfrm rot="5400000">
            <a:off x="2250148" y="6015865"/>
            <a:ext cx="277186" cy="14401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6" name="Immagin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733" y="1780771"/>
            <a:ext cx="1806097" cy="1539373"/>
          </a:xfrm>
          <a:prstGeom prst="rect">
            <a:avLst/>
          </a:prstGeom>
        </p:spPr>
      </p:pic>
      <p:pic>
        <p:nvPicPr>
          <p:cNvPr id="17" name="Immagin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780771"/>
            <a:ext cx="1798476" cy="1531753"/>
          </a:xfrm>
          <a:prstGeom prst="rect">
            <a:avLst/>
          </a:prstGeom>
        </p:spPr>
      </p:pic>
      <p:sp>
        <p:nvSpPr>
          <p:cNvPr id="19" name="CasellaDiTesto 18"/>
          <p:cNvSpPr txBox="1"/>
          <p:nvPr/>
        </p:nvSpPr>
        <p:spPr>
          <a:xfrm>
            <a:off x="1259631" y="1696162"/>
            <a:ext cx="2736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Native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5004048" y="1696162"/>
            <a:ext cx="2736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500"/>
              </a:spcAft>
            </a:pPr>
            <a:r>
              <a:rPr lang="it-IT" b="1" dirty="0">
                <a:solidFill>
                  <a:schemeClr val="bg1"/>
                </a:solidFill>
                <a:latin typeface="Consolas" pitchFamily="49" charset="0"/>
              </a:rPr>
              <a:t>Cross-Platform</a:t>
            </a:r>
          </a:p>
        </p:txBody>
      </p:sp>
      <p:sp>
        <p:nvSpPr>
          <p:cNvPr id="21" name="CasellaDiTesto 20"/>
          <p:cNvSpPr txBox="1"/>
          <p:nvPr/>
        </p:nvSpPr>
        <p:spPr>
          <a:xfrm>
            <a:off x="4760083" y="3133413"/>
            <a:ext cx="39883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Applicazioni supportate da più piattaforme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 smtClean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algn="ctr"/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Un unico codice per più sistemi operativi</a:t>
            </a:r>
          </a:p>
          <a:p>
            <a:pPr algn="ctr"/>
            <a:endParaRPr lang="it-IT" dirty="0" smtClean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algn="ctr"/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Lo sviluppo 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e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la manutenzione richiedono meno tempo</a:t>
            </a:r>
          </a:p>
          <a:p>
            <a:pPr algn="ctr"/>
            <a:endParaRPr lang="it-IT" dirty="0" smtClean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algn="ctr"/>
            <a:endParaRPr lang="it-IT" dirty="0" smtClean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algn="ctr"/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Prestazioni minori</a:t>
            </a:r>
            <a:endParaRPr lang="it-IT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22" name="Freccia a destra 21"/>
          <p:cNvSpPr/>
          <p:nvPr/>
        </p:nvSpPr>
        <p:spPr>
          <a:xfrm rot="5400000">
            <a:off x="6515354" y="3825045"/>
            <a:ext cx="216025" cy="14401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a destra 22"/>
          <p:cNvSpPr/>
          <p:nvPr/>
        </p:nvSpPr>
        <p:spPr>
          <a:xfrm rot="5400000">
            <a:off x="6515354" y="4631065"/>
            <a:ext cx="216025" cy="14401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a destra 23"/>
          <p:cNvSpPr/>
          <p:nvPr/>
        </p:nvSpPr>
        <p:spPr>
          <a:xfrm rot="5400000">
            <a:off x="6365190" y="5602242"/>
            <a:ext cx="520792" cy="14401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/>
          <p:cNvSpPr txBox="1"/>
          <p:nvPr/>
        </p:nvSpPr>
        <p:spPr>
          <a:xfrm>
            <a:off x="6729651" y="5483675"/>
            <a:ext cx="469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ma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4006249" y="170080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vs</a:t>
            </a:r>
            <a:endParaRPr lang="it-IT" b="1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889931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200"/>
                            </p:stCondLst>
                            <p:childTnLst>
                              <p:par>
                                <p:cTn id="3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200"/>
                            </p:stCondLst>
                            <p:childTnLst>
                              <p:par>
                                <p:cTn id="3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700"/>
                            </p:stCondLst>
                            <p:childTnLst>
                              <p:par>
                                <p:cTn id="4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2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700"/>
                            </p:stCondLst>
                            <p:childTnLst>
                              <p:par>
                                <p:cTn id="7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200"/>
                            </p:stCondLst>
                            <p:childTnLst>
                              <p:par>
                                <p:cTn id="7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700"/>
                            </p:stCondLst>
                            <p:childTnLst>
                              <p:par>
                                <p:cTn id="8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200"/>
                            </p:stCondLst>
                            <p:childTnLst>
                              <p:par>
                                <p:cTn id="10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8700"/>
                            </p:stCondLst>
                            <p:childTnLst>
                              <p:par>
                                <p:cTn id="10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9700"/>
                            </p:stCondLst>
                            <p:childTnLst>
                              <p:par>
                                <p:cTn id="11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2" grpId="0"/>
      <p:bldP spid="12" grpId="0" animBg="1"/>
      <p:bldP spid="14" grpId="0" animBg="1"/>
      <p:bldP spid="19" grpId="0"/>
      <p:bldP spid="20" grpId="0"/>
      <p:bldP spid="22" grpId="0" animBg="1"/>
      <p:bldP spid="23" grpId="0" animBg="1"/>
      <p:bldP spid="24" grpId="0" animBg="1"/>
      <p:bldP spid="25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42"/>
          <a:stretch/>
        </p:blipFill>
        <p:spPr>
          <a:xfrm>
            <a:off x="436518" y="1702176"/>
            <a:ext cx="2809980" cy="785169"/>
          </a:xfrm>
          <a:prstGeom prst="rect">
            <a:avLst/>
          </a:prstGeom>
        </p:spPr>
      </p:pic>
      <p:sp>
        <p:nvSpPr>
          <p:cNvPr id="14" name="Rettangolo 13"/>
          <p:cNvSpPr/>
          <p:nvPr/>
        </p:nvSpPr>
        <p:spPr>
          <a:xfrm>
            <a:off x="365344" y="2478698"/>
            <a:ext cx="2952328" cy="79208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4"/>
          <p:cNvSpPr/>
          <p:nvPr/>
        </p:nvSpPr>
        <p:spPr>
          <a:xfrm>
            <a:off x="-25154" y="188640"/>
            <a:ext cx="7092282" cy="1296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-36624" y="188640"/>
            <a:ext cx="4248584" cy="1143000"/>
          </a:xfrm>
        </p:spPr>
        <p:txBody>
          <a:bodyPr>
            <a:noAutofit/>
          </a:bodyPr>
          <a:lstStyle/>
          <a:p>
            <a:pPr marL="360000" algn="l"/>
            <a:r>
              <a:rPr lang="it-IT" sz="6000" dirty="0" smtClean="0">
                <a:solidFill>
                  <a:schemeClr val="bg1"/>
                </a:solidFill>
                <a:latin typeface="Consolas" pitchFamily="49" charset="0"/>
              </a:rPr>
              <a:t>Vantaggi</a:t>
            </a:r>
            <a:endParaRPr lang="it-IT" sz="60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09436" y="2544109"/>
            <a:ext cx="2664144" cy="610199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it-IT" sz="1800" b="1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Codebase </a:t>
            </a:r>
            <a:r>
              <a:rPr lang="it-IT" sz="1800" b="1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per molte </a:t>
            </a:r>
            <a:r>
              <a:rPr lang="it-IT" sz="1800" b="1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piattaforme</a:t>
            </a:r>
          </a:p>
        </p:txBody>
      </p:sp>
      <p:sp>
        <p:nvSpPr>
          <p:cNvPr id="5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/>
          <p:cNvSpPr txBox="1">
            <a:spLocks/>
          </p:cNvSpPr>
          <p:nvPr/>
        </p:nvSpPr>
        <p:spPr>
          <a:xfrm>
            <a:off x="4753912" y="1673244"/>
            <a:ext cx="4098901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</a:rPr>
              <a:t>Con un unico linguaggio e un unico processo di sviluppo ottengo un app per più OS</a:t>
            </a:r>
            <a:endParaRPr lang="it-IT" sz="18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8" name="Freccia a destra 7"/>
          <p:cNvSpPr/>
          <p:nvPr/>
        </p:nvSpPr>
        <p:spPr>
          <a:xfrm>
            <a:off x="3485406" y="2802734"/>
            <a:ext cx="1123021" cy="14401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a destra 8"/>
          <p:cNvSpPr/>
          <p:nvPr/>
        </p:nvSpPr>
        <p:spPr>
          <a:xfrm rot="1425276">
            <a:off x="3421858" y="3260366"/>
            <a:ext cx="1338135" cy="14401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/>
          <p:cNvSpPr txBox="1"/>
          <p:nvPr/>
        </p:nvSpPr>
        <p:spPr>
          <a:xfrm>
            <a:off x="5796136" y="314096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4758565" y="2636912"/>
            <a:ext cx="3058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Fase 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di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manutenzione migliore e più rapida</a:t>
            </a:r>
          </a:p>
          <a:p>
            <a:endParaRPr lang="it-IT" dirty="0">
              <a:solidFill>
                <a:schemeClr val="bg1"/>
              </a:solidFill>
              <a:latin typeface="Consolas" pitchFamily="49" charset="0"/>
            </a:endParaRPr>
          </a:p>
          <a:p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Sviluppo più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rapido (metà del tempo)</a:t>
            </a:r>
            <a:endParaRPr lang="it-IT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1115616" y="4316448"/>
            <a:ext cx="7591032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b="1" dirty="0" smtClean="0">
                <a:solidFill>
                  <a:schemeClr val="bg1"/>
                </a:solidFill>
                <a:latin typeface="Consolas" pitchFamily="49" charset="0"/>
              </a:rPr>
              <a:t>- Altri vantaggi principali: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Efficienza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Dart -&gt; Hot reload -&gt; Fase di testing molto rapida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Utilizzo dei widget per creare app complesse</a:t>
            </a:r>
            <a:endParaRPr lang="it-IT" dirty="0">
              <a:solidFill>
                <a:schemeClr val="bg1"/>
              </a:solidFill>
              <a:latin typeface="Consolas" pitchFamily="49" charset="0"/>
            </a:endParaRP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Supporto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da parte di Google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Design dell’app facile da creare e accattivante</a:t>
            </a:r>
            <a:endParaRPr lang="it-IT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17" name="Freccia a destra 16"/>
          <p:cNvSpPr/>
          <p:nvPr/>
        </p:nvSpPr>
        <p:spPr>
          <a:xfrm rot="20160000">
            <a:off x="3419957" y="2353285"/>
            <a:ext cx="1361822" cy="14401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873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0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250"/>
                            </p:stCondLst>
                            <p:childTnLst>
                              <p:par>
                                <p:cTn id="68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50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1750"/>
                            </p:stCondLst>
                            <p:childTnLst>
                              <p:par>
                                <p:cTn id="80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30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  <p:bldP spid="2" grpId="0"/>
      <p:bldP spid="3" grpId="0" build="p"/>
      <p:bldP spid="8" grpId="0" animBg="1"/>
      <p:bldP spid="9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o 12"/>
          <p:cNvGrpSpPr/>
          <p:nvPr/>
        </p:nvGrpSpPr>
        <p:grpSpPr>
          <a:xfrm>
            <a:off x="761131" y="3125060"/>
            <a:ext cx="7632848" cy="3732940"/>
            <a:chOff x="761131" y="2918726"/>
            <a:chExt cx="7632848" cy="3732940"/>
          </a:xfrm>
        </p:grpSpPr>
        <p:pic>
          <p:nvPicPr>
            <p:cNvPr id="6" name="Immagin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131" y="2918726"/>
              <a:ext cx="7632848" cy="3732940"/>
            </a:xfrm>
            <a:prstGeom prst="rect">
              <a:avLst/>
            </a:prstGeom>
          </p:spPr>
        </p:pic>
        <p:sp>
          <p:nvSpPr>
            <p:cNvPr id="7" name="CasellaDiTesto 6"/>
            <p:cNvSpPr txBox="1"/>
            <p:nvPr/>
          </p:nvSpPr>
          <p:spPr>
            <a:xfrm>
              <a:off x="2471981" y="3501008"/>
              <a:ext cx="504056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" dirty="0" smtClean="0">
                  <a:latin typeface="Emmett" pitchFamily="2" charset="0"/>
                </a:rPr>
                <a:t>Leading</a:t>
              </a:r>
              <a:endParaRPr lang="it-IT" sz="400" dirty="0">
                <a:latin typeface="Emmett" pitchFamily="2" charset="0"/>
              </a:endParaRP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2843808" y="3508990"/>
              <a:ext cx="360040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" dirty="0" smtClean="0">
                  <a:latin typeface="Emmett" pitchFamily="2" charset="0"/>
                </a:rPr>
                <a:t>title</a:t>
              </a:r>
              <a:endParaRPr lang="it-IT" sz="400" dirty="0">
                <a:latin typeface="Emmett" pitchFamily="2" charset="0"/>
              </a:endParaRP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3419872" y="3501008"/>
              <a:ext cx="504056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" dirty="0" smtClean="0">
                  <a:latin typeface="Emmett" pitchFamily="2" charset="0"/>
                </a:rPr>
                <a:t>actions</a:t>
              </a:r>
              <a:endParaRPr lang="it-IT" sz="400" dirty="0">
                <a:latin typeface="Emmett" pitchFamily="2" charset="0"/>
              </a:endParaRP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3419872" y="4221088"/>
              <a:ext cx="504056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" dirty="0" smtClean="0">
                  <a:latin typeface="Emmett" pitchFamily="2" charset="0"/>
                </a:rPr>
                <a:t>bottom</a:t>
              </a:r>
              <a:endParaRPr lang="it-IT" sz="400" dirty="0">
                <a:latin typeface="Emmett" pitchFamily="2" charset="0"/>
              </a:endParaRPr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2519772" y="4221088"/>
              <a:ext cx="504056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" dirty="0" smtClean="0">
                  <a:latin typeface="Emmett" pitchFamily="2" charset="0"/>
                </a:rPr>
                <a:t>flexibleSpace</a:t>
              </a:r>
              <a:endParaRPr lang="it-IT" sz="400" dirty="0">
                <a:latin typeface="Emmett" pitchFamily="2" charset="0"/>
              </a:endParaRPr>
            </a:p>
          </p:txBody>
        </p:sp>
      </p:grpSp>
      <p:sp>
        <p:nvSpPr>
          <p:cNvPr id="14" name="Parallelogramma 4"/>
          <p:cNvSpPr/>
          <p:nvPr/>
        </p:nvSpPr>
        <p:spPr>
          <a:xfrm>
            <a:off x="-25154" y="188640"/>
            <a:ext cx="7092282" cy="1296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188640"/>
            <a:ext cx="3203848" cy="1143000"/>
          </a:xfrm>
        </p:spPr>
        <p:txBody>
          <a:bodyPr>
            <a:normAutofit/>
          </a:bodyPr>
          <a:lstStyle/>
          <a:p>
            <a:pPr marL="360000" algn="l"/>
            <a:r>
              <a:rPr lang="it-IT" sz="6000" dirty="0" smtClean="0">
                <a:solidFill>
                  <a:schemeClr val="bg1"/>
                </a:solidFill>
                <a:latin typeface="Consolas" pitchFamily="49" charset="0"/>
              </a:rPr>
              <a:t>Widget</a:t>
            </a:r>
            <a:endParaRPr lang="it-IT" sz="60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628800"/>
            <a:ext cx="8363272" cy="1440304"/>
          </a:xfrm>
        </p:spPr>
        <p:txBody>
          <a:bodyPr>
            <a:noAutofit/>
          </a:bodyPr>
          <a:lstStyle/>
          <a:p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Flutter </a:t>
            </a:r>
            <a:r>
              <a:rPr lang="it-IT" sz="18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è fortemente orientato ai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widget, infatti ogni </a:t>
            </a:r>
            <a:r>
              <a:rPr lang="it-IT" sz="18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cosa in Flutter è un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widget.</a:t>
            </a:r>
          </a:p>
          <a:p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Esistono widget stateless e stateful.</a:t>
            </a:r>
          </a:p>
          <a:p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È </a:t>
            </a:r>
            <a:r>
              <a:rPr lang="it-IT" sz="18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possibile creare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widget </a:t>
            </a:r>
            <a:r>
              <a:rPr lang="it-IT" sz="18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più complessi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combinandone </a:t>
            </a:r>
            <a:r>
              <a:rPr lang="it-IT" sz="18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molti più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semplici.</a:t>
            </a:r>
            <a:endParaRPr lang="it-IT" sz="1800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</p:txBody>
      </p:sp>
      <p:sp>
        <p:nvSpPr>
          <p:cNvPr id="4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16387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rallelogramma 4"/>
          <p:cNvSpPr/>
          <p:nvPr/>
        </p:nvSpPr>
        <p:spPr>
          <a:xfrm>
            <a:off x="-3" y="4311331"/>
            <a:ext cx="3075743" cy="306988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Parallelogramma 4"/>
          <p:cNvSpPr/>
          <p:nvPr/>
        </p:nvSpPr>
        <p:spPr>
          <a:xfrm>
            <a:off x="-2" y="1700421"/>
            <a:ext cx="3075743" cy="306988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4"/>
          <p:cNvSpPr/>
          <p:nvPr/>
        </p:nvSpPr>
        <p:spPr>
          <a:xfrm>
            <a:off x="-25154" y="188640"/>
            <a:ext cx="8845626" cy="1296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-36625" y="188640"/>
            <a:ext cx="8857097" cy="1143000"/>
          </a:xfrm>
        </p:spPr>
        <p:txBody>
          <a:bodyPr>
            <a:noAutofit/>
          </a:bodyPr>
          <a:lstStyle/>
          <a:p>
            <a:pPr marL="360000" algn="l"/>
            <a:r>
              <a:rPr lang="it-IT" sz="4000" dirty="0" smtClean="0">
                <a:solidFill>
                  <a:schemeClr val="bg1"/>
                </a:solidFill>
                <a:latin typeface="Consolas" pitchFamily="49" charset="0"/>
              </a:rPr>
              <a:t>Stateless e Stateful widget</a:t>
            </a:r>
            <a:endParaRPr lang="it-IT" sz="40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5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/>
          <p:cNvSpPr txBox="1">
            <a:spLocks/>
          </p:cNvSpPr>
          <p:nvPr/>
        </p:nvSpPr>
        <p:spPr>
          <a:xfrm>
            <a:off x="323528" y="1973818"/>
            <a:ext cx="4608512" cy="6074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it-IT" sz="1800" dirty="0">
                <a:solidFill>
                  <a:schemeClr val="bg1"/>
                </a:solidFill>
                <a:latin typeface="Consolas" pitchFamily="49" charset="0"/>
              </a:rPr>
              <a:t>non contengono informazioni sul loro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</a:rPr>
              <a:t>stato</a:t>
            </a:r>
            <a:endParaRPr lang="it-IT" sz="18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5796136" y="314096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12" name="Segnaposto contenuto 2"/>
          <p:cNvSpPr txBox="1">
            <a:spLocks/>
          </p:cNvSpPr>
          <p:nvPr/>
        </p:nvSpPr>
        <p:spPr>
          <a:xfrm>
            <a:off x="323526" y="4644164"/>
            <a:ext cx="4623201" cy="614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it-IT" sz="1800" dirty="0">
                <a:solidFill>
                  <a:schemeClr val="bg1"/>
                </a:solidFill>
                <a:latin typeface="Consolas" pitchFamily="49" charset="0"/>
              </a:rPr>
              <a:t>contengono informazioni sul loro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</a:rPr>
              <a:t>stato</a:t>
            </a:r>
            <a:endParaRPr lang="it-IT" sz="18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679027" y="1639482"/>
            <a:ext cx="237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Consolas" pitchFamily="49" charset="0"/>
              </a:rPr>
              <a:t>Stateless</a:t>
            </a:r>
            <a:endParaRPr lang="it-IT" sz="2000" b="1" dirty="0"/>
          </a:p>
        </p:txBody>
      </p:sp>
      <p:sp>
        <p:nvSpPr>
          <p:cNvPr id="13" name="CasellaDiTesto 12"/>
          <p:cNvSpPr txBox="1"/>
          <p:nvPr/>
        </p:nvSpPr>
        <p:spPr>
          <a:xfrm>
            <a:off x="679027" y="4258979"/>
            <a:ext cx="237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Consolas" pitchFamily="49" charset="0"/>
              </a:rPr>
              <a:t>Stateful</a:t>
            </a:r>
            <a:endParaRPr lang="it-IT" sz="2000" b="1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622820" y="5230861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Consolas" pitchFamily="49" charset="0"/>
              </a:rPr>
              <a:t>Caratteristiche: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323526" y="5522357"/>
            <a:ext cx="7925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Stato mutabile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Metodo setState</a:t>
            </a:r>
            <a:r>
              <a:rPr lang="it-IT" i="1" dirty="0" smtClean="0">
                <a:solidFill>
                  <a:schemeClr val="bg1"/>
                </a:solidFill>
                <a:latin typeface="Consolas" pitchFamily="49" charset="0"/>
              </a:rPr>
              <a:t>() -&gt;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permette di creare un nuovo tree con le modifiche apportate</a:t>
            </a:r>
            <a:endParaRPr lang="it-IT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622820" y="2581285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latin typeface="Consolas" pitchFamily="49" charset="0"/>
              </a:rPr>
              <a:t>Caratteristiche: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323527" y="2858952"/>
            <a:ext cx="4623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Contengono altri widget (schema ad albero)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Stato immutabile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Utili per inserire dati statici</a:t>
            </a:r>
            <a:endParaRPr lang="it-IT" dirty="0">
              <a:solidFill>
                <a:schemeClr val="bg1"/>
              </a:solidFill>
              <a:latin typeface="Consolas" pitchFamily="49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443" y="1650912"/>
            <a:ext cx="4833205" cy="3652745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7920372" y="5337691"/>
            <a:ext cx="1800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>
                <a:solidFill>
                  <a:schemeClr val="bg1"/>
                </a:solidFill>
                <a:latin typeface="Consolas" pitchFamily="49" charset="0"/>
              </a:rPr>
              <a:t>Widget</a:t>
            </a:r>
            <a:r>
              <a:rPr lang="it-IT" sz="1050" dirty="0" smtClean="0"/>
              <a:t> </a:t>
            </a:r>
            <a:r>
              <a:rPr lang="it-IT" sz="1050" dirty="0">
                <a:solidFill>
                  <a:schemeClr val="bg1"/>
                </a:solidFill>
                <a:latin typeface="Consolas" pitchFamily="49" charset="0"/>
              </a:rPr>
              <a:t>tree</a:t>
            </a:r>
          </a:p>
        </p:txBody>
      </p:sp>
    </p:spTree>
    <p:extLst>
      <p:ext uri="{BB962C8B-B14F-4D97-AF65-F5344CB8AC3E}">
        <p14:creationId xmlns:p14="http://schemas.microsoft.com/office/powerpoint/2010/main" val="790957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4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4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1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6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6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6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600"/>
                            </p:stCondLst>
                            <p:childTnLst>
                              <p:par>
                                <p:cTn id="7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30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6" grpId="0" animBg="1"/>
      <p:bldP spid="2" grpId="0"/>
      <p:bldP spid="3" grpId="0"/>
      <p:bldP spid="13" grpId="0"/>
      <p:bldP spid="11" grpId="0"/>
      <p:bldP spid="17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/>
          <p:cNvSpPr/>
          <p:nvPr/>
        </p:nvSpPr>
        <p:spPr>
          <a:xfrm>
            <a:off x="-2" y="197760"/>
            <a:ext cx="7164290" cy="1296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6130" y="197760"/>
            <a:ext cx="6500085" cy="1220708"/>
          </a:xfrm>
        </p:spPr>
        <p:txBody>
          <a:bodyPr>
            <a:noAutofit/>
          </a:bodyPr>
          <a:lstStyle/>
          <a:p>
            <a:pPr marL="252000"/>
            <a:r>
              <a:rPr lang="it-IT" sz="5600" dirty="0" smtClean="0">
                <a:solidFill>
                  <a:schemeClr val="bg1"/>
                </a:solidFill>
                <a:latin typeface="Consolas" pitchFamily="49" charset="0"/>
              </a:rPr>
              <a:t>Material Design</a:t>
            </a:r>
            <a:endParaRPr lang="it-IT" sz="56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18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056" y="260648"/>
            <a:ext cx="1668416" cy="1668416"/>
          </a:xfrm>
          <a:prstGeom prst="rect">
            <a:avLst/>
          </a:prstGeom>
        </p:spPr>
      </p:pic>
      <p:sp>
        <p:nvSpPr>
          <p:cNvPr id="13" name="CasellaDiTesto 12"/>
          <p:cNvSpPr txBox="1"/>
          <p:nvPr/>
        </p:nvSpPr>
        <p:spPr>
          <a:xfrm>
            <a:off x="515710" y="1792978"/>
            <a:ext cx="64293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Offre interfacce moderne non pesanti come gli oggetti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(es: bottoni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) 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nativi di android.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Layout ottenuti potendo utilizzare una griglia.</a:t>
            </a:r>
            <a:endParaRPr lang="it-IT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Effetti di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profondità e ombre</a:t>
            </a:r>
            <a:endParaRPr lang="it-IT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Animazioni e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transizioni.</a:t>
            </a:r>
            <a:endParaRPr lang="it-IT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Segue lo stile di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google.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685" y="4312938"/>
            <a:ext cx="2105126" cy="422304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755577" y="4221088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Libreria</a:t>
            </a:r>
            <a:r>
              <a:rPr lang="it-IT" sz="2000" b="1" dirty="0" smtClean="0"/>
              <a:t> </a:t>
            </a:r>
            <a:r>
              <a:rPr lang="it-IT" sz="2000" b="1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Cupertino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18659" y="4839917"/>
            <a:ext cx="4128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È analoga a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Material.</a:t>
            </a:r>
            <a:endParaRPr lang="it-IT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Contiene gli stessi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widget 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di Material ma adattati graficamente per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iOS.</a:t>
            </a:r>
            <a:endParaRPr lang="it-IT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555" y="2864347"/>
            <a:ext cx="1308147" cy="216024"/>
          </a:xfrm>
          <a:prstGeom prst="rect">
            <a:avLst/>
          </a:prstGeom>
        </p:spPr>
      </p:pic>
      <p:pic>
        <p:nvPicPr>
          <p:cNvPr id="9" name="Immagin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53" y="4937946"/>
            <a:ext cx="1707028" cy="1394581"/>
          </a:xfrm>
          <a:prstGeom prst="rect">
            <a:avLst/>
          </a:prstGeom>
        </p:spPr>
      </p:pic>
      <p:pic>
        <p:nvPicPr>
          <p:cNvPr id="11" name="Immagin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036" y="4968660"/>
            <a:ext cx="1992591" cy="148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25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4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4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9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9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90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4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4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400"/>
                            </p:stCondLst>
                            <p:childTnLst>
                              <p:par>
                                <p:cTn id="7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900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1400"/>
                            </p:stCondLst>
                            <p:childTnLst>
                              <p:par>
                                <p:cTn id="8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4"/>
          <p:cNvSpPr/>
          <p:nvPr/>
        </p:nvSpPr>
        <p:spPr>
          <a:xfrm>
            <a:off x="0" y="188640"/>
            <a:ext cx="7092282" cy="1296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-41296" y="188640"/>
            <a:ext cx="4896544" cy="1143000"/>
          </a:xfrm>
        </p:spPr>
        <p:txBody>
          <a:bodyPr>
            <a:normAutofit fontScale="90000"/>
          </a:bodyPr>
          <a:lstStyle/>
          <a:p>
            <a:pPr marL="360000" algn="l"/>
            <a:r>
              <a:rPr lang="it-IT" sz="6000" dirty="0" smtClean="0">
                <a:solidFill>
                  <a:schemeClr val="bg1"/>
                </a:solidFill>
                <a:latin typeface="Consolas" pitchFamily="49" charset="0"/>
              </a:rPr>
              <a:t>Concorrenti</a:t>
            </a:r>
            <a:endParaRPr lang="it-IT" sz="60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18626" y="1767479"/>
            <a:ext cx="5130574" cy="4909353"/>
          </a:xfrm>
        </p:spPr>
        <p:txBody>
          <a:bodyPr>
            <a:noAutofit/>
          </a:bodyPr>
          <a:lstStyle/>
          <a:p>
            <a:pPr>
              <a:spcAft>
                <a:spcPts val="2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Xamarin nasce nel 2011.</a:t>
            </a:r>
          </a:p>
          <a:p>
            <a:pPr>
              <a:spcAft>
                <a:spcPts val="2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Nel 2015 viene acquistata da </a:t>
            </a:r>
          </a:p>
          <a:p>
            <a:pPr>
              <a:spcAft>
                <a:spcPts val="14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Permette di sviluppare app multipiattaforma con </a:t>
            </a:r>
            <a:r>
              <a:rPr lang="it-IT" sz="1800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C#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e .NET</a:t>
            </a:r>
          </a:p>
          <a:p>
            <a:pPr>
              <a:spcAft>
                <a:spcPts val="2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Apache Cordova nasce nel 2009. </a:t>
            </a:r>
          </a:p>
          <a:p>
            <a:pPr>
              <a:spcAft>
                <a:spcPts val="2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Nel 2011 viene acquistata da </a:t>
            </a:r>
            <a:endParaRPr lang="it-IT" sz="1800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>
              <a:spcAft>
                <a:spcPts val="1200"/>
              </a:spcAft>
            </a:pPr>
            <a:r>
              <a:rPr lang="it-IT" sz="1800" dirty="0">
                <a:solidFill>
                  <a:schemeClr val="bg1"/>
                </a:solidFill>
                <a:latin typeface="Consolas" pitchFamily="49" charset="0"/>
              </a:rPr>
              <a:t>Permette di sviluppare app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</a:rPr>
              <a:t>multipiattaforma utilizzando HTML, css</a:t>
            </a:r>
            <a:r>
              <a:rPr lang="it-IT" sz="1800" dirty="0">
                <a:solidFill>
                  <a:schemeClr val="bg1"/>
                </a:solidFill>
                <a:latin typeface="Consolas" pitchFamily="49" charset="0"/>
              </a:rPr>
              <a:t>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</a:rPr>
              <a:t>&amp; JS.</a:t>
            </a:r>
            <a:endParaRPr lang="it-IT" sz="1800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>
              <a:spcAft>
                <a:spcPts val="2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React Native nasce nel 2015.</a:t>
            </a:r>
          </a:p>
          <a:p>
            <a:pPr>
              <a:spcAft>
                <a:spcPts val="2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Sviluppata interamente da</a:t>
            </a:r>
          </a:p>
          <a:p>
            <a:pPr>
              <a:spcAft>
                <a:spcPts val="200"/>
              </a:spcAft>
            </a:pP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Consente di creare app m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</a:rPr>
              <a:t>ultipiattaforma </a:t>
            </a:r>
            <a:r>
              <a:rPr lang="it-IT" sz="1800" dirty="0">
                <a:solidFill>
                  <a:schemeClr val="bg1"/>
                </a:solidFill>
                <a:latin typeface="Consolas" pitchFamily="49" charset="0"/>
              </a:rPr>
              <a:t>utilizzando 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</a:rPr>
              <a:t>JS, HTML e </a:t>
            </a:r>
            <a:r>
              <a:rPr lang="it-IT" sz="1800" dirty="0" err="1" smtClean="0">
                <a:solidFill>
                  <a:schemeClr val="bg1"/>
                </a:solidFill>
                <a:latin typeface="Consolas" pitchFamily="49" charset="0"/>
              </a:rPr>
              <a:t>css</a:t>
            </a:r>
            <a:r>
              <a:rPr lang="it-IT" sz="1800" dirty="0" smtClean="0">
                <a:solidFill>
                  <a:schemeClr val="bg1"/>
                </a:solidFill>
                <a:latin typeface="Consolas" pitchFamily="49" charset="0"/>
              </a:rPr>
              <a:t>.</a:t>
            </a:r>
            <a:endParaRPr lang="it-IT" sz="1800" dirty="0">
              <a:solidFill>
                <a:schemeClr val="bg1"/>
              </a:solidFill>
              <a:latin typeface="Consolas" pitchFamily="49" charset="0"/>
            </a:endParaRPr>
          </a:p>
          <a:p>
            <a:pPr>
              <a:spcAft>
                <a:spcPts val="200"/>
              </a:spcAft>
            </a:pPr>
            <a:endParaRPr lang="it-IT" sz="1800" dirty="0" smtClean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>
              <a:spcAft>
                <a:spcPts val="200"/>
              </a:spcAft>
            </a:pPr>
            <a:endParaRPr lang="it-IT" sz="1800" dirty="0" smtClean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</p:txBody>
      </p:sp>
      <p:sp>
        <p:nvSpPr>
          <p:cNvPr id="5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8" name="Gruppo 17"/>
          <p:cNvGrpSpPr/>
          <p:nvPr/>
        </p:nvGrpSpPr>
        <p:grpSpPr>
          <a:xfrm>
            <a:off x="5231182" y="1863457"/>
            <a:ext cx="3942713" cy="1577349"/>
            <a:chOff x="5231182" y="1670639"/>
            <a:chExt cx="3942713" cy="1577349"/>
          </a:xfrm>
        </p:grpSpPr>
        <p:sp>
          <p:nvSpPr>
            <p:cNvPr id="14" name="Parallelogramma 4"/>
            <p:cNvSpPr/>
            <p:nvPr/>
          </p:nvSpPr>
          <p:spPr>
            <a:xfrm rot="10800000">
              <a:off x="5231182" y="1880368"/>
              <a:ext cx="3923930" cy="1157893"/>
            </a:xfrm>
            <a:custGeom>
              <a:avLst/>
              <a:gdLst>
                <a:gd name="connsiteX0" fmla="*/ 0 w 6588224"/>
                <a:gd name="connsiteY0" fmla="*/ 1296144 h 1296144"/>
                <a:gd name="connsiteX1" fmla="*/ 552637 w 6588224"/>
                <a:gd name="connsiteY1" fmla="*/ 0 h 1296144"/>
                <a:gd name="connsiteX2" fmla="*/ 6588224 w 6588224"/>
                <a:gd name="connsiteY2" fmla="*/ 0 h 1296144"/>
                <a:gd name="connsiteX3" fmla="*/ 6035587 w 6588224"/>
                <a:gd name="connsiteY3" fmla="*/ 1296144 h 1296144"/>
                <a:gd name="connsiteX4" fmla="*/ 0 w 6588224"/>
                <a:gd name="connsiteY4" fmla="*/ 1296144 h 1296144"/>
                <a:gd name="connsiteX0" fmla="*/ 0 w 6588224"/>
                <a:gd name="connsiteY0" fmla="*/ 1296144 h 1296144"/>
                <a:gd name="connsiteX1" fmla="*/ 13141 w 6588224"/>
                <a:gd name="connsiteY1" fmla="*/ 18288 h 1296144"/>
                <a:gd name="connsiteX2" fmla="*/ 6588224 w 6588224"/>
                <a:gd name="connsiteY2" fmla="*/ 0 h 1296144"/>
                <a:gd name="connsiteX3" fmla="*/ 6035587 w 6588224"/>
                <a:gd name="connsiteY3" fmla="*/ 1296144 h 1296144"/>
                <a:gd name="connsiteX4" fmla="*/ 0 w 6588224"/>
                <a:gd name="connsiteY4" fmla="*/ 1296144 h 1296144"/>
                <a:gd name="connsiteX0" fmla="*/ 0 w 6035587"/>
                <a:gd name="connsiteY0" fmla="*/ 1305288 h 1305288"/>
                <a:gd name="connsiteX1" fmla="*/ 13141 w 6035587"/>
                <a:gd name="connsiteY1" fmla="*/ 27432 h 1305288"/>
                <a:gd name="connsiteX2" fmla="*/ 5628104 w 6035587"/>
                <a:gd name="connsiteY2" fmla="*/ 0 h 1305288"/>
                <a:gd name="connsiteX3" fmla="*/ 6035587 w 6035587"/>
                <a:gd name="connsiteY3" fmla="*/ 1305288 h 1305288"/>
                <a:gd name="connsiteX4" fmla="*/ 0 w 6035587"/>
                <a:gd name="connsiteY4" fmla="*/ 1305288 h 1305288"/>
                <a:gd name="connsiteX0" fmla="*/ 0 w 6264187"/>
                <a:gd name="connsiteY0" fmla="*/ 1305288 h 1314432"/>
                <a:gd name="connsiteX1" fmla="*/ 13141 w 6264187"/>
                <a:gd name="connsiteY1" fmla="*/ 27432 h 1314432"/>
                <a:gd name="connsiteX2" fmla="*/ 5628104 w 6264187"/>
                <a:gd name="connsiteY2" fmla="*/ 0 h 1314432"/>
                <a:gd name="connsiteX3" fmla="*/ 6264187 w 6264187"/>
                <a:gd name="connsiteY3" fmla="*/ 1314432 h 1314432"/>
                <a:gd name="connsiteX4" fmla="*/ 0 w 6264187"/>
                <a:gd name="connsiteY4" fmla="*/ 1305288 h 1314432"/>
                <a:gd name="connsiteX0" fmla="*/ 0 w 7087147"/>
                <a:gd name="connsiteY0" fmla="*/ 1305288 h 1305288"/>
                <a:gd name="connsiteX1" fmla="*/ 13141 w 7087147"/>
                <a:gd name="connsiteY1" fmla="*/ 27432 h 1305288"/>
                <a:gd name="connsiteX2" fmla="*/ 5628104 w 7087147"/>
                <a:gd name="connsiteY2" fmla="*/ 0 h 1305288"/>
                <a:gd name="connsiteX3" fmla="*/ 7087147 w 7087147"/>
                <a:gd name="connsiteY3" fmla="*/ 1305288 h 1305288"/>
                <a:gd name="connsiteX4" fmla="*/ 0 w 7087147"/>
                <a:gd name="connsiteY4" fmla="*/ 1305288 h 1305288"/>
                <a:gd name="connsiteX0" fmla="*/ 0 w 7087147"/>
                <a:gd name="connsiteY0" fmla="*/ 1296144 h 1296144"/>
                <a:gd name="connsiteX1" fmla="*/ 13141 w 7087147"/>
                <a:gd name="connsiteY1" fmla="*/ 18288 h 1296144"/>
                <a:gd name="connsiteX2" fmla="*/ 5929856 w 7087147"/>
                <a:gd name="connsiteY2" fmla="*/ 0 h 1296144"/>
                <a:gd name="connsiteX3" fmla="*/ 7087147 w 7087147"/>
                <a:gd name="connsiteY3" fmla="*/ 1296144 h 1296144"/>
                <a:gd name="connsiteX4" fmla="*/ 0 w 7087147"/>
                <a:gd name="connsiteY4" fmla="*/ 1296144 h 1296144"/>
                <a:gd name="connsiteX0" fmla="*/ 0 w 7087147"/>
                <a:gd name="connsiteY0" fmla="*/ 1296144 h 1296144"/>
                <a:gd name="connsiteX1" fmla="*/ 13141 w 7087147"/>
                <a:gd name="connsiteY1" fmla="*/ 0 h 1296144"/>
                <a:gd name="connsiteX2" fmla="*/ 5929856 w 7087147"/>
                <a:gd name="connsiteY2" fmla="*/ 0 h 1296144"/>
                <a:gd name="connsiteX3" fmla="*/ 7087147 w 7087147"/>
                <a:gd name="connsiteY3" fmla="*/ 1296144 h 1296144"/>
                <a:gd name="connsiteX4" fmla="*/ 0 w 7087147"/>
                <a:gd name="connsiteY4" fmla="*/ 1296144 h 1296144"/>
                <a:gd name="connsiteX0" fmla="*/ 0 w 7087147"/>
                <a:gd name="connsiteY0" fmla="*/ 1314432 h 1314432"/>
                <a:gd name="connsiteX1" fmla="*/ 13141 w 7087147"/>
                <a:gd name="connsiteY1" fmla="*/ 18288 h 1314432"/>
                <a:gd name="connsiteX2" fmla="*/ 6304760 w 7087147"/>
                <a:gd name="connsiteY2" fmla="*/ 0 h 1314432"/>
                <a:gd name="connsiteX3" fmla="*/ 7087147 w 7087147"/>
                <a:gd name="connsiteY3" fmla="*/ 1314432 h 1314432"/>
                <a:gd name="connsiteX4" fmla="*/ 0 w 7087147"/>
                <a:gd name="connsiteY4" fmla="*/ 1314432 h 1314432"/>
                <a:gd name="connsiteX0" fmla="*/ 0 w 7297459"/>
                <a:gd name="connsiteY0" fmla="*/ 1314432 h 1314432"/>
                <a:gd name="connsiteX1" fmla="*/ 13141 w 7297459"/>
                <a:gd name="connsiteY1" fmla="*/ 18288 h 1314432"/>
                <a:gd name="connsiteX2" fmla="*/ 6304760 w 7297459"/>
                <a:gd name="connsiteY2" fmla="*/ 0 h 1314432"/>
                <a:gd name="connsiteX3" fmla="*/ 7297459 w 7297459"/>
                <a:gd name="connsiteY3" fmla="*/ 1314432 h 1314432"/>
                <a:gd name="connsiteX4" fmla="*/ 0 w 7297459"/>
                <a:gd name="connsiteY4" fmla="*/ 1314432 h 1314432"/>
                <a:gd name="connsiteX0" fmla="*/ 0 w 6304760"/>
                <a:gd name="connsiteY0" fmla="*/ 1314432 h 1314432"/>
                <a:gd name="connsiteX1" fmla="*/ 13141 w 6304760"/>
                <a:gd name="connsiteY1" fmla="*/ 18288 h 1314432"/>
                <a:gd name="connsiteX2" fmla="*/ 6304760 w 6304760"/>
                <a:gd name="connsiteY2" fmla="*/ 0 h 1314432"/>
                <a:gd name="connsiteX3" fmla="*/ 5578387 w 6304760"/>
                <a:gd name="connsiteY3" fmla="*/ 1314432 h 1314432"/>
                <a:gd name="connsiteX4" fmla="*/ 0 w 6304760"/>
                <a:gd name="connsiteY4" fmla="*/ 1314432 h 131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4760" h="1314432">
                  <a:moveTo>
                    <a:pt x="0" y="1314432"/>
                  </a:moveTo>
                  <a:lnTo>
                    <a:pt x="13141" y="18288"/>
                  </a:lnTo>
                  <a:lnTo>
                    <a:pt x="6304760" y="0"/>
                  </a:lnTo>
                  <a:lnTo>
                    <a:pt x="5578387" y="1314432"/>
                  </a:lnTo>
                  <a:lnTo>
                    <a:pt x="0" y="131443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7" name="Immagin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4107" y="1670639"/>
              <a:ext cx="3759788" cy="1577349"/>
            </a:xfrm>
            <a:prstGeom prst="rect">
              <a:avLst/>
            </a:prstGeom>
          </p:spPr>
        </p:pic>
      </p:grpSp>
      <p:grpSp>
        <p:nvGrpSpPr>
          <p:cNvPr id="19" name="Gruppo 18"/>
          <p:cNvGrpSpPr/>
          <p:nvPr/>
        </p:nvGrpSpPr>
        <p:grpSpPr>
          <a:xfrm>
            <a:off x="5226975" y="3730891"/>
            <a:ext cx="3923930" cy="1291789"/>
            <a:chOff x="5231182" y="3433987"/>
            <a:chExt cx="3923930" cy="1291789"/>
          </a:xfrm>
        </p:grpSpPr>
        <p:sp>
          <p:nvSpPr>
            <p:cNvPr id="15" name="Parallelogramma 4"/>
            <p:cNvSpPr/>
            <p:nvPr/>
          </p:nvSpPr>
          <p:spPr>
            <a:xfrm rot="10800000">
              <a:off x="5231182" y="3493207"/>
              <a:ext cx="3923930" cy="1166167"/>
            </a:xfrm>
            <a:custGeom>
              <a:avLst/>
              <a:gdLst>
                <a:gd name="connsiteX0" fmla="*/ 0 w 6588224"/>
                <a:gd name="connsiteY0" fmla="*/ 1296144 h 1296144"/>
                <a:gd name="connsiteX1" fmla="*/ 552637 w 6588224"/>
                <a:gd name="connsiteY1" fmla="*/ 0 h 1296144"/>
                <a:gd name="connsiteX2" fmla="*/ 6588224 w 6588224"/>
                <a:gd name="connsiteY2" fmla="*/ 0 h 1296144"/>
                <a:gd name="connsiteX3" fmla="*/ 6035587 w 6588224"/>
                <a:gd name="connsiteY3" fmla="*/ 1296144 h 1296144"/>
                <a:gd name="connsiteX4" fmla="*/ 0 w 6588224"/>
                <a:gd name="connsiteY4" fmla="*/ 1296144 h 1296144"/>
                <a:gd name="connsiteX0" fmla="*/ 0 w 6588224"/>
                <a:gd name="connsiteY0" fmla="*/ 1296144 h 1296144"/>
                <a:gd name="connsiteX1" fmla="*/ 13141 w 6588224"/>
                <a:gd name="connsiteY1" fmla="*/ 18288 h 1296144"/>
                <a:gd name="connsiteX2" fmla="*/ 6588224 w 6588224"/>
                <a:gd name="connsiteY2" fmla="*/ 0 h 1296144"/>
                <a:gd name="connsiteX3" fmla="*/ 6035587 w 6588224"/>
                <a:gd name="connsiteY3" fmla="*/ 1296144 h 1296144"/>
                <a:gd name="connsiteX4" fmla="*/ 0 w 6588224"/>
                <a:gd name="connsiteY4" fmla="*/ 1296144 h 1296144"/>
                <a:gd name="connsiteX0" fmla="*/ 0 w 6035587"/>
                <a:gd name="connsiteY0" fmla="*/ 1305288 h 1305288"/>
                <a:gd name="connsiteX1" fmla="*/ 13141 w 6035587"/>
                <a:gd name="connsiteY1" fmla="*/ 27432 h 1305288"/>
                <a:gd name="connsiteX2" fmla="*/ 5628104 w 6035587"/>
                <a:gd name="connsiteY2" fmla="*/ 0 h 1305288"/>
                <a:gd name="connsiteX3" fmla="*/ 6035587 w 6035587"/>
                <a:gd name="connsiteY3" fmla="*/ 1305288 h 1305288"/>
                <a:gd name="connsiteX4" fmla="*/ 0 w 6035587"/>
                <a:gd name="connsiteY4" fmla="*/ 1305288 h 1305288"/>
                <a:gd name="connsiteX0" fmla="*/ 0 w 6264187"/>
                <a:gd name="connsiteY0" fmla="*/ 1305288 h 1314432"/>
                <a:gd name="connsiteX1" fmla="*/ 13141 w 6264187"/>
                <a:gd name="connsiteY1" fmla="*/ 27432 h 1314432"/>
                <a:gd name="connsiteX2" fmla="*/ 5628104 w 6264187"/>
                <a:gd name="connsiteY2" fmla="*/ 0 h 1314432"/>
                <a:gd name="connsiteX3" fmla="*/ 6264187 w 6264187"/>
                <a:gd name="connsiteY3" fmla="*/ 1314432 h 1314432"/>
                <a:gd name="connsiteX4" fmla="*/ 0 w 6264187"/>
                <a:gd name="connsiteY4" fmla="*/ 1305288 h 1314432"/>
                <a:gd name="connsiteX0" fmla="*/ 0 w 7087147"/>
                <a:gd name="connsiteY0" fmla="*/ 1305288 h 1305288"/>
                <a:gd name="connsiteX1" fmla="*/ 13141 w 7087147"/>
                <a:gd name="connsiteY1" fmla="*/ 27432 h 1305288"/>
                <a:gd name="connsiteX2" fmla="*/ 5628104 w 7087147"/>
                <a:gd name="connsiteY2" fmla="*/ 0 h 1305288"/>
                <a:gd name="connsiteX3" fmla="*/ 7087147 w 7087147"/>
                <a:gd name="connsiteY3" fmla="*/ 1305288 h 1305288"/>
                <a:gd name="connsiteX4" fmla="*/ 0 w 7087147"/>
                <a:gd name="connsiteY4" fmla="*/ 1305288 h 1305288"/>
                <a:gd name="connsiteX0" fmla="*/ 0 w 7087147"/>
                <a:gd name="connsiteY0" fmla="*/ 1296144 h 1296144"/>
                <a:gd name="connsiteX1" fmla="*/ 13141 w 7087147"/>
                <a:gd name="connsiteY1" fmla="*/ 18288 h 1296144"/>
                <a:gd name="connsiteX2" fmla="*/ 5929856 w 7087147"/>
                <a:gd name="connsiteY2" fmla="*/ 0 h 1296144"/>
                <a:gd name="connsiteX3" fmla="*/ 7087147 w 7087147"/>
                <a:gd name="connsiteY3" fmla="*/ 1296144 h 1296144"/>
                <a:gd name="connsiteX4" fmla="*/ 0 w 7087147"/>
                <a:gd name="connsiteY4" fmla="*/ 1296144 h 1296144"/>
                <a:gd name="connsiteX0" fmla="*/ 0 w 7087147"/>
                <a:gd name="connsiteY0" fmla="*/ 1296144 h 1296144"/>
                <a:gd name="connsiteX1" fmla="*/ 13141 w 7087147"/>
                <a:gd name="connsiteY1" fmla="*/ 0 h 1296144"/>
                <a:gd name="connsiteX2" fmla="*/ 5929856 w 7087147"/>
                <a:gd name="connsiteY2" fmla="*/ 0 h 1296144"/>
                <a:gd name="connsiteX3" fmla="*/ 7087147 w 7087147"/>
                <a:gd name="connsiteY3" fmla="*/ 1296144 h 1296144"/>
                <a:gd name="connsiteX4" fmla="*/ 0 w 7087147"/>
                <a:gd name="connsiteY4" fmla="*/ 1296144 h 1296144"/>
                <a:gd name="connsiteX0" fmla="*/ 0 w 7087147"/>
                <a:gd name="connsiteY0" fmla="*/ 1314432 h 1314432"/>
                <a:gd name="connsiteX1" fmla="*/ 13141 w 7087147"/>
                <a:gd name="connsiteY1" fmla="*/ 18288 h 1314432"/>
                <a:gd name="connsiteX2" fmla="*/ 6304760 w 7087147"/>
                <a:gd name="connsiteY2" fmla="*/ 0 h 1314432"/>
                <a:gd name="connsiteX3" fmla="*/ 7087147 w 7087147"/>
                <a:gd name="connsiteY3" fmla="*/ 1314432 h 1314432"/>
                <a:gd name="connsiteX4" fmla="*/ 0 w 7087147"/>
                <a:gd name="connsiteY4" fmla="*/ 1314432 h 1314432"/>
                <a:gd name="connsiteX0" fmla="*/ 0 w 7297459"/>
                <a:gd name="connsiteY0" fmla="*/ 1314432 h 1314432"/>
                <a:gd name="connsiteX1" fmla="*/ 13141 w 7297459"/>
                <a:gd name="connsiteY1" fmla="*/ 18288 h 1314432"/>
                <a:gd name="connsiteX2" fmla="*/ 6304760 w 7297459"/>
                <a:gd name="connsiteY2" fmla="*/ 0 h 1314432"/>
                <a:gd name="connsiteX3" fmla="*/ 7297459 w 7297459"/>
                <a:gd name="connsiteY3" fmla="*/ 1314432 h 1314432"/>
                <a:gd name="connsiteX4" fmla="*/ 0 w 7297459"/>
                <a:gd name="connsiteY4" fmla="*/ 1314432 h 1314432"/>
                <a:gd name="connsiteX0" fmla="*/ 0 w 6304760"/>
                <a:gd name="connsiteY0" fmla="*/ 1314432 h 1314432"/>
                <a:gd name="connsiteX1" fmla="*/ 13141 w 6304760"/>
                <a:gd name="connsiteY1" fmla="*/ 18288 h 1314432"/>
                <a:gd name="connsiteX2" fmla="*/ 6304760 w 6304760"/>
                <a:gd name="connsiteY2" fmla="*/ 0 h 1314432"/>
                <a:gd name="connsiteX3" fmla="*/ 5578387 w 6304760"/>
                <a:gd name="connsiteY3" fmla="*/ 1314432 h 1314432"/>
                <a:gd name="connsiteX4" fmla="*/ 0 w 6304760"/>
                <a:gd name="connsiteY4" fmla="*/ 1314432 h 1314432"/>
                <a:gd name="connsiteX0" fmla="*/ 0 w 6304760"/>
                <a:gd name="connsiteY0" fmla="*/ 1323825 h 1323825"/>
                <a:gd name="connsiteX1" fmla="*/ 13142 w 6304760"/>
                <a:gd name="connsiteY1" fmla="*/ 0 h 1323825"/>
                <a:gd name="connsiteX2" fmla="*/ 6304760 w 6304760"/>
                <a:gd name="connsiteY2" fmla="*/ 9393 h 1323825"/>
                <a:gd name="connsiteX3" fmla="*/ 5578387 w 6304760"/>
                <a:gd name="connsiteY3" fmla="*/ 1323825 h 1323825"/>
                <a:gd name="connsiteX4" fmla="*/ 0 w 6304760"/>
                <a:gd name="connsiteY4" fmla="*/ 1323825 h 1323825"/>
                <a:gd name="connsiteX0" fmla="*/ 0 w 6304760"/>
                <a:gd name="connsiteY0" fmla="*/ 1323825 h 1323825"/>
                <a:gd name="connsiteX1" fmla="*/ 13142 w 6304760"/>
                <a:gd name="connsiteY1" fmla="*/ 0 h 1323825"/>
                <a:gd name="connsiteX2" fmla="*/ 6304760 w 6304760"/>
                <a:gd name="connsiteY2" fmla="*/ 2472 h 1323825"/>
                <a:gd name="connsiteX3" fmla="*/ 5578387 w 6304760"/>
                <a:gd name="connsiteY3" fmla="*/ 1323825 h 1323825"/>
                <a:gd name="connsiteX4" fmla="*/ 0 w 6304760"/>
                <a:gd name="connsiteY4" fmla="*/ 1323825 h 13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4760" h="1323825">
                  <a:moveTo>
                    <a:pt x="0" y="1323825"/>
                  </a:moveTo>
                  <a:lnTo>
                    <a:pt x="13142" y="0"/>
                  </a:lnTo>
                  <a:lnTo>
                    <a:pt x="6304760" y="2472"/>
                  </a:lnTo>
                  <a:lnTo>
                    <a:pt x="5578387" y="1323825"/>
                  </a:lnTo>
                  <a:lnTo>
                    <a:pt x="0" y="1323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9" name="Immagine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0325" y="3433987"/>
              <a:ext cx="2893606" cy="1291789"/>
            </a:xfrm>
            <a:prstGeom prst="rect">
              <a:avLst/>
            </a:prstGeom>
          </p:spPr>
        </p:pic>
      </p:grpSp>
      <p:pic>
        <p:nvPicPr>
          <p:cNvPr id="4" name="Immagin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802" y="2093574"/>
            <a:ext cx="1107189" cy="408535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006" y="5409575"/>
            <a:ext cx="899592" cy="276340"/>
          </a:xfrm>
          <a:prstGeom prst="rect">
            <a:avLst/>
          </a:prstGeom>
        </p:spPr>
      </p:pic>
      <p:pic>
        <p:nvPicPr>
          <p:cNvPr id="11" name="Immagin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481" y="3674123"/>
            <a:ext cx="889360" cy="231975"/>
          </a:xfrm>
          <a:prstGeom prst="rect">
            <a:avLst/>
          </a:prstGeom>
        </p:spPr>
      </p:pic>
      <p:sp>
        <p:nvSpPr>
          <p:cNvPr id="12" name="Parallelogramma 4"/>
          <p:cNvSpPr/>
          <p:nvPr/>
        </p:nvSpPr>
        <p:spPr>
          <a:xfrm>
            <a:off x="-316" y="3212976"/>
            <a:ext cx="9155114" cy="18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Parallelogramma 4"/>
          <p:cNvSpPr/>
          <p:nvPr/>
        </p:nvSpPr>
        <p:spPr>
          <a:xfrm>
            <a:off x="-11114" y="4950168"/>
            <a:ext cx="9155114" cy="18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0" name="Gruppo 19"/>
          <p:cNvGrpSpPr/>
          <p:nvPr/>
        </p:nvGrpSpPr>
        <p:grpSpPr>
          <a:xfrm>
            <a:off x="5226975" y="5522860"/>
            <a:ext cx="3923930" cy="1191198"/>
            <a:chOff x="5220070" y="5526651"/>
            <a:chExt cx="3923930" cy="1191198"/>
          </a:xfrm>
        </p:grpSpPr>
        <p:sp>
          <p:nvSpPr>
            <p:cNvPr id="16" name="Parallelogramma 4"/>
            <p:cNvSpPr/>
            <p:nvPr/>
          </p:nvSpPr>
          <p:spPr>
            <a:xfrm rot="10800000">
              <a:off x="5220070" y="5526651"/>
              <a:ext cx="3923930" cy="1157893"/>
            </a:xfrm>
            <a:custGeom>
              <a:avLst/>
              <a:gdLst>
                <a:gd name="connsiteX0" fmla="*/ 0 w 6588224"/>
                <a:gd name="connsiteY0" fmla="*/ 1296144 h 1296144"/>
                <a:gd name="connsiteX1" fmla="*/ 552637 w 6588224"/>
                <a:gd name="connsiteY1" fmla="*/ 0 h 1296144"/>
                <a:gd name="connsiteX2" fmla="*/ 6588224 w 6588224"/>
                <a:gd name="connsiteY2" fmla="*/ 0 h 1296144"/>
                <a:gd name="connsiteX3" fmla="*/ 6035587 w 6588224"/>
                <a:gd name="connsiteY3" fmla="*/ 1296144 h 1296144"/>
                <a:gd name="connsiteX4" fmla="*/ 0 w 6588224"/>
                <a:gd name="connsiteY4" fmla="*/ 1296144 h 1296144"/>
                <a:gd name="connsiteX0" fmla="*/ 0 w 6588224"/>
                <a:gd name="connsiteY0" fmla="*/ 1296144 h 1296144"/>
                <a:gd name="connsiteX1" fmla="*/ 13141 w 6588224"/>
                <a:gd name="connsiteY1" fmla="*/ 18288 h 1296144"/>
                <a:gd name="connsiteX2" fmla="*/ 6588224 w 6588224"/>
                <a:gd name="connsiteY2" fmla="*/ 0 h 1296144"/>
                <a:gd name="connsiteX3" fmla="*/ 6035587 w 6588224"/>
                <a:gd name="connsiteY3" fmla="*/ 1296144 h 1296144"/>
                <a:gd name="connsiteX4" fmla="*/ 0 w 6588224"/>
                <a:gd name="connsiteY4" fmla="*/ 1296144 h 1296144"/>
                <a:gd name="connsiteX0" fmla="*/ 0 w 6035587"/>
                <a:gd name="connsiteY0" fmla="*/ 1305288 h 1305288"/>
                <a:gd name="connsiteX1" fmla="*/ 13141 w 6035587"/>
                <a:gd name="connsiteY1" fmla="*/ 27432 h 1305288"/>
                <a:gd name="connsiteX2" fmla="*/ 5628104 w 6035587"/>
                <a:gd name="connsiteY2" fmla="*/ 0 h 1305288"/>
                <a:gd name="connsiteX3" fmla="*/ 6035587 w 6035587"/>
                <a:gd name="connsiteY3" fmla="*/ 1305288 h 1305288"/>
                <a:gd name="connsiteX4" fmla="*/ 0 w 6035587"/>
                <a:gd name="connsiteY4" fmla="*/ 1305288 h 1305288"/>
                <a:gd name="connsiteX0" fmla="*/ 0 w 6264187"/>
                <a:gd name="connsiteY0" fmla="*/ 1305288 h 1314432"/>
                <a:gd name="connsiteX1" fmla="*/ 13141 w 6264187"/>
                <a:gd name="connsiteY1" fmla="*/ 27432 h 1314432"/>
                <a:gd name="connsiteX2" fmla="*/ 5628104 w 6264187"/>
                <a:gd name="connsiteY2" fmla="*/ 0 h 1314432"/>
                <a:gd name="connsiteX3" fmla="*/ 6264187 w 6264187"/>
                <a:gd name="connsiteY3" fmla="*/ 1314432 h 1314432"/>
                <a:gd name="connsiteX4" fmla="*/ 0 w 6264187"/>
                <a:gd name="connsiteY4" fmla="*/ 1305288 h 1314432"/>
                <a:gd name="connsiteX0" fmla="*/ 0 w 7087147"/>
                <a:gd name="connsiteY0" fmla="*/ 1305288 h 1305288"/>
                <a:gd name="connsiteX1" fmla="*/ 13141 w 7087147"/>
                <a:gd name="connsiteY1" fmla="*/ 27432 h 1305288"/>
                <a:gd name="connsiteX2" fmla="*/ 5628104 w 7087147"/>
                <a:gd name="connsiteY2" fmla="*/ 0 h 1305288"/>
                <a:gd name="connsiteX3" fmla="*/ 7087147 w 7087147"/>
                <a:gd name="connsiteY3" fmla="*/ 1305288 h 1305288"/>
                <a:gd name="connsiteX4" fmla="*/ 0 w 7087147"/>
                <a:gd name="connsiteY4" fmla="*/ 1305288 h 1305288"/>
                <a:gd name="connsiteX0" fmla="*/ 0 w 7087147"/>
                <a:gd name="connsiteY0" fmla="*/ 1296144 h 1296144"/>
                <a:gd name="connsiteX1" fmla="*/ 13141 w 7087147"/>
                <a:gd name="connsiteY1" fmla="*/ 18288 h 1296144"/>
                <a:gd name="connsiteX2" fmla="*/ 5929856 w 7087147"/>
                <a:gd name="connsiteY2" fmla="*/ 0 h 1296144"/>
                <a:gd name="connsiteX3" fmla="*/ 7087147 w 7087147"/>
                <a:gd name="connsiteY3" fmla="*/ 1296144 h 1296144"/>
                <a:gd name="connsiteX4" fmla="*/ 0 w 7087147"/>
                <a:gd name="connsiteY4" fmla="*/ 1296144 h 1296144"/>
                <a:gd name="connsiteX0" fmla="*/ 0 w 7087147"/>
                <a:gd name="connsiteY0" fmla="*/ 1296144 h 1296144"/>
                <a:gd name="connsiteX1" fmla="*/ 13141 w 7087147"/>
                <a:gd name="connsiteY1" fmla="*/ 0 h 1296144"/>
                <a:gd name="connsiteX2" fmla="*/ 5929856 w 7087147"/>
                <a:gd name="connsiteY2" fmla="*/ 0 h 1296144"/>
                <a:gd name="connsiteX3" fmla="*/ 7087147 w 7087147"/>
                <a:gd name="connsiteY3" fmla="*/ 1296144 h 1296144"/>
                <a:gd name="connsiteX4" fmla="*/ 0 w 7087147"/>
                <a:gd name="connsiteY4" fmla="*/ 1296144 h 1296144"/>
                <a:gd name="connsiteX0" fmla="*/ 0 w 7087147"/>
                <a:gd name="connsiteY0" fmla="*/ 1314432 h 1314432"/>
                <a:gd name="connsiteX1" fmla="*/ 13141 w 7087147"/>
                <a:gd name="connsiteY1" fmla="*/ 18288 h 1314432"/>
                <a:gd name="connsiteX2" fmla="*/ 6304760 w 7087147"/>
                <a:gd name="connsiteY2" fmla="*/ 0 h 1314432"/>
                <a:gd name="connsiteX3" fmla="*/ 7087147 w 7087147"/>
                <a:gd name="connsiteY3" fmla="*/ 1314432 h 1314432"/>
                <a:gd name="connsiteX4" fmla="*/ 0 w 7087147"/>
                <a:gd name="connsiteY4" fmla="*/ 1314432 h 1314432"/>
                <a:gd name="connsiteX0" fmla="*/ 0 w 7297459"/>
                <a:gd name="connsiteY0" fmla="*/ 1314432 h 1314432"/>
                <a:gd name="connsiteX1" fmla="*/ 13141 w 7297459"/>
                <a:gd name="connsiteY1" fmla="*/ 18288 h 1314432"/>
                <a:gd name="connsiteX2" fmla="*/ 6304760 w 7297459"/>
                <a:gd name="connsiteY2" fmla="*/ 0 h 1314432"/>
                <a:gd name="connsiteX3" fmla="*/ 7297459 w 7297459"/>
                <a:gd name="connsiteY3" fmla="*/ 1314432 h 1314432"/>
                <a:gd name="connsiteX4" fmla="*/ 0 w 7297459"/>
                <a:gd name="connsiteY4" fmla="*/ 1314432 h 1314432"/>
                <a:gd name="connsiteX0" fmla="*/ 0 w 6304760"/>
                <a:gd name="connsiteY0" fmla="*/ 1314432 h 1314432"/>
                <a:gd name="connsiteX1" fmla="*/ 13141 w 6304760"/>
                <a:gd name="connsiteY1" fmla="*/ 18288 h 1314432"/>
                <a:gd name="connsiteX2" fmla="*/ 6304760 w 6304760"/>
                <a:gd name="connsiteY2" fmla="*/ 0 h 1314432"/>
                <a:gd name="connsiteX3" fmla="*/ 5578387 w 6304760"/>
                <a:gd name="connsiteY3" fmla="*/ 1314432 h 1314432"/>
                <a:gd name="connsiteX4" fmla="*/ 0 w 6304760"/>
                <a:gd name="connsiteY4" fmla="*/ 1314432 h 131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04760" h="1314432">
                  <a:moveTo>
                    <a:pt x="0" y="1314432"/>
                  </a:moveTo>
                  <a:lnTo>
                    <a:pt x="13141" y="18288"/>
                  </a:lnTo>
                  <a:lnTo>
                    <a:pt x="6304760" y="0"/>
                  </a:lnTo>
                  <a:lnTo>
                    <a:pt x="5578387" y="1314432"/>
                  </a:lnTo>
                  <a:lnTo>
                    <a:pt x="0" y="131443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0" name="Immagine 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0697" y="5527237"/>
              <a:ext cx="3452776" cy="1190612"/>
            </a:xfrm>
            <a:prstGeom prst="rect">
              <a:avLst/>
            </a:prstGeom>
          </p:spPr>
        </p:pic>
      </p:grpSp>
      <p:sp>
        <p:nvSpPr>
          <p:cNvPr id="17" name="Parallelogramma 4"/>
          <p:cNvSpPr/>
          <p:nvPr/>
        </p:nvSpPr>
        <p:spPr>
          <a:xfrm>
            <a:off x="-11114" y="6658833"/>
            <a:ext cx="9155114" cy="18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069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2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7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2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7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0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700"/>
                            </p:stCondLst>
                            <p:childTnLst>
                              <p:par>
                                <p:cTn id="7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200"/>
                            </p:stCondLst>
                            <p:childTnLst>
                              <p:par>
                                <p:cTn id="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700"/>
                            </p:stCondLst>
                            <p:childTnLst>
                              <p:par>
                                <p:cTn id="8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200"/>
                            </p:stCondLst>
                            <p:childTnLst>
                              <p:par>
                                <p:cTn id="9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700"/>
                            </p:stCondLst>
                            <p:childTnLst>
                              <p:par>
                                <p:cTn id="10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200"/>
                            </p:stCondLst>
                            <p:childTnLst>
                              <p:par>
                                <p:cTn id="10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12" grpId="0" animBg="1"/>
      <p:bldP spid="13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C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/>
          <p:cNvSpPr txBox="1"/>
          <p:nvPr/>
        </p:nvSpPr>
        <p:spPr>
          <a:xfrm>
            <a:off x="251520" y="1772816"/>
            <a:ext cx="5832648" cy="4529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Con il tempo si prospetta una crescita della community e un evoluzione di Flutter che lo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renderà sempre 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più versatile e universale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Attualmente ha preso una buona fascia di sviluppatori mobile nonostante sia entrato nella scena da poco tempo.</a:t>
            </a:r>
          </a:p>
          <a:p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 Alcuni punti di forza: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Interfaccia del Sistema 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operativo in fase di sviluppo chiamato Fuchsia    di Google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Buona documentazione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</a:rPr>
              <a:t>Performance 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</a:rPr>
              <a:t>incredibili</a:t>
            </a:r>
            <a:endParaRPr lang="it-IT" dirty="0" smtClean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  Alcuni esempi di app sviluppate in 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F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lutter</a:t>
            </a: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: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it-IT" dirty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e</a:t>
            </a: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bay </a:t>
            </a:r>
            <a:endParaRPr lang="it-IT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BMW</a:t>
            </a:r>
            <a:endParaRPr lang="it-IT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it-IT" dirty="0" smtClean="0">
                <a:solidFill>
                  <a:schemeClr val="bg1"/>
                </a:solidFill>
                <a:latin typeface="Consolas" pitchFamily="49" charset="0"/>
                <a:ea typeface="+mj-ea"/>
                <a:cs typeface="+mj-cs"/>
              </a:rPr>
              <a:t>Alibaba </a:t>
            </a:r>
            <a:endParaRPr lang="it-IT" dirty="0">
              <a:solidFill>
                <a:schemeClr val="bg1"/>
              </a:solidFill>
              <a:latin typeface="Consolas" pitchFamily="49" charset="0"/>
              <a:ea typeface="+mj-ea"/>
              <a:cs typeface="+mj-cs"/>
            </a:endParaRPr>
          </a:p>
        </p:txBody>
      </p:sp>
      <p:pic>
        <p:nvPicPr>
          <p:cNvPr id="9" name="Segnaposto contenuto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010345"/>
            <a:ext cx="3227519" cy="4003089"/>
          </a:xfrm>
          <a:effectLst>
            <a:reflection blurRad="6350" stA="50000" endA="300" endPos="55000" dir="5400000" sy="-100000" algn="bl" rotWithShape="0"/>
          </a:effectLst>
          <a:scene3d>
            <a:camera prst="perspectiveContrastingLeftFacing"/>
            <a:lightRig rig="threePt" dir="t"/>
          </a:scene3d>
        </p:spPr>
      </p:pic>
      <p:sp>
        <p:nvSpPr>
          <p:cNvPr id="6" name="Parallelogramma 4"/>
          <p:cNvSpPr/>
          <p:nvPr/>
        </p:nvSpPr>
        <p:spPr>
          <a:xfrm>
            <a:off x="-25154" y="188640"/>
            <a:ext cx="6865406" cy="1296000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4760" h="1314432">
                <a:moveTo>
                  <a:pt x="0" y="1314432"/>
                </a:moveTo>
                <a:lnTo>
                  <a:pt x="13141" y="18288"/>
                </a:lnTo>
                <a:lnTo>
                  <a:pt x="6304760" y="0"/>
                </a:lnTo>
                <a:lnTo>
                  <a:pt x="5578387" y="1314432"/>
                </a:ln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-41296" y="188640"/>
            <a:ext cx="6511588" cy="1143000"/>
          </a:xfrm>
        </p:spPr>
        <p:txBody>
          <a:bodyPr>
            <a:normAutofit/>
          </a:bodyPr>
          <a:lstStyle/>
          <a:p>
            <a:pPr marL="360000" algn="l"/>
            <a:r>
              <a:rPr lang="it-IT" sz="6000" dirty="0" smtClean="0">
                <a:solidFill>
                  <a:schemeClr val="bg1"/>
                </a:solidFill>
                <a:latin typeface="Consolas" pitchFamily="49" charset="0"/>
              </a:rPr>
              <a:t>Conclusioni</a:t>
            </a:r>
            <a:endParaRPr lang="it-IT" sz="6000" dirty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5" name="Parallelogramma 4"/>
          <p:cNvSpPr/>
          <p:nvPr/>
        </p:nvSpPr>
        <p:spPr>
          <a:xfrm>
            <a:off x="-2" y="6669360"/>
            <a:ext cx="9155114" cy="216024"/>
          </a:xfrm>
          <a:custGeom>
            <a:avLst/>
            <a:gdLst>
              <a:gd name="connsiteX0" fmla="*/ 0 w 6588224"/>
              <a:gd name="connsiteY0" fmla="*/ 1296144 h 1296144"/>
              <a:gd name="connsiteX1" fmla="*/ 552637 w 6588224"/>
              <a:gd name="connsiteY1" fmla="*/ 0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588224"/>
              <a:gd name="connsiteY0" fmla="*/ 1296144 h 1296144"/>
              <a:gd name="connsiteX1" fmla="*/ 13141 w 6588224"/>
              <a:gd name="connsiteY1" fmla="*/ 18288 h 1296144"/>
              <a:gd name="connsiteX2" fmla="*/ 6588224 w 6588224"/>
              <a:gd name="connsiteY2" fmla="*/ 0 h 1296144"/>
              <a:gd name="connsiteX3" fmla="*/ 6035587 w 6588224"/>
              <a:gd name="connsiteY3" fmla="*/ 1296144 h 1296144"/>
              <a:gd name="connsiteX4" fmla="*/ 0 w 6588224"/>
              <a:gd name="connsiteY4" fmla="*/ 1296144 h 1296144"/>
              <a:gd name="connsiteX0" fmla="*/ 0 w 6035587"/>
              <a:gd name="connsiteY0" fmla="*/ 1305288 h 1305288"/>
              <a:gd name="connsiteX1" fmla="*/ 13141 w 6035587"/>
              <a:gd name="connsiteY1" fmla="*/ 27432 h 1305288"/>
              <a:gd name="connsiteX2" fmla="*/ 5628104 w 6035587"/>
              <a:gd name="connsiteY2" fmla="*/ 0 h 1305288"/>
              <a:gd name="connsiteX3" fmla="*/ 6035587 w 6035587"/>
              <a:gd name="connsiteY3" fmla="*/ 1305288 h 1305288"/>
              <a:gd name="connsiteX4" fmla="*/ 0 w 6035587"/>
              <a:gd name="connsiteY4" fmla="*/ 1305288 h 1305288"/>
              <a:gd name="connsiteX0" fmla="*/ 0 w 6264187"/>
              <a:gd name="connsiteY0" fmla="*/ 1305288 h 1314432"/>
              <a:gd name="connsiteX1" fmla="*/ 13141 w 6264187"/>
              <a:gd name="connsiteY1" fmla="*/ 27432 h 1314432"/>
              <a:gd name="connsiteX2" fmla="*/ 5628104 w 6264187"/>
              <a:gd name="connsiteY2" fmla="*/ 0 h 1314432"/>
              <a:gd name="connsiteX3" fmla="*/ 6264187 w 6264187"/>
              <a:gd name="connsiteY3" fmla="*/ 1314432 h 1314432"/>
              <a:gd name="connsiteX4" fmla="*/ 0 w 6264187"/>
              <a:gd name="connsiteY4" fmla="*/ 1305288 h 1314432"/>
              <a:gd name="connsiteX0" fmla="*/ 0 w 7087147"/>
              <a:gd name="connsiteY0" fmla="*/ 1305288 h 1305288"/>
              <a:gd name="connsiteX1" fmla="*/ 13141 w 7087147"/>
              <a:gd name="connsiteY1" fmla="*/ 27432 h 1305288"/>
              <a:gd name="connsiteX2" fmla="*/ 5628104 w 7087147"/>
              <a:gd name="connsiteY2" fmla="*/ 0 h 1305288"/>
              <a:gd name="connsiteX3" fmla="*/ 7087147 w 7087147"/>
              <a:gd name="connsiteY3" fmla="*/ 1305288 h 1305288"/>
              <a:gd name="connsiteX4" fmla="*/ 0 w 7087147"/>
              <a:gd name="connsiteY4" fmla="*/ 1305288 h 1305288"/>
              <a:gd name="connsiteX0" fmla="*/ 0 w 7087147"/>
              <a:gd name="connsiteY0" fmla="*/ 1296144 h 1296144"/>
              <a:gd name="connsiteX1" fmla="*/ 13141 w 7087147"/>
              <a:gd name="connsiteY1" fmla="*/ 18288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296144 h 1296144"/>
              <a:gd name="connsiteX1" fmla="*/ 13141 w 7087147"/>
              <a:gd name="connsiteY1" fmla="*/ 0 h 1296144"/>
              <a:gd name="connsiteX2" fmla="*/ 5929856 w 7087147"/>
              <a:gd name="connsiteY2" fmla="*/ 0 h 1296144"/>
              <a:gd name="connsiteX3" fmla="*/ 7087147 w 7087147"/>
              <a:gd name="connsiteY3" fmla="*/ 1296144 h 1296144"/>
              <a:gd name="connsiteX4" fmla="*/ 0 w 7087147"/>
              <a:gd name="connsiteY4" fmla="*/ 1296144 h 1296144"/>
              <a:gd name="connsiteX0" fmla="*/ 0 w 7087147"/>
              <a:gd name="connsiteY0" fmla="*/ 1314432 h 1314432"/>
              <a:gd name="connsiteX1" fmla="*/ 13141 w 7087147"/>
              <a:gd name="connsiteY1" fmla="*/ 18288 h 1314432"/>
              <a:gd name="connsiteX2" fmla="*/ 6304760 w 7087147"/>
              <a:gd name="connsiteY2" fmla="*/ 0 h 1314432"/>
              <a:gd name="connsiteX3" fmla="*/ 7087147 w 7087147"/>
              <a:gd name="connsiteY3" fmla="*/ 1314432 h 1314432"/>
              <a:gd name="connsiteX4" fmla="*/ 0 w 7087147"/>
              <a:gd name="connsiteY4" fmla="*/ 1314432 h 1314432"/>
              <a:gd name="connsiteX0" fmla="*/ 0 w 7297459"/>
              <a:gd name="connsiteY0" fmla="*/ 1314432 h 1314432"/>
              <a:gd name="connsiteX1" fmla="*/ 13141 w 7297459"/>
              <a:gd name="connsiteY1" fmla="*/ 18288 h 1314432"/>
              <a:gd name="connsiteX2" fmla="*/ 6304760 w 7297459"/>
              <a:gd name="connsiteY2" fmla="*/ 0 h 1314432"/>
              <a:gd name="connsiteX3" fmla="*/ 7297459 w 7297459"/>
              <a:gd name="connsiteY3" fmla="*/ 1314432 h 1314432"/>
              <a:gd name="connsiteX4" fmla="*/ 0 w 7297459"/>
              <a:gd name="connsiteY4" fmla="*/ 1314432 h 1314432"/>
              <a:gd name="connsiteX0" fmla="*/ 0 w 6304760"/>
              <a:gd name="connsiteY0" fmla="*/ 1314432 h 1314432"/>
              <a:gd name="connsiteX1" fmla="*/ 13141 w 6304760"/>
              <a:gd name="connsiteY1" fmla="*/ 18288 h 1314432"/>
              <a:gd name="connsiteX2" fmla="*/ 6304760 w 6304760"/>
              <a:gd name="connsiteY2" fmla="*/ 0 h 1314432"/>
              <a:gd name="connsiteX3" fmla="*/ 5578387 w 6304760"/>
              <a:gd name="connsiteY3" fmla="*/ 1314432 h 1314432"/>
              <a:gd name="connsiteX4" fmla="*/ 0 w 6304760"/>
              <a:gd name="connsiteY4" fmla="*/ 1314432 h 1314432"/>
              <a:gd name="connsiteX0" fmla="*/ 0 w 6326224"/>
              <a:gd name="connsiteY0" fmla="*/ 1314432 h 1314432"/>
              <a:gd name="connsiteX1" fmla="*/ 13141 w 6326224"/>
              <a:gd name="connsiteY1" fmla="*/ 18288 h 1314432"/>
              <a:gd name="connsiteX2" fmla="*/ 6304760 w 6326224"/>
              <a:gd name="connsiteY2" fmla="*/ 0 h 1314432"/>
              <a:gd name="connsiteX3" fmla="*/ 6326224 w 6326224"/>
              <a:gd name="connsiteY3" fmla="*/ 1314432 h 1314432"/>
              <a:gd name="connsiteX4" fmla="*/ 0 w 6326224"/>
              <a:gd name="connsiteY4" fmla="*/ 1314432 h 1314432"/>
              <a:gd name="connsiteX0" fmla="*/ 0 w 6308721"/>
              <a:gd name="connsiteY0" fmla="*/ 1314432 h 1314432"/>
              <a:gd name="connsiteX1" fmla="*/ 13141 w 6308721"/>
              <a:gd name="connsiteY1" fmla="*/ 18288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  <a:gd name="connsiteX0" fmla="*/ 0 w 6308721"/>
              <a:gd name="connsiteY0" fmla="*/ 1314432 h 1314432"/>
              <a:gd name="connsiteX1" fmla="*/ 2639 w 6308721"/>
              <a:gd name="connsiteY1" fmla="*/ 80111 h 1314432"/>
              <a:gd name="connsiteX2" fmla="*/ 6304760 w 6308721"/>
              <a:gd name="connsiteY2" fmla="*/ 0 h 1314432"/>
              <a:gd name="connsiteX3" fmla="*/ 6308721 w 6308721"/>
              <a:gd name="connsiteY3" fmla="*/ 1314432 h 1314432"/>
              <a:gd name="connsiteX4" fmla="*/ 0 w 6308721"/>
              <a:gd name="connsiteY4" fmla="*/ 1314432 h 1314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8721" h="1314432">
                <a:moveTo>
                  <a:pt x="0" y="1314432"/>
                </a:moveTo>
                <a:cubicBezTo>
                  <a:pt x="880" y="902992"/>
                  <a:pt x="1759" y="491551"/>
                  <a:pt x="2639" y="80111"/>
                </a:cubicBezTo>
                <a:lnTo>
                  <a:pt x="6304760" y="0"/>
                </a:lnTo>
                <a:cubicBezTo>
                  <a:pt x="6306080" y="438144"/>
                  <a:pt x="6307401" y="876288"/>
                  <a:pt x="6308721" y="1314432"/>
                </a:cubicBezTo>
                <a:lnTo>
                  <a:pt x="0" y="1314432"/>
                </a:lnTo>
                <a:close/>
              </a:path>
            </a:pathLst>
          </a:custGeom>
          <a:solidFill>
            <a:srgbClr val="00B0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171" y="4168172"/>
            <a:ext cx="335384" cy="335384"/>
          </a:xfrm>
          <a:prstGeom prst="rect">
            <a:avLst/>
          </a:prstGeom>
        </p:spPr>
      </p:pic>
      <p:pic>
        <p:nvPicPr>
          <p:cNvPr id="15" name="Immagin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10" y="5696858"/>
            <a:ext cx="253538" cy="25353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64" y="5337985"/>
            <a:ext cx="683568" cy="358873"/>
          </a:xfrm>
          <a:prstGeom prst="rect">
            <a:avLst/>
          </a:prstGeom>
        </p:spPr>
      </p:pic>
      <p:pic>
        <p:nvPicPr>
          <p:cNvPr id="18" name="Immagin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666" y="5696858"/>
            <a:ext cx="1236126" cy="82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28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</TotalTime>
  <Words>594</Words>
  <Application>Microsoft Office PowerPoint</Application>
  <PresentationFormat>Presentazione su schermo (4:3)</PresentationFormat>
  <Paragraphs>118</Paragraphs>
  <Slides>10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Tema di Office</vt:lpstr>
      <vt:lpstr>Linguaggio Flutter per applicazioni CrossPlatform</vt:lpstr>
      <vt:lpstr>Cosa è Flutter?</vt:lpstr>
      <vt:lpstr>Linguaggio Dart</vt:lpstr>
      <vt:lpstr>Applicazioni</vt:lpstr>
      <vt:lpstr>Vantaggi</vt:lpstr>
      <vt:lpstr>Widget</vt:lpstr>
      <vt:lpstr>Stateless e Stateful widget</vt:lpstr>
      <vt:lpstr>Material Design</vt:lpstr>
      <vt:lpstr>Concorrenti</vt:lpstr>
      <vt:lpstr>Conclusioni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Cosa è Flutter?</dc:title>
  <dc:creator>francesco.todaro.02@outlook.it</dc:creator>
  <cp:lastModifiedBy>francesco.todaro.02@outlook.it</cp:lastModifiedBy>
  <cp:revision>124</cp:revision>
  <dcterms:created xsi:type="dcterms:W3CDTF">2021-05-17T07:16:59Z</dcterms:created>
  <dcterms:modified xsi:type="dcterms:W3CDTF">2021-05-31T13:46:48Z</dcterms:modified>
</cp:coreProperties>
</file>