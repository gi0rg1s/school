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2" d="100"/>
          <a:sy n="102" d="100"/>
        </p:scale>
        <p:origin x="1834" y="8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9T10:44:09.72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0 13252,'0'11699'0,"11699"-11699"0,-11699-11699 0,-11699 11699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9T10:48:06.83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1 21302,'0'10187'0,"10187"-10187"0,-10187-10187 0,-10187 10187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9T10:49:21.692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5506 770 24535,'305'-770'0,"-6116"770"0,6116 770 0,4896-770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9T11:03:04.333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1 0 24575,'3'0'0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9T11:03:05.497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17 0 24575,'-7'0'0,"-3"0"-8191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9T11:03:11.137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1 1 24575,'3'0'0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4D4A0C-1FEA-4D2E-8E08-6DAC5A92D62D}" type="datetimeFigureOut">
              <a:rPr lang="it-IT" smtClean="0"/>
              <a:t>29/12/2025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E465AF-99E3-45DE-9F35-627CB3E8EAB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865995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464652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464652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60" dirty="0"/>
              <a:t>A.A.</a:t>
            </a:r>
            <a:r>
              <a:rPr spc="-135" dirty="0"/>
              <a:t> </a:t>
            </a:r>
            <a:r>
              <a:rPr spc="-70" dirty="0"/>
              <a:t>2022/2023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464652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95" dirty="0"/>
              <a:t>Tecniche</a:t>
            </a:r>
            <a:r>
              <a:rPr spc="-50" dirty="0"/>
              <a:t> </a:t>
            </a:r>
            <a:r>
              <a:rPr spc="-80" dirty="0"/>
              <a:t>di</a:t>
            </a:r>
            <a:r>
              <a:rPr spc="-25" dirty="0"/>
              <a:t> </a:t>
            </a:r>
            <a:r>
              <a:rPr spc="-65" dirty="0"/>
              <a:t>programmazione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464652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50" dirty="0"/>
              <a:t>‹N›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464652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464652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60" dirty="0"/>
              <a:t>A.A.</a:t>
            </a:r>
            <a:r>
              <a:rPr spc="-135" dirty="0"/>
              <a:t> </a:t>
            </a:r>
            <a:r>
              <a:rPr spc="-70" dirty="0"/>
              <a:t>2022/2023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464652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95" dirty="0"/>
              <a:t>Tecniche</a:t>
            </a:r>
            <a:r>
              <a:rPr spc="-50" dirty="0"/>
              <a:t> </a:t>
            </a:r>
            <a:r>
              <a:rPr spc="-80" dirty="0"/>
              <a:t>di</a:t>
            </a:r>
            <a:r>
              <a:rPr spc="-25" dirty="0"/>
              <a:t> </a:t>
            </a:r>
            <a:r>
              <a:rPr spc="-65" dirty="0"/>
              <a:t>programmazione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464652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50" dirty="0"/>
              <a:t>‹N›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57200" y="6353555"/>
            <a:ext cx="8229600" cy="0"/>
          </a:xfrm>
          <a:custGeom>
            <a:avLst/>
            <a:gdLst/>
            <a:ahLst/>
            <a:cxnLst/>
            <a:rect l="l" t="t" r="r" b="b"/>
            <a:pathLst>
              <a:path w="8229600">
                <a:moveTo>
                  <a:pt x="0" y="0"/>
                </a:moveTo>
                <a:lnTo>
                  <a:pt x="8229600" y="0"/>
                </a:lnTo>
              </a:path>
            </a:pathLst>
          </a:custGeom>
          <a:ln w="9525">
            <a:solidFill>
              <a:srgbClr val="9FB8CD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457200" y="1143000"/>
            <a:ext cx="8229600" cy="0"/>
          </a:xfrm>
          <a:custGeom>
            <a:avLst/>
            <a:gdLst/>
            <a:ahLst/>
            <a:cxnLst/>
            <a:rect l="l" t="t" r="r" b="b"/>
            <a:pathLst>
              <a:path w="8229600">
                <a:moveTo>
                  <a:pt x="0" y="0"/>
                </a:moveTo>
                <a:lnTo>
                  <a:pt x="8229600" y="0"/>
                </a:lnTo>
              </a:path>
            </a:pathLst>
          </a:custGeom>
          <a:ln w="9525">
            <a:solidFill>
              <a:srgbClr val="9FB8CD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454151" y="6432803"/>
            <a:ext cx="120650" cy="190500"/>
          </a:xfrm>
          <a:custGeom>
            <a:avLst/>
            <a:gdLst/>
            <a:ahLst/>
            <a:cxnLst/>
            <a:rect l="l" t="t" r="r" b="b"/>
            <a:pathLst>
              <a:path w="120650" h="190500">
                <a:moveTo>
                  <a:pt x="0" y="0"/>
                </a:moveTo>
                <a:lnTo>
                  <a:pt x="0" y="190500"/>
                </a:lnTo>
                <a:lnTo>
                  <a:pt x="120396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9FB8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464652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464652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60" dirty="0"/>
              <a:t>A.A.</a:t>
            </a:r>
            <a:r>
              <a:rPr spc="-135" dirty="0"/>
              <a:t> </a:t>
            </a:r>
            <a:r>
              <a:rPr spc="-70" dirty="0"/>
              <a:t>2022/2023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464652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95" dirty="0"/>
              <a:t>Tecniche</a:t>
            </a:r>
            <a:r>
              <a:rPr spc="-50" dirty="0"/>
              <a:t> </a:t>
            </a:r>
            <a:r>
              <a:rPr spc="-80" dirty="0"/>
              <a:t>di</a:t>
            </a:r>
            <a:r>
              <a:rPr spc="-25" dirty="0"/>
              <a:t> </a:t>
            </a:r>
            <a:r>
              <a:rPr spc="-65" dirty="0"/>
              <a:t>programmazione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464652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50" dirty="0"/>
              <a:t>‹N›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464652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464652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60" dirty="0"/>
              <a:t>A.A.</a:t>
            </a:r>
            <a:r>
              <a:rPr spc="-135" dirty="0"/>
              <a:t> </a:t>
            </a:r>
            <a:r>
              <a:rPr spc="-70" dirty="0"/>
              <a:t>2022/2023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464652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95" dirty="0"/>
              <a:t>Tecniche</a:t>
            </a:r>
            <a:r>
              <a:rPr spc="-50" dirty="0"/>
              <a:t> </a:t>
            </a:r>
            <a:r>
              <a:rPr spc="-80" dirty="0"/>
              <a:t>di</a:t>
            </a:r>
            <a:r>
              <a:rPr spc="-25" dirty="0"/>
              <a:t> </a:t>
            </a:r>
            <a:r>
              <a:rPr spc="-65" dirty="0"/>
              <a:t>programmazione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464652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50" dirty="0"/>
              <a:t>‹N›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464652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60" dirty="0"/>
              <a:t>A.A.</a:t>
            </a:r>
            <a:r>
              <a:rPr spc="-135" dirty="0"/>
              <a:t> </a:t>
            </a:r>
            <a:r>
              <a:rPr spc="-70" dirty="0"/>
              <a:t>2022/2023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464652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95" dirty="0"/>
              <a:t>Tecniche</a:t>
            </a:r>
            <a:r>
              <a:rPr spc="-50" dirty="0"/>
              <a:t> </a:t>
            </a:r>
            <a:r>
              <a:rPr spc="-80" dirty="0"/>
              <a:t>di</a:t>
            </a:r>
            <a:r>
              <a:rPr spc="-25" dirty="0"/>
              <a:t> </a:t>
            </a:r>
            <a:r>
              <a:rPr spc="-65" dirty="0"/>
              <a:t>programmazione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464652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50" dirty="0"/>
              <a:t>‹N›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57200" y="6353555"/>
            <a:ext cx="8229600" cy="0"/>
          </a:xfrm>
          <a:custGeom>
            <a:avLst/>
            <a:gdLst/>
            <a:ahLst/>
            <a:cxnLst/>
            <a:rect l="l" t="t" r="r" b="b"/>
            <a:pathLst>
              <a:path w="8229600">
                <a:moveTo>
                  <a:pt x="0" y="0"/>
                </a:moveTo>
                <a:lnTo>
                  <a:pt x="8229600" y="0"/>
                </a:lnTo>
              </a:path>
            </a:pathLst>
          </a:custGeom>
          <a:ln w="9525">
            <a:solidFill>
              <a:srgbClr val="9FB8CD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457200" y="1143000"/>
            <a:ext cx="8229600" cy="0"/>
          </a:xfrm>
          <a:custGeom>
            <a:avLst/>
            <a:gdLst/>
            <a:ahLst/>
            <a:cxnLst/>
            <a:rect l="l" t="t" r="r" b="b"/>
            <a:pathLst>
              <a:path w="8229600">
                <a:moveTo>
                  <a:pt x="0" y="0"/>
                </a:moveTo>
                <a:lnTo>
                  <a:pt x="8229600" y="0"/>
                </a:lnTo>
              </a:path>
            </a:pathLst>
          </a:custGeom>
          <a:ln w="9525">
            <a:solidFill>
              <a:srgbClr val="9FB8CD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5940" y="577341"/>
            <a:ext cx="6114415" cy="5137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464652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5940" y="1238757"/>
            <a:ext cx="7900034" cy="46234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480428" y="6395259"/>
            <a:ext cx="1139190" cy="2330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464652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60" dirty="0"/>
              <a:t>A.A.</a:t>
            </a:r>
            <a:r>
              <a:rPr spc="-135" dirty="0"/>
              <a:t> </a:t>
            </a:r>
            <a:r>
              <a:rPr spc="-70" dirty="0"/>
              <a:t>2022/2023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229227" y="6395259"/>
            <a:ext cx="2094864" cy="2330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464652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95" dirty="0"/>
              <a:t>Tecniche</a:t>
            </a:r>
            <a:r>
              <a:rPr spc="-50" dirty="0"/>
              <a:t> </a:t>
            </a:r>
            <a:r>
              <a:rPr spc="-80" dirty="0"/>
              <a:t>di</a:t>
            </a:r>
            <a:r>
              <a:rPr spc="-25" dirty="0"/>
              <a:t> </a:t>
            </a:r>
            <a:r>
              <a:rPr spc="-65" dirty="0"/>
              <a:t>programmazione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65987" y="6395259"/>
            <a:ext cx="231140" cy="2330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464652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50" dirty="0"/>
              <a:t>‹N›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customXml" Target="../ink/ink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6.png"/><Relationship Id="rId7" Type="http://schemas.openxmlformats.org/officeDocument/2006/relationships/image" Target="../media/image8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4.xml"/><Relationship Id="rId6" Type="http://schemas.openxmlformats.org/officeDocument/2006/relationships/customXml" Target="../ink/ink6.xml"/><Relationship Id="rId5" Type="http://schemas.openxmlformats.org/officeDocument/2006/relationships/image" Target="../media/image7.png"/><Relationship Id="rId4" Type="http://schemas.openxmlformats.org/officeDocument/2006/relationships/customXml" Target="../ink/ink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falkhausen.de/JavaFX-10/index.html" TargetMode="External"/><Relationship Id="rId2" Type="http://schemas.openxmlformats.org/officeDocument/2006/relationships/hyperlink" Target="https://openjfx.io/javadoc/11/" TargetMode="Externa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4.jpg"/><Relationship Id="rId4" Type="http://schemas.openxmlformats.org/officeDocument/2006/relationships/image" Target="../media/image13.jp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falkhausen.de/JavaFX-10/scene.layout/Pane.html" TargetMode="External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falkhausen.de/JavaFX-10/scene.control/Control-Hierarchy.html" TargetMode="External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://falkhausen.de/JavaFX-8/event/Event-Hierarchy.html" TargetMode="External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://javafx.com/fxml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05255" y="3648455"/>
            <a:ext cx="7315200" cy="1280160"/>
          </a:xfrm>
          <a:custGeom>
            <a:avLst/>
            <a:gdLst/>
            <a:ahLst/>
            <a:cxnLst/>
            <a:rect l="l" t="t" r="r" b="b"/>
            <a:pathLst>
              <a:path w="7315200" h="1280160">
                <a:moveTo>
                  <a:pt x="0" y="1280159"/>
                </a:moveTo>
                <a:lnTo>
                  <a:pt x="7315200" y="1280159"/>
                </a:lnTo>
                <a:lnTo>
                  <a:pt x="7315200" y="0"/>
                </a:lnTo>
                <a:lnTo>
                  <a:pt x="0" y="0"/>
                </a:lnTo>
                <a:lnTo>
                  <a:pt x="0" y="1280159"/>
                </a:lnTo>
                <a:close/>
              </a:path>
            </a:pathLst>
          </a:custGeom>
          <a:ln w="6350">
            <a:solidFill>
              <a:srgbClr val="717BA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14400" y="5049011"/>
            <a:ext cx="7315200" cy="685800"/>
          </a:xfrm>
          <a:custGeom>
            <a:avLst/>
            <a:gdLst/>
            <a:ahLst/>
            <a:cxnLst/>
            <a:rect l="l" t="t" r="r" b="b"/>
            <a:pathLst>
              <a:path w="7315200" h="685800">
                <a:moveTo>
                  <a:pt x="0" y="685800"/>
                </a:moveTo>
                <a:lnTo>
                  <a:pt x="7315200" y="685800"/>
                </a:lnTo>
                <a:lnTo>
                  <a:pt x="7315200" y="0"/>
                </a:lnTo>
                <a:lnTo>
                  <a:pt x="0" y="0"/>
                </a:lnTo>
                <a:lnTo>
                  <a:pt x="0" y="685800"/>
                </a:lnTo>
                <a:close/>
              </a:path>
            </a:pathLst>
          </a:custGeom>
          <a:ln w="6350">
            <a:solidFill>
              <a:srgbClr val="9FB8C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05255" y="3648455"/>
            <a:ext cx="228600" cy="1280160"/>
          </a:xfrm>
          <a:custGeom>
            <a:avLst/>
            <a:gdLst/>
            <a:ahLst/>
            <a:cxnLst/>
            <a:rect l="l" t="t" r="r" b="b"/>
            <a:pathLst>
              <a:path w="228600" h="1280160">
                <a:moveTo>
                  <a:pt x="228600" y="0"/>
                </a:moveTo>
                <a:lnTo>
                  <a:pt x="0" y="0"/>
                </a:lnTo>
                <a:lnTo>
                  <a:pt x="0" y="1280159"/>
                </a:lnTo>
                <a:lnTo>
                  <a:pt x="228600" y="1280159"/>
                </a:lnTo>
                <a:lnTo>
                  <a:pt x="228600" y="0"/>
                </a:lnTo>
                <a:close/>
              </a:path>
            </a:pathLst>
          </a:custGeom>
          <a:solidFill>
            <a:srgbClr val="717BA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14400" y="5049011"/>
            <a:ext cx="228600" cy="685800"/>
          </a:xfrm>
          <a:custGeom>
            <a:avLst/>
            <a:gdLst/>
            <a:ahLst/>
            <a:cxnLst/>
            <a:rect l="l" t="t" r="r" b="b"/>
            <a:pathLst>
              <a:path w="228600" h="685800">
                <a:moveTo>
                  <a:pt x="228600" y="0"/>
                </a:moveTo>
                <a:lnTo>
                  <a:pt x="0" y="0"/>
                </a:lnTo>
                <a:lnTo>
                  <a:pt x="0" y="685800"/>
                </a:lnTo>
                <a:lnTo>
                  <a:pt x="228600" y="685800"/>
                </a:lnTo>
                <a:lnTo>
                  <a:pt x="228600" y="0"/>
                </a:lnTo>
                <a:close/>
              </a:path>
            </a:pathLst>
          </a:custGeom>
          <a:solidFill>
            <a:srgbClr val="9FB8CD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90884" y="66345"/>
            <a:ext cx="3321268" cy="194840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133855" y="3900296"/>
            <a:ext cx="708342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04670">
              <a:lnSpc>
                <a:spcPct val="100000"/>
              </a:lnSpc>
              <a:spcBef>
                <a:spcPts val="100"/>
              </a:spcBef>
            </a:pPr>
            <a:r>
              <a:rPr sz="3200" spc="390" dirty="0">
                <a:latin typeface="Cambria"/>
                <a:cs typeface="Cambria"/>
              </a:rPr>
              <a:t>JavaFX</a:t>
            </a:r>
            <a:r>
              <a:rPr sz="3200" spc="305" dirty="0">
                <a:latin typeface="Cambria"/>
                <a:cs typeface="Cambria"/>
              </a:rPr>
              <a:t> </a:t>
            </a:r>
            <a:r>
              <a:rPr sz="3200" dirty="0">
                <a:latin typeface="Cambria"/>
                <a:cs typeface="Cambria"/>
              </a:rPr>
              <a:t>–</a:t>
            </a:r>
            <a:r>
              <a:rPr sz="3200" spc="325" dirty="0">
                <a:latin typeface="Cambria"/>
                <a:cs typeface="Cambria"/>
              </a:rPr>
              <a:t> </a:t>
            </a:r>
            <a:r>
              <a:rPr lang="it-IT" sz="3200" spc="280" dirty="0">
                <a:latin typeface="Cambria"/>
                <a:cs typeface="Cambria"/>
              </a:rPr>
              <a:t>Tutorial</a:t>
            </a:r>
            <a:endParaRPr sz="3200" dirty="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43000" y="5146294"/>
            <a:ext cx="708342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84250">
              <a:lnSpc>
                <a:spcPct val="100000"/>
              </a:lnSpc>
              <a:spcBef>
                <a:spcPts val="100"/>
              </a:spcBef>
            </a:pPr>
            <a:r>
              <a:rPr lang="it-IT" sz="2000" spc="114" dirty="0">
                <a:solidFill>
                  <a:srgbClr val="464652"/>
                </a:solidFill>
                <a:latin typeface="Cambria"/>
                <a:cs typeface="Cambria"/>
              </a:rPr>
              <a:t>Classi quarte </a:t>
            </a:r>
            <a:r>
              <a:rPr sz="2000" dirty="0">
                <a:solidFill>
                  <a:srgbClr val="464652"/>
                </a:solidFill>
                <a:latin typeface="Cambria"/>
                <a:cs typeface="Cambria"/>
              </a:rPr>
              <a:t>–</a:t>
            </a:r>
            <a:r>
              <a:rPr sz="2000" spc="190" dirty="0">
                <a:solidFill>
                  <a:srgbClr val="464652"/>
                </a:solidFill>
                <a:latin typeface="Cambria"/>
                <a:cs typeface="Cambria"/>
              </a:rPr>
              <a:t> </a:t>
            </a:r>
            <a:r>
              <a:rPr lang="it-IT" sz="2000" spc="165" dirty="0">
                <a:solidFill>
                  <a:srgbClr val="464652"/>
                </a:solidFill>
                <a:latin typeface="Cambria"/>
                <a:cs typeface="Cambria"/>
              </a:rPr>
              <a:t>Itis Leonardo da vinci PR</a:t>
            </a:r>
            <a:endParaRPr sz="2000" dirty="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4151" y="6432803"/>
            <a:ext cx="120650" cy="190500"/>
          </a:xfrm>
          <a:custGeom>
            <a:avLst/>
            <a:gdLst/>
            <a:ahLst/>
            <a:cxnLst/>
            <a:rect l="l" t="t" r="r" b="b"/>
            <a:pathLst>
              <a:path w="120650" h="190500">
                <a:moveTo>
                  <a:pt x="0" y="0"/>
                </a:moveTo>
                <a:lnTo>
                  <a:pt x="0" y="190500"/>
                </a:lnTo>
                <a:lnTo>
                  <a:pt x="120396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9FB8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380" dirty="0"/>
              <a:t>JavaFX</a:t>
            </a:r>
            <a:r>
              <a:rPr spc="330" dirty="0"/>
              <a:t> </a:t>
            </a:r>
            <a:r>
              <a:rPr spc="180" dirty="0"/>
              <a:t>applications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50" dirty="0"/>
              <a:t>2</a:t>
            </a:fld>
            <a:endParaRPr spc="-50" dirty="0"/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xfrm>
            <a:off x="4229227" y="6395259"/>
            <a:ext cx="2094864" cy="21608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it-IT" spc="-95" dirty="0" err="1"/>
              <a:t>JavaFX</a:t>
            </a:r>
            <a:endParaRPr spc="-65" dirty="0"/>
          </a:p>
        </p:txBody>
      </p:sp>
      <p:pic>
        <p:nvPicPr>
          <p:cNvPr id="8" name="Immagine 7" descr="Immagine che contiene testo, schermata, schermo, software&#10;&#10;Il contenuto generato dall'IA potrebbe non essere corretto.">
            <a:extLst>
              <a:ext uri="{FF2B5EF4-FFF2-40B4-BE49-F238E27FC236}">
                <a16:creationId xmlns:a16="http://schemas.microsoft.com/office/drawing/2014/main" id="{E1910251-13E1-7876-B8A2-71A8E18F6C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8390" y="1474604"/>
            <a:ext cx="5053409" cy="446934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4151" y="6432803"/>
            <a:ext cx="120650" cy="190500"/>
          </a:xfrm>
          <a:custGeom>
            <a:avLst/>
            <a:gdLst/>
            <a:ahLst/>
            <a:cxnLst/>
            <a:rect l="l" t="t" r="r" b="b"/>
            <a:pathLst>
              <a:path w="120650" h="190500">
                <a:moveTo>
                  <a:pt x="0" y="0"/>
                </a:moveTo>
                <a:lnTo>
                  <a:pt x="0" y="190500"/>
                </a:lnTo>
                <a:lnTo>
                  <a:pt x="120396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9FB8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60" dirty="0"/>
              <a:t>Application</a:t>
            </a:r>
            <a:r>
              <a:rPr spc="315" dirty="0"/>
              <a:t> </a:t>
            </a:r>
            <a:r>
              <a:rPr spc="185" dirty="0"/>
              <a:t>structure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4711700" y="1196086"/>
            <a:ext cx="3843654" cy="4838700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287020" marR="5080" indent="-274320">
              <a:lnSpc>
                <a:spcPct val="90000"/>
              </a:lnSpc>
              <a:spcBef>
                <a:spcPts val="415"/>
              </a:spcBef>
              <a:tabLst>
                <a:tab pos="287020" algn="l"/>
              </a:tabLst>
            </a:pPr>
            <a:r>
              <a:rPr sz="1950" spc="-50" dirty="0">
                <a:solidFill>
                  <a:srgbClr val="717BA2"/>
                </a:solidFill>
                <a:latin typeface="Segoe UI Symbol"/>
                <a:cs typeface="Segoe UI Symbol"/>
              </a:rPr>
              <a:t>🞂</a:t>
            </a:r>
            <a:r>
              <a:rPr sz="1950" dirty="0">
                <a:solidFill>
                  <a:srgbClr val="717BA2"/>
                </a:solidFill>
                <a:latin typeface="Segoe UI Symbol"/>
                <a:cs typeface="Segoe UI Symbol"/>
              </a:rPr>
              <a:t>​	</a:t>
            </a:r>
            <a:r>
              <a:rPr sz="2600" b="1" spc="-35" dirty="0">
                <a:solidFill>
                  <a:srgbClr val="717BA2"/>
                </a:solidFill>
                <a:latin typeface="Trebuchet MS"/>
                <a:cs typeface="Trebuchet MS"/>
              </a:rPr>
              <a:t>Stage</a:t>
            </a:r>
            <a:r>
              <a:rPr sz="2600" spc="-35" dirty="0">
                <a:latin typeface="Trebuchet MS"/>
                <a:cs typeface="Trebuchet MS"/>
              </a:rPr>
              <a:t>:</a:t>
            </a:r>
            <a:r>
              <a:rPr sz="2600" spc="-315" dirty="0">
                <a:latin typeface="Trebuchet MS"/>
                <a:cs typeface="Trebuchet MS"/>
              </a:rPr>
              <a:t> </a:t>
            </a:r>
            <a:r>
              <a:rPr sz="2600" spc="-120" dirty="0">
                <a:latin typeface="Trebuchet MS"/>
                <a:cs typeface="Trebuchet MS"/>
              </a:rPr>
              <a:t>where</a:t>
            </a:r>
            <a:r>
              <a:rPr sz="2600" spc="-45" dirty="0">
                <a:latin typeface="Trebuchet MS"/>
                <a:cs typeface="Trebuchet MS"/>
              </a:rPr>
              <a:t> </a:t>
            </a:r>
            <a:r>
              <a:rPr sz="2600" spc="-25" dirty="0">
                <a:latin typeface="Trebuchet MS"/>
                <a:cs typeface="Trebuchet MS"/>
              </a:rPr>
              <a:t>the </a:t>
            </a:r>
            <a:r>
              <a:rPr sz="2600" spc="-170" dirty="0">
                <a:latin typeface="Trebuchet MS"/>
                <a:cs typeface="Trebuchet MS"/>
              </a:rPr>
              <a:t>application</a:t>
            </a:r>
            <a:r>
              <a:rPr sz="2600" spc="-10" dirty="0">
                <a:latin typeface="Trebuchet MS"/>
                <a:cs typeface="Trebuchet MS"/>
              </a:rPr>
              <a:t> </a:t>
            </a:r>
            <a:r>
              <a:rPr sz="2600" spc="-170" dirty="0">
                <a:latin typeface="Trebuchet MS"/>
                <a:cs typeface="Trebuchet MS"/>
              </a:rPr>
              <a:t>will</a:t>
            </a:r>
            <a:r>
              <a:rPr sz="2600" spc="-20" dirty="0">
                <a:latin typeface="Trebuchet MS"/>
                <a:cs typeface="Trebuchet MS"/>
              </a:rPr>
              <a:t> </a:t>
            </a:r>
            <a:r>
              <a:rPr sz="2600" spc="-25" dirty="0">
                <a:latin typeface="Trebuchet MS"/>
                <a:cs typeface="Trebuchet MS"/>
              </a:rPr>
              <a:t>be </a:t>
            </a:r>
            <a:r>
              <a:rPr sz="2600" spc="-180" dirty="0">
                <a:latin typeface="Trebuchet MS"/>
                <a:cs typeface="Trebuchet MS"/>
              </a:rPr>
              <a:t>displayed</a:t>
            </a:r>
            <a:r>
              <a:rPr sz="2600" spc="-60" dirty="0">
                <a:latin typeface="Trebuchet MS"/>
                <a:cs typeface="Trebuchet MS"/>
              </a:rPr>
              <a:t> </a:t>
            </a:r>
            <a:r>
              <a:rPr sz="2600" spc="-265" dirty="0">
                <a:latin typeface="Trebuchet MS"/>
                <a:cs typeface="Trebuchet MS"/>
              </a:rPr>
              <a:t>(e.g.,</a:t>
            </a:r>
            <a:r>
              <a:rPr sz="2600" spc="-295" dirty="0">
                <a:latin typeface="Trebuchet MS"/>
                <a:cs typeface="Trebuchet MS"/>
              </a:rPr>
              <a:t> </a:t>
            </a:r>
            <a:r>
              <a:rPr sz="2600" spc="-260" dirty="0">
                <a:latin typeface="Trebuchet MS"/>
                <a:cs typeface="Trebuchet MS"/>
              </a:rPr>
              <a:t>a</a:t>
            </a:r>
            <a:r>
              <a:rPr sz="2600" spc="-360" dirty="0">
                <a:latin typeface="Trebuchet MS"/>
                <a:cs typeface="Trebuchet MS"/>
              </a:rPr>
              <a:t> </a:t>
            </a:r>
            <a:r>
              <a:rPr sz="2600" spc="-45" dirty="0">
                <a:latin typeface="Trebuchet MS"/>
                <a:cs typeface="Trebuchet MS"/>
              </a:rPr>
              <a:t>Windows’ </a:t>
            </a:r>
            <a:r>
              <a:rPr sz="2600" spc="-10" dirty="0">
                <a:latin typeface="Trebuchet MS"/>
                <a:cs typeface="Trebuchet MS"/>
              </a:rPr>
              <a:t>window)</a:t>
            </a:r>
            <a:endParaRPr sz="2600" dirty="0">
              <a:latin typeface="Trebuchet MS"/>
              <a:cs typeface="Trebuchet MS"/>
            </a:endParaRPr>
          </a:p>
          <a:p>
            <a:pPr marL="287020" marR="68580" indent="-274320">
              <a:lnSpc>
                <a:spcPts val="2810"/>
              </a:lnSpc>
              <a:spcBef>
                <a:spcPts val="640"/>
              </a:spcBef>
              <a:tabLst>
                <a:tab pos="287020" algn="l"/>
              </a:tabLst>
            </a:pPr>
            <a:r>
              <a:rPr sz="1950" spc="-50" dirty="0">
                <a:solidFill>
                  <a:srgbClr val="717BA2"/>
                </a:solidFill>
                <a:latin typeface="Segoe UI Symbol"/>
                <a:cs typeface="Segoe UI Symbol"/>
              </a:rPr>
              <a:t>🞂</a:t>
            </a:r>
            <a:r>
              <a:rPr sz="1950" dirty="0">
                <a:solidFill>
                  <a:srgbClr val="717BA2"/>
                </a:solidFill>
                <a:latin typeface="Segoe UI Symbol"/>
                <a:cs typeface="Segoe UI Symbol"/>
              </a:rPr>
              <a:t>​	</a:t>
            </a:r>
            <a:r>
              <a:rPr sz="2600" b="1" spc="-60" dirty="0">
                <a:solidFill>
                  <a:srgbClr val="D2DA79"/>
                </a:solidFill>
                <a:latin typeface="Trebuchet MS"/>
                <a:cs typeface="Trebuchet MS"/>
              </a:rPr>
              <a:t>Scene</a:t>
            </a:r>
            <a:r>
              <a:rPr sz="2600" spc="-60" dirty="0">
                <a:latin typeface="Trebuchet MS"/>
                <a:cs typeface="Trebuchet MS"/>
              </a:rPr>
              <a:t>:</a:t>
            </a:r>
            <a:r>
              <a:rPr sz="2600" spc="-325" dirty="0">
                <a:latin typeface="Trebuchet MS"/>
                <a:cs typeface="Trebuchet MS"/>
              </a:rPr>
              <a:t> </a:t>
            </a:r>
            <a:r>
              <a:rPr sz="2600" spc="-80" dirty="0">
                <a:latin typeface="Trebuchet MS"/>
                <a:cs typeface="Trebuchet MS"/>
              </a:rPr>
              <a:t>one</a:t>
            </a:r>
            <a:r>
              <a:rPr sz="2600" spc="-40" dirty="0">
                <a:latin typeface="Trebuchet MS"/>
                <a:cs typeface="Trebuchet MS"/>
              </a:rPr>
              <a:t> </a:t>
            </a:r>
            <a:r>
              <a:rPr sz="2600" spc="-135" dirty="0">
                <a:latin typeface="Trebuchet MS"/>
                <a:cs typeface="Trebuchet MS"/>
              </a:rPr>
              <a:t>container</a:t>
            </a:r>
            <a:r>
              <a:rPr sz="2600" spc="-75" dirty="0">
                <a:latin typeface="Trebuchet MS"/>
                <a:cs typeface="Trebuchet MS"/>
              </a:rPr>
              <a:t> </a:t>
            </a:r>
            <a:r>
              <a:rPr sz="2600" spc="-25" dirty="0">
                <a:latin typeface="Trebuchet MS"/>
                <a:cs typeface="Trebuchet MS"/>
              </a:rPr>
              <a:t>of </a:t>
            </a:r>
            <a:r>
              <a:rPr sz="2600" dirty="0">
                <a:latin typeface="Trebuchet MS"/>
                <a:cs typeface="Trebuchet MS"/>
              </a:rPr>
              <a:t>Nodes</a:t>
            </a:r>
            <a:r>
              <a:rPr sz="2600" spc="-45" dirty="0">
                <a:latin typeface="Trebuchet MS"/>
                <a:cs typeface="Trebuchet MS"/>
              </a:rPr>
              <a:t> </a:t>
            </a:r>
            <a:r>
              <a:rPr sz="2600" spc="-190" dirty="0">
                <a:latin typeface="Trebuchet MS"/>
                <a:cs typeface="Trebuchet MS"/>
              </a:rPr>
              <a:t>that</a:t>
            </a:r>
            <a:r>
              <a:rPr sz="2600" spc="-45" dirty="0">
                <a:latin typeface="Trebuchet MS"/>
                <a:cs typeface="Trebuchet MS"/>
              </a:rPr>
              <a:t> </a:t>
            </a:r>
            <a:r>
              <a:rPr sz="2600" spc="-85" dirty="0">
                <a:latin typeface="Trebuchet MS"/>
                <a:cs typeface="Trebuchet MS"/>
              </a:rPr>
              <a:t>compose</a:t>
            </a:r>
            <a:r>
              <a:rPr sz="2600" spc="-45" dirty="0">
                <a:latin typeface="Trebuchet MS"/>
                <a:cs typeface="Trebuchet MS"/>
              </a:rPr>
              <a:t> </a:t>
            </a:r>
            <a:r>
              <a:rPr sz="2600" spc="-25" dirty="0">
                <a:latin typeface="Trebuchet MS"/>
                <a:cs typeface="Trebuchet MS"/>
              </a:rPr>
              <a:t>one </a:t>
            </a:r>
            <a:r>
              <a:rPr sz="2600" spc="-220" dirty="0">
                <a:latin typeface="Trebuchet MS"/>
                <a:cs typeface="Trebuchet MS"/>
              </a:rPr>
              <a:t>“page”</a:t>
            </a:r>
            <a:r>
              <a:rPr sz="2600" spc="-70" dirty="0">
                <a:latin typeface="Trebuchet MS"/>
                <a:cs typeface="Trebuchet MS"/>
              </a:rPr>
              <a:t> </a:t>
            </a:r>
            <a:r>
              <a:rPr sz="2600" spc="-145" dirty="0">
                <a:latin typeface="Trebuchet MS"/>
                <a:cs typeface="Trebuchet MS"/>
              </a:rPr>
              <a:t>of</a:t>
            </a:r>
            <a:r>
              <a:rPr sz="2600" spc="-60" dirty="0">
                <a:latin typeface="Trebuchet MS"/>
                <a:cs typeface="Trebuchet MS"/>
              </a:rPr>
              <a:t> your</a:t>
            </a:r>
            <a:r>
              <a:rPr sz="2600" spc="-85" dirty="0">
                <a:latin typeface="Trebuchet MS"/>
                <a:cs typeface="Trebuchet MS"/>
              </a:rPr>
              <a:t> </a:t>
            </a:r>
            <a:r>
              <a:rPr sz="2600" spc="-160" dirty="0">
                <a:latin typeface="Trebuchet MS"/>
                <a:cs typeface="Trebuchet MS"/>
              </a:rPr>
              <a:t>application</a:t>
            </a:r>
            <a:endParaRPr sz="2600" dirty="0">
              <a:latin typeface="Trebuchet MS"/>
              <a:cs typeface="Trebuchet MS"/>
            </a:endParaRPr>
          </a:p>
          <a:p>
            <a:pPr marL="287020" marR="232410" indent="-274320">
              <a:lnSpc>
                <a:spcPts val="2810"/>
              </a:lnSpc>
              <a:spcBef>
                <a:spcPts val="595"/>
              </a:spcBef>
              <a:tabLst>
                <a:tab pos="287020" algn="l"/>
              </a:tabLst>
            </a:pPr>
            <a:r>
              <a:rPr sz="1950" spc="-50" dirty="0">
                <a:solidFill>
                  <a:srgbClr val="717BA2"/>
                </a:solidFill>
                <a:latin typeface="Segoe UI Symbol"/>
                <a:cs typeface="Segoe UI Symbol"/>
              </a:rPr>
              <a:t>🞂</a:t>
            </a:r>
            <a:r>
              <a:rPr sz="1950" dirty="0">
                <a:solidFill>
                  <a:srgbClr val="717BA2"/>
                </a:solidFill>
                <a:latin typeface="Segoe UI Symbol"/>
                <a:cs typeface="Segoe UI Symbol"/>
              </a:rPr>
              <a:t>​	</a:t>
            </a:r>
            <a:r>
              <a:rPr sz="2600" b="1" dirty="0">
                <a:solidFill>
                  <a:srgbClr val="F9DA79"/>
                </a:solidFill>
                <a:latin typeface="Trebuchet MS"/>
                <a:cs typeface="Trebuchet MS"/>
              </a:rPr>
              <a:t>Node</a:t>
            </a:r>
            <a:r>
              <a:rPr sz="2600" dirty="0">
                <a:latin typeface="Trebuchet MS"/>
                <a:cs typeface="Trebuchet MS"/>
              </a:rPr>
              <a:t>:</a:t>
            </a:r>
            <a:r>
              <a:rPr sz="2600" spc="-300" dirty="0">
                <a:latin typeface="Trebuchet MS"/>
                <a:cs typeface="Trebuchet MS"/>
              </a:rPr>
              <a:t> </a:t>
            </a:r>
            <a:r>
              <a:rPr sz="2600" spc="-204" dirty="0">
                <a:latin typeface="Trebuchet MS"/>
                <a:cs typeface="Trebuchet MS"/>
              </a:rPr>
              <a:t>an</a:t>
            </a:r>
            <a:r>
              <a:rPr sz="2600" spc="-30" dirty="0">
                <a:latin typeface="Trebuchet MS"/>
                <a:cs typeface="Trebuchet MS"/>
              </a:rPr>
              <a:t> </a:t>
            </a:r>
            <a:r>
              <a:rPr sz="2600" spc="-175" dirty="0">
                <a:latin typeface="Trebuchet MS"/>
                <a:cs typeface="Trebuchet MS"/>
              </a:rPr>
              <a:t>element</a:t>
            </a:r>
            <a:r>
              <a:rPr sz="2600" spc="-20" dirty="0">
                <a:latin typeface="Trebuchet MS"/>
                <a:cs typeface="Trebuchet MS"/>
              </a:rPr>
              <a:t> </a:t>
            </a:r>
            <a:r>
              <a:rPr sz="2600" spc="-160" dirty="0">
                <a:latin typeface="Trebuchet MS"/>
                <a:cs typeface="Trebuchet MS"/>
              </a:rPr>
              <a:t>in</a:t>
            </a:r>
            <a:r>
              <a:rPr sz="2600" spc="-25" dirty="0">
                <a:latin typeface="Trebuchet MS"/>
                <a:cs typeface="Trebuchet MS"/>
              </a:rPr>
              <a:t> </a:t>
            </a:r>
            <a:r>
              <a:rPr sz="2600" spc="-125" dirty="0">
                <a:latin typeface="Trebuchet MS"/>
                <a:cs typeface="Trebuchet MS"/>
              </a:rPr>
              <a:t>the </a:t>
            </a:r>
            <a:r>
              <a:rPr sz="2600" spc="-175" dirty="0">
                <a:latin typeface="Trebuchet MS"/>
                <a:cs typeface="Trebuchet MS"/>
              </a:rPr>
              <a:t>Scene,</a:t>
            </a:r>
            <a:r>
              <a:rPr sz="2600" spc="-305" dirty="0">
                <a:latin typeface="Trebuchet MS"/>
                <a:cs typeface="Trebuchet MS"/>
              </a:rPr>
              <a:t> </a:t>
            </a:r>
            <a:r>
              <a:rPr sz="2600" spc="-135" dirty="0">
                <a:latin typeface="Trebuchet MS"/>
                <a:cs typeface="Trebuchet MS"/>
              </a:rPr>
              <a:t>with</a:t>
            </a:r>
            <a:r>
              <a:rPr sz="2600" spc="-35" dirty="0">
                <a:latin typeface="Trebuchet MS"/>
                <a:cs typeface="Trebuchet MS"/>
              </a:rPr>
              <a:t> </a:t>
            </a:r>
            <a:r>
              <a:rPr sz="2600" spc="-260" dirty="0">
                <a:latin typeface="Trebuchet MS"/>
                <a:cs typeface="Trebuchet MS"/>
              </a:rPr>
              <a:t>a</a:t>
            </a:r>
            <a:r>
              <a:rPr sz="2600" spc="-40" dirty="0">
                <a:latin typeface="Trebuchet MS"/>
                <a:cs typeface="Trebuchet MS"/>
              </a:rPr>
              <a:t> </a:t>
            </a:r>
            <a:r>
              <a:rPr sz="2600" spc="-10" dirty="0">
                <a:latin typeface="Trebuchet MS"/>
                <a:cs typeface="Trebuchet MS"/>
              </a:rPr>
              <a:t>visual </a:t>
            </a:r>
            <a:r>
              <a:rPr sz="2600" spc="-180" dirty="0">
                <a:latin typeface="Trebuchet MS"/>
                <a:cs typeface="Trebuchet MS"/>
              </a:rPr>
              <a:t>appearance</a:t>
            </a:r>
            <a:r>
              <a:rPr sz="2600" spc="-40" dirty="0">
                <a:latin typeface="Trebuchet MS"/>
                <a:cs typeface="Trebuchet MS"/>
              </a:rPr>
              <a:t> </a:t>
            </a:r>
            <a:r>
              <a:rPr sz="2600" spc="-180" dirty="0">
                <a:latin typeface="Trebuchet MS"/>
                <a:cs typeface="Trebuchet MS"/>
              </a:rPr>
              <a:t>and</a:t>
            </a:r>
            <a:r>
              <a:rPr sz="2600" spc="-20" dirty="0">
                <a:latin typeface="Trebuchet MS"/>
                <a:cs typeface="Trebuchet MS"/>
              </a:rPr>
              <a:t> </a:t>
            </a:r>
            <a:r>
              <a:rPr sz="2600" spc="-25" dirty="0">
                <a:latin typeface="Trebuchet MS"/>
                <a:cs typeface="Trebuchet MS"/>
              </a:rPr>
              <a:t>an </a:t>
            </a:r>
            <a:r>
              <a:rPr sz="2600" spc="-165" dirty="0">
                <a:latin typeface="Trebuchet MS"/>
                <a:cs typeface="Trebuchet MS"/>
              </a:rPr>
              <a:t>interactive</a:t>
            </a:r>
            <a:r>
              <a:rPr sz="2600" spc="10" dirty="0">
                <a:latin typeface="Trebuchet MS"/>
                <a:cs typeface="Trebuchet MS"/>
              </a:rPr>
              <a:t> </a:t>
            </a:r>
            <a:r>
              <a:rPr sz="2600" spc="-80" dirty="0">
                <a:latin typeface="Trebuchet MS"/>
                <a:cs typeface="Trebuchet MS"/>
              </a:rPr>
              <a:t>behavior.</a:t>
            </a:r>
            <a:endParaRPr sz="2600" dirty="0">
              <a:latin typeface="Trebuchet MS"/>
              <a:cs typeface="Trebuchet MS"/>
            </a:endParaRPr>
          </a:p>
          <a:p>
            <a:pPr marL="560705" marR="862330" indent="-274320">
              <a:lnSpc>
                <a:spcPts val="2480"/>
              </a:lnSpc>
              <a:spcBef>
                <a:spcPts val="509"/>
              </a:spcBef>
              <a:tabLst>
                <a:tab pos="560705" algn="l"/>
              </a:tabLst>
            </a:pPr>
            <a:r>
              <a:rPr sz="1750" spc="-50" dirty="0">
                <a:solidFill>
                  <a:srgbClr val="9FB8CD"/>
                </a:solidFill>
                <a:latin typeface="Segoe UI Symbol"/>
                <a:cs typeface="Segoe UI Symbol"/>
              </a:rPr>
              <a:t>🞂</a:t>
            </a:r>
            <a:r>
              <a:rPr sz="1750" dirty="0">
                <a:solidFill>
                  <a:srgbClr val="9FB8CD"/>
                </a:solidFill>
                <a:latin typeface="Segoe UI Symbol"/>
                <a:cs typeface="Segoe UI Symbol"/>
              </a:rPr>
              <a:t>​	</a:t>
            </a:r>
            <a:r>
              <a:rPr sz="2300" dirty="0">
                <a:solidFill>
                  <a:srgbClr val="464652"/>
                </a:solidFill>
                <a:latin typeface="Trebuchet MS"/>
                <a:cs typeface="Trebuchet MS"/>
              </a:rPr>
              <a:t>Nodes</a:t>
            </a:r>
            <a:r>
              <a:rPr sz="2300" spc="-15" dirty="0">
                <a:solidFill>
                  <a:srgbClr val="464652"/>
                </a:solidFill>
                <a:latin typeface="Trebuchet MS"/>
                <a:cs typeface="Trebuchet MS"/>
              </a:rPr>
              <a:t> </a:t>
            </a:r>
            <a:r>
              <a:rPr sz="2300" spc="-210" dirty="0">
                <a:solidFill>
                  <a:srgbClr val="464652"/>
                </a:solidFill>
                <a:latin typeface="Trebuchet MS"/>
                <a:cs typeface="Trebuchet MS"/>
              </a:rPr>
              <a:t>may</a:t>
            </a:r>
            <a:r>
              <a:rPr sz="2300" spc="-15" dirty="0">
                <a:solidFill>
                  <a:srgbClr val="464652"/>
                </a:solidFill>
                <a:latin typeface="Trebuchet MS"/>
                <a:cs typeface="Trebuchet MS"/>
              </a:rPr>
              <a:t> </a:t>
            </a:r>
            <a:r>
              <a:rPr sz="2300" spc="-25" dirty="0">
                <a:solidFill>
                  <a:srgbClr val="464652"/>
                </a:solidFill>
                <a:latin typeface="Trebuchet MS"/>
                <a:cs typeface="Trebuchet MS"/>
              </a:rPr>
              <a:t>be </a:t>
            </a:r>
            <a:r>
              <a:rPr sz="2300" spc="-145" dirty="0">
                <a:solidFill>
                  <a:srgbClr val="464652"/>
                </a:solidFill>
                <a:latin typeface="Trebuchet MS"/>
                <a:cs typeface="Trebuchet MS"/>
              </a:rPr>
              <a:t>hierarchically</a:t>
            </a:r>
            <a:r>
              <a:rPr sz="2300" spc="-50" dirty="0">
                <a:solidFill>
                  <a:srgbClr val="464652"/>
                </a:solidFill>
                <a:latin typeface="Trebuchet MS"/>
                <a:cs typeface="Trebuchet MS"/>
              </a:rPr>
              <a:t> </a:t>
            </a:r>
            <a:r>
              <a:rPr sz="2300" spc="-110" dirty="0">
                <a:solidFill>
                  <a:srgbClr val="464652"/>
                </a:solidFill>
                <a:latin typeface="Trebuchet MS"/>
                <a:cs typeface="Trebuchet MS"/>
              </a:rPr>
              <a:t>nested</a:t>
            </a:r>
            <a:endParaRPr sz="2300" dirty="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50" dirty="0"/>
              <a:t>3</a:t>
            </a:fld>
            <a:endParaRPr spc="-50" dirty="0"/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xfrm>
            <a:off x="4229227" y="6395259"/>
            <a:ext cx="2094864" cy="21608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it-IT" spc="-95" dirty="0" err="1"/>
              <a:t>JavaFX</a:t>
            </a:r>
            <a:endParaRPr spc="-65" dirty="0"/>
          </a:p>
        </p:txBody>
      </p:sp>
      <p:pic>
        <p:nvPicPr>
          <p:cNvPr id="13" name="Immagine 12" descr="Immagine che contiene testo, schermata, schermo, software&#10;&#10;Il contenuto generato dall'IA potrebbe non essere corretto.">
            <a:extLst>
              <a:ext uri="{FF2B5EF4-FFF2-40B4-BE49-F238E27FC236}">
                <a16:creationId xmlns:a16="http://schemas.microsoft.com/office/drawing/2014/main" id="{5B480382-2A93-38E0-B44C-A3A2022A5C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987" y="1905000"/>
            <a:ext cx="3838281" cy="339466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5" name="Input penna 24">
                <a:extLst>
                  <a:ext uri="{FF2B5EF4-FFF2-40B4-BE49-F238E27FC236}">
                    <a16:creationId xmlns:a16="http://schemas.microsoft.com/office/drawing/2014/main" id="{B885E263-B219-03CB-3296-A3871E57580A}"/>
                  </a:ext>
                </a:extLst>
              </p14:cNvPr>
              <p14:cNvContentPartPr/>
              <p14:nvPr/>
            </p14:nvContentPartPr>
            <p14:xfrm>
              <a:off x="400761" y="1737931"/>
              <a:ext cx="4212116" cy="4212116"/>
            </p14:xfrm>
          </p:contentPart>
        </mc:Choice>
        <mc:Fallback>
          <p:pic>
            <p:nvPicPr>
              <p:cNvPr id="25" name="Input penna 24">
                <a:extLst>
                  <a:ext uri="{FF2B5EF4-FFF2-40B4-BE49-F238E27FC236}">
                    <a16:creationId xmlns:a16="http://schemas.microsoft.com/office/drawing/2014/main" id="{B885E263-B219-03CB-3296-A3871E57580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82761" y="1719931"/>
                <a:ext cx="4247757" cy="424775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7" name="Input penna 36">
                <a:extLst>
                  <a:ext uri="{FF2B5EF4-FFF2-40B4-BE49-F238E27FC236}">
                    <a16:creationId xmlns:a16="http://schemas.microsoft.com/office/drawing/2014/main" id="{A774B399-86D0-E2C2-A510-4BC0EA54293C}"/>
                  </a:ext>
                </a:extLst>
              </p14:cNvPr>
              <p14:cNvContentPartPr/>
              <p14:nvPr/>
            </p14:nvContentPartPr>
            <p14:xfrm>
              <a:off x="857839" y="1862729"/>
              <a:ext cx="3667680" cy="3667680"/>
            </p14:xfrm>
          </p:contentPart>
        </mc:Choice>
        <mc:Fallback>
          <p:pic>
            <p:nvPicPr>
              <p:cNvPr id="37" name="Input penna 36">
                <a:extLst>
                  <a:ext uri="{FF2B5EF4-FFF2-40B4-BE49-F238E27FC236}">
                    <a16:creationId xmlns:a16="http://schemas.microsoft.com/office/drawing/2014/main" id="{A774B399-86D0-E2C2-A510-4BC0EA54293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40199" y="1845089"/>
                <a:ext cx="3703320" cy="370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40" name="Input penna 39">
                <a:extLst>
                  <a:ext uri="{FF2B5EF4-FFF2-40B4-BE49-F238E27FC236}">
                    <a16:creationId xmlns:a16="http://schemas.microsoft.com/office/drawing/2014/main" id="{7FE04514-9F24-E722-C5AE-4D45925086DB}"/>
                  </a:ext>
                </a:extLst>
              </p14:cNvPr>
              <p14:cNvContentPartPr/>
              <p14:nvPr/>
            </p14:nvContentPartPr>
            <p14:xfrm>
              <a:off x="1367239" y="2414609"/>
              <a:ext cx="2091960" cy="277560"/>
            </p14:xfrm>
          </p:contentPart>
        </mc:Choice>
        <mc:Fallback>
          <p:pic>
            <p:nvPicPr>
              <p:cNvPr id="40" name="Input penna 39">
                <a:extLst>
                  <a:ext uri="{FF2B5EF4-FFF2-40B4-BE49-F238E27FC236}">
                    <a16:creationId xmlns:a16="http://schemas.microsoft.com/office/drawing/2014/main" id="{7FE04514-9F24-E722-C5AE-4D45925086D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361119" y="2408489"/>
                <a:ext cx="2104200" cy="2898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4151" y="6432803"/>
            <a:ext cx="120650" cy="190500"/>
          </a:xfrm>
          <a:custGeom>
            <a:avLst/>
            <a:gdLst/>
            <a:ahLst/>
            <a:cxnLst/>
            <a:rect l="l" t="t" r="r" b="b"/>
            <a:pathLst>
              <a:path w="120650" h="190500">
                <a:moveTo>
                  <a:pt x="0" y="0"/>
                </a:moveTo>
                <a:lnTo>
                  <a:pt x="0" y="190500"/>
                </a:lnTo>
                <a:lnTo>
                  <a:pt x="120396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9FB8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50" dirty="0"/>
              <a:t>Nested</a:t>
            </a:r>
            <a:r>
              <a:rPr spc="330" dirty="0"/>
              <a:t> </a:t>
            </a:r>
            <a:r>
              <a:rPr spc="170" dirty="0"/>
              <a:t>nodes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50" dirty="0"/>
              <a:t>4</a:t>
            </a:fld>
            <a:endParaRPr spc="-50" dirty="0"/>
          </a:p>
        </p:txBody>
      </p:sp>
      <p:sp>
        <p:nvSpPr>
          <p:cNvPr id="14" name="object 14"/>
          <p:cNvSpPr txBox="1">
            <a:spLocks noGrp="1"/>
          </p:cNvSpPr>
          <p:nvPr>
            <p:ph type="dt" sz="half" idx="6"/>
          </p:nvPr>
        </p:nvSpPr>
        <p:spPr>
          <a:xfrm>
            <a:off x="4229227" y="6395259"/>
            <a:ext cx="2094864" cy="21608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it-IT" spc="-95" dirty="0"/>
              <a:t>Java FX</a:t>
            </a:r>
            <a:endParaRPr spc="-65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6" name="Input penna 15">
                <a:extLst>
                  <a:ext uri="{FF2B5EF4-FFF2-40B4-BE49-F238E27FC236}">
                    <a16:creationId xmlns:a16="http://schemas.microsoft.com/office/drawing/2014/main" id="{A6EA94E5-D810-D94D-6829-94D8D63ABD45}"/>
                  </a:ext>
                </a:extLst>
              </p14:cNvPr>
              <p14:cNvContentPartPr/>
              <p14:nvPr/>
            </p14:nvContentPartPr>
            <p14:xfrm>
              <a:off x="1303879" y="2960369"/>
              <a:ext cx="1440" cy="360"/>
            </p14:xfrm>
          </p:contentPart>
        </mc:Choice>
        <mc:Fallback>
          <p:pic>
            <p:nvPicPr>
              <p:cNvPr id="16" name="Input penna 15">
                <a:extLst>
                  <a:ext uri="{FF2B5EF4-FFF2-40B4-BE49-F238E27FC236}">
                    <a16:creationId xmlns:a16="http://schemas.microsoft.com/office/drawing/2014/main" id="{A6EA94E5-D810-D94D-6829-94D8D63ABD4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97759" y="2954249"/>
                <a:ext cx="1368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7" name="Input penna 16">
                <a:extLst>
                  <a:ext uri="{FF2B5EF4-FFF2-40B4-BE49-F238E27FC236}">
                    <a16:creationId xmlns:a16="http://schemas.microsoft.com/office/drawing/2014/main" id="{18E64195-F1AA-3C2C-2C43-BFCCA8AE4DC9}"/>
                  </a:ext>
                </a:extLst>
              </p14:cNvPr>
              <p14:cNvContentPartPr/>
              <p14:nvPr/>
            </p14:nvContentPartPr>
            <p14:xfrm>
              <a:off x="46399" y="4392089"/>
              <a:ext cx="6480" cy="360"/>
            </p14:xfrm>
          </p:contentPart>
        </mc:Choice>
        <mc:Fallback>
          <p:pic>
            <p:nvPicPr>
              <p:cNvPr id="17" name="Input penna 16">
                <a:extLst>
                  <a:ext uri="{FF2B5EF4-FFF2-40B4-BE49-F238E27FC236}">
                    <a16:creationId xmlns:a16="http://schemas.microsoft.com/office/drawing/2014/main" id="{18E64195-F1AA-3C2C-2C43-BFCCA8AE4DC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0279" y="4385969"/>
                <a:ext cx="1872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8" name="Input penna 17">
                <a:extLst>
                  <a:ext uri="{FF2B5EF4-FFF2-40B4-BE49-F238E27FC236}">
                    <a16:creationId xmlns:a16="http://schemas.microsoft.com/office/drawing/2014/main" id="{EC2F76DA-9033-F193-31C3-4BE78A4EA4B6}"/>
                  </a:ext>
                </a:extLst>
              </p14:cNvPr>
              <p14:cNvContentPartPr/>
              <p14:nvPr/>
            </p14:nvContentPartPr>
            <p14:xfrm>
              <a:off x="2300719" y="3612329"/>
              <a:ext cx="1440" cy="360"/>
            </p14:xfrm>
          </p:contentPart>
        </mc:Choice>
        <mc:Fallback>
          <p:pic>
            <p:nvPicPr>
              <p:cNvPr id="18" name="Input penna 17">
                <a:extLst>
                  <a:ext uri="{FF2B5EF4-FFF2-40B4-BE49-F238E27FC236}">
                    <a16:creationId xmlns:a16="http://schemas.microsoft.com/office/drawing/2014/main" id="{EC2F76DA-9033-F193-31C3-4BE78A4EA4B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294599" y="3606209"/>
                <a:ext cx="13680" cy="12600"/>
              </a:xfrm>
              <a:prstGeom prst="rect">
                <a:avLst/>
              </a:prstGeom>
            </p:spPr>
          </p:pic>
        </mc:Fallback>
      </mc:AlternateContent>
      <p:pic>
        <p:nvPicPr>
          <p:cNvPr id="20" name="Immagine 19" descr="Immagine che contiene testo, schermata, numero, Carattere&#10;&#10;Il contenuto generato dall'IA potrebbe non essere corretto.">
            <a:extLst>
              <a:ext uri="{FF2B5EF4-FFF2-40B4-BE49-F238E27FC236}">
                <a16:creationId xmlns:a16="http://schemas.microsoft.com/office/drawing/2014/main" id="{BE3554C5-3589-2787-E4B0-572769A3E0E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22393" y="1666629"/>
            <a:ext cx="3038899" cy="3524742"/>
          </a:xfrm>
          <a:prstGeom prst="rect">
            <a:avLst/>
          </a:prstGeom>
        </p:spPr>
      </p:pic>
      <p:pic>
        <p:nvPicPr>
          <p:cNvPr id="22" name="Immagine 21">
            <a:extLst>
              <a:ext uri="{FF2B5EF4-FFF2-40B4-BE49-F238E27FC236}">
                <a16:creationId xmlns:a16="http://schemas.microsoft.com/office/drawing/2014/main" id="{3792EB7C-63B0-BDE6-BEDC-2AE601EE571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939" y="1666629"/>
            <a:ext cx="4232381" cy="374321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7200" y="6353555"/>
            <a:ext cx="8229600" cy="0"/>
          </a:xfrm>
          <a:custGeom>
            <a:avLst/>
            <a:gdLst/>
            <a:ahLst/>
            <a:cxnLst/>
            <a:rect l="l" t="t" r="r" b="b"/>
            <a:pathLst>
              <a:path w="8229600">
                <a:moveTo>
                  <a:pt x="0" y="0"/>
                </a:moveTo>
                <a:lnTo>
                  <a:pt x="8229600" y="0"/>
                </a:lnTo>
              </a:path>
            </a:pathLst>
          </a:custGeom>
          <a:ln w="9525">
            <a:solidFill>
              <a:srgbClr val="9FB8CD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57200" y="1143000"/>
            <a:ext cx="3279140" cy="0"/>
          </a:xfrm>
          <a:custGeom>
            <a:avLst/>
            <a:gdLst/>
            <a:ahLst/>
            <a:cxnLst/>
            <a:rect l="l" t="t" r="r" b="b"/>
            <a:pathLst>
              <a:path w="3279140">
                <a:moveTo>
                  <a:pt x="0" y="0"/>
                </a:moveTo>
                <a:lnTo>
                  <a:pt x="3278886" y="0"/>
                </a:lnTo>
              </a:path>
            </a:pathLst>
          </a:custGeom>
          <a:ln w="9525">
            <a:solidFill>
              <a:srgbClr val="9FB8CD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632197" y="1143000"/>
            <a:ext cx="180340" cy="0"/>
          </a:xfrm>
          <a:custGeom>
            <a:avLst/>
            <a:gdLst/>
            <a:ahLst/>
            <a:cxnLst/>
            <a:rect l="l" t="t" r="r" b="b"/>
            <a:pathLst>
              <a:path w="180339">
                <a:moveTo>
                  <a:pt x="0" y="0"/>
                </a:moveTo>
                <a:lnTo>
                  <a:pt x="179831" y="0"/>
                </a:lnTo>
              </a:path>
            </a:pathLst>
          </a:custGeom>
          <a:ln w="9525">
            <a:solidFill>
              <a:srgbClr val="9FB8CD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709665" y="1143000"/>
            <a:ext cx="113030" cy="0"/>
          </a:xfrm>
          <a:custGeom>
            <a:avLst/>
            <a:gdLst/>
            <a:ahLst/>
            <a:cxnLst/>
            <a:rect l="l" t="t" r="r" b="b"/>
            <a:pathLst>
              <a:path w="113029">
                <a:moveTo>
                  <a:pt x="0" y="0"/>
                </a:moveTo>
                <a:lnTo>
                  <a:pt x="112775" y="0"/>
                </a:lnTo>
              </a:path>
            </a:pathLst>
          </a:custGeom>
          <a:ln w="9525">
            <a:solidFill>
              <a:srgbClr val="9FB8CD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720078" y="1143000"/>
            <a:ext cx="1967230" cy="0"/>
          </a:xfrm>
          <a:custGeom>
            <a:avLst/>
            <a:gdLst/>
            <a:ahLst/>
            <a:cxnLst/>
            <a:rect l="l" t="t" r="r" b="b"/>
            <a:pathLst>
              <a:path w="1967229">
                <a:moveTo>
                  <a:pt x="0" y="0"/>
                </a:moveTo>
                <a:lnTo>
                  <a:pt x="1966722" y="0"/>
                </a:lnTo>
              </a:path>
            </a:pathLst>
          </a:custGeom>
          <a:ln w="9525">
            <a:solidFill>
              <a:srgbClr val="9FB8CD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54151" y="6432803"/>
            <a:ext cx="120650" cy="190500"/>
          </a:xfrm>
          <a:custGeom>
            <a:avLst/>
            <a:gdLst/>
            <a:ahLst/>
            <a:cxnLst/>
            <a:rect l="l" t="t" r="r" b="b"/>
            <a:pathLst>
              <a:path w="120650" h="190500">
                <a:moveTo>
                  <a:pt x="0" y="0"/>
                </a:moveTo>
                <a:lnTo>
                  <a:pt x="0" y="190500"/>
                </a:lnTo>
                <a:lnTo>
                  <a:pt x="120396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9FB8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35940" y="577341"/>
            <a:ext cx="256921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165" dirty="0">
                <a:solidFill>
                  <a:srgbClr val="464652"/>
                </a:solidFill>
                <a:latin typeface="Cambria"/>
                <a:cs typeface="Cambria"/>
              </a:rPr>
              <a:t>Nodes</a:t>
            </a:r>
            <a:r>
              <a:rPr sz="3200" spc="285" dirty="0">
                <a:solidFill>
                  <a:srgbClr val="464652"/>
                </a:solidFill>
                <a:latin typeface="Cambria"/>
                <a:cs typeface="Cambria"/>
              </a:rPr>
              <a:t> </a:t>
            </a:r>
            <a:r>
              <a:rPr sz="3200" spc="140" dirty="0">
                <a:solidFill>
                  <a:srgbClr val="464652"/>
                </a:solidFill>
                <a:latin typeface="Cambria"/>
                <a:cs typeface="Cambria"/>
              </a:rPr>
              <a:t>family</a:t>
            </a:r>
            <a:endParaRPr sz="320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480428" y="6382613"/>
            <a:ext cx="113919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60" dirty="0">
                <a:solidFill>
                  <a:srgbClr val="464652"/>
                </a:solidFill>
                <a:latin typeface="Trebuchet MS"/>
                <a:cs typeface="Trebuchet MS"/>
              </a:rPr>
              <a:t>A.A.</a:t>
            </a:r>
            <a:r>
              <a:rPr sz="1400" spc="-135" dirty="0">
                <a:solidFill>
                  <a:srgbClr val="464652"/>
                </a:solidFill>
                <a:latin typeface="Trebuchet MS"/>
                <a:cs typeface="Trebuchet MS"/>
              </a:rPr>
              <a:t> </a:t>
            </a:r>
            <a:r>
              <a:rPr sz="1400" spc="-70" dirty="0">
                <a:solidFill>
                  <a:srgbClr val="464652"/>
                </a:solidFill>
                <a:latin typeface="Trebuchet MS"/>
                <a:cs typeface="Trebuchet MS"/>
              </a:rPr>
              <a:t>2022/2023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229227" y="6382613"/>
            <a:ext cx="2094864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95" dirty="0">
                <a:solidFill>
                  <a:srgbClr val="464652"/>
                </a:solidFill>
                <a:latin typeface="Trebuchet MS"/>
                <a:cs typeface="Trebuchet MS"/>
              </a:rPr>
              <a:t>Tecniche</a:t>
            </a:r>
            <a:r>
              <a:rPr sz="1400" spc="-50" dirty="0">
                <a:solidFill>
                  <a:srgbClr val="464652"/>
                </a:solidFill>
                <a:latin typeface="Trebuchet MS"/>
                <a:cs typeface="Trebuchet MS"/>
              </a:rPr>
              <a:t> </a:t>
            </a:r>
            <a:r>
              <a:rPr sz="1400" spc="-80" dirty="0">
                <a:solidFill>
                  <a:srgbClr val="464652"/>
                </a:solidFill>
                <a:latin typeface="Trebuchet MS"/>
                <a:cs typeface="Trebuchet MS"/>
              </a:rPr>
              <a:t>di</a:t>
            </a:r>
            <a:r>
              <a:rPr sz="1400" spc="-25" dirty="0">
                <a:solidFill>
                  <a:srgbClr val="464652"/>
                </a:solidFill>
                <a:latin typeface="Trebuchet MS"/>
                <a:cs typeface="Trebuchet MS"/>
              </a:rPr>
              <a:t> </a:t>
            </a:r>
            <a:r>
              <a:rPr sz="1400" spc="-65" dirty="0">
                <a:solidFill>
                  <a:srgbClr val="464652"/>
                </a:solidFill>
                <a:latin typeface="Trebuchet MS"/>
                <a:cs typeface="Trebuchet MS"/>
              </a:rPr>
              <a:t>programmazione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91387" y="6382613"/>
            <a:ext cx="11493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0" dirty="0">
                <a:solidFill>
                  <a:srgbClr val="464652"/>
                </a:solidFill>
                <a:latin typeface="Trebuchet MS"/>
                <a:cs typeface="Trebuchet MS"/>
              </a:rPr>
              <a:t>5</a:t>
            </a:r>
            <a:endParaRPr sz="1400">
              <a:latin typeface="Trebuchet MS"/>
              <a:cs typeface="Trebuchet MS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95680" y="247268"/>
            <a:ext cx="7870825" cy="6193155"/>
            <a:chOff x="495680" y="247268"/>
            <a:chExt cx="7870825" cy="6193155"/>
          </a:xfrm>
        </p:grpSpPr>
        <p:sp>
          <p:nvSpPr>
            <p:cNvPr id="13" name="object 13"/>
            <p:cNvSpPr/>
            <p:nvPr/>
          </p:nvSpPr>
          <p:spPr>
            <a:xfrm>
              <a:off x="1401317" y="4935473"/>
              <a:ext cx="179705" cy="1495425"/>
            </a:xfrm>
            <a:custGeom>
              <a:avLst/>
              <a:gdLst/>
              <a:ahLst/>
              <a:cxnLst/>
              <a:rect l="l" t="t" r="r" b="b"/>
              <a:pathLst>
                <a:path w="179705" h="1495425">
                  <a:moveTo>
                    <a:pt x="0" y="0"/>
                  </a:moveTo>
                  <a:lnTo>
                    <a:pt x="89788" y="0"/>
                  </a:lnTo>
                  <a:lnTo>
                    <a:pt x="89788" y="1495361"/>
                  </a:lnTo>
                  <a:lnTo>
                    <a:pt x="179450" y="1495361"/>
                  </a:lnTo>
                </a:path>
                <a:path w="179705" h="1495425">
                  <a:moveTo>
                    <a:pt x="0" y="0"/>
                  </a:moveTo>
                  <a:lnTo>
                    <a:pt x="89788" y="0"/>
                  </a:lnTo>
                  <a:lnTo>
                    <a:pt x="89788" y="1109459"/>
                  </a:lnTo>
                  <a:lnTo>
                    <a:pt x="179450" y="1109459"/>
                  </a:lnTo>
                </a:path>
              </a:pathLst>
            </a:custGeom>
            <a:ln w="19050">
              <a:solidFill>
                <a:srgbClr val="9FB8C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478785" y="5602985"/>
              <a:ext cx="3657600" cy="113030"/>
            </a:xfrm>
            <a:custGeom>
              <a:avLst/>
              <a:gdLst/>
              <a:ahLst/>
              <a:cxnLst/>
              <a:rect l="l" t="t" r="r" b="b"/>
              <a:pathLst>
                <a:path w="3657600" h="113029">
                  <a:moveTo>
                    <a:pt x="0" y="56095"/>
                  </a:moveTo>
                  <a:lnTo>
                    <a:pt x="3657091" y="56095"/>
                  </a:lnTo>
                  <a:lnTo>
                    <a:pt x="3657091" y="0"/>
                  </a:lnTo>
                </a:path>
                <a:path w="3657600" h="113029">
                  <a:moveTo>
                    <a:pt x="0" y="56387"/>
                  </a:moveTo>
                  <a:lnTo>
                    <a:pt x="2647441" y="56387"/>
                  </a:lnTo>
                  <a:lnTo>
                    <a:pt x="2647441" y="112483"/>
                  </a:lnTo>
                </a:path>
                <a:path w="3657600" h="113029">
                  <a:moveTo>
                    <a:pt x="0" y="56095"/>
                  </a:moveTo>
                  <a:lnTo>
                    <a:pt x="2647441" y="56095"/>
                  </a:lnTo>
                  <a:lnTo>
                    <a:pt x="2647441" y="0"/>
                  </a:lnTo>
                </a:path>
                <a:path w="3657600" h="113029">
                  <a:moveTo>
                    <a:pt x="0" y="56387"/>
                  </a:moveTo>
                  <a:lnTo>
                    <a:pt x="1637791" y="56387"/>
                  </a:lnTo>
                  <a:lnTo>
                    <a:pt x="1637791" y="112483"/>
                  </a:lnTo>
                </a:path>
                <a:path w="3657600" h="113029">
                  <a:moveTo>
                    <a:pt x="0" y="56095"/>
                  </a:moveTo>
                  <a:lnTo>
                    <a:pt x="1637791" y="56095"/>
                  </a:lnTo>
                  <a:lnTo>
                    <a:pt x="1637791" y="0"/>
                  </a:lnTo>
                </a:path>
                <a:path w="3657600" h="113029">
                  <a:moveTo>
                    <a:pt x="0" y="56387"/>
                  </a:moveTo>
                  <a:lnTo>
                    <a:pt x="628269" y="56387"/>
                  </a:lnTo>
                  <a:lnTo>
                    <a:pt x="628269" y="112483"/>
                  </a:lnTo>
                </a:path>
                <a:path w="3657600" h="113029">
                  <a:moveTo>
                    <a:pt x="0" y="56095"/>
                  </a:moveTo>
                  <a:lnTo>
                    <a:pt x="628269" y="56095"/>
                  </a:lnTo>
                  <a:lnTo>
                    <a:pt x="628269" y="0"/>
                  </a:lnTo>
                </a:path>
              </a:pathLst>
            </a:custGeom>
            <a:ln w="19050">
              <a:solidFill>
                <a:srgbClr val="D2DA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401317" y="4935473"/>
              <a:ext cx="179705" cy="723900"/>
            </a:xfrm>
            <a:custGeom>
              <a:avLst/>
              <a:gdLst/>
              <a:ahLst/>
              <a:cxnLst/>
              <a:rect l="l" t="t" r="r" b="b"/>
              <a:pathLst>
                <a:path w="179705" h="723900">
                  <a:moveTo>
                    <a:pt x="0" y="0"/>
                  </a:moveTo>
                  <a:lnTo>
                    <a:pt x="89788" y="0"/>
                  </a:lnTo>
                  <a:lnTo>
                    <a:pt x="89788" y="723557"/>
                  </a:lnTo>
                  <a:lnTo>
                    <a:pt x="179450" y="723557"/>
                  </a:lnTo>
                </a:path>
              </a:pathLst>
            </a:custGeom>
            <a:ln w="19050">
              <a:solidFill>
                <a:srgbClr val="9FB8C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478785" y="3440429"/>
              <a:ext cx="179705" cy="1447165"/>
            </a:xfrm>
            <a:custGeom>
              <a:avLst/>
              <a:gdLst/>
              <a:ahLst/>
              <a:cxnLst/>
              <a:rect l="l" t="t" r="r" b="b"/>
              <a:pathLst>
                <a:path w="179705" h="1447164">
                  <a:moveTo>
                    <a:pt x="0" y="0"/>
                  </a:moveTo>
                  <a:lnTo>
                    <a:pt x="89788" y="0"/>
                  </a:lnTo>
                  <a:lnTo>
                    <a:pt x="89788" y="1447165"/>
                  </a:lnTo>
                  <a:lnTo>
                    <a:pt x="179450" y="1447165"/>
                  </a:lnTo>
                </a:path>
              </a:pathLst>
            </a:custGeom>
            <a:ln w="19050">
              <a:solidFill>
                <a:srgbClr val="D2DA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556254" y="4115561"/>
              <a:ext cx="4733290" cy="829310"/>
            </a:xfrm>
            <a:custGeom>
              <a:avLst/>
              <a:gdLst/>
              <a:ahLst/>
              <a:cxnLst/>
              <a:rect l="l" t="t" r="r" b="b"/>
              <a:pathLst>
                <a:path w="4733290" h="829310">
                  <a:moveTo>
                    <a:pt x="1075944" y="772668"/>
                  </a:moveTo>
                  <a:lnTo>
                    <a:pt x="4733036" y="772668"/>
                  </a:lnTo>
                  <a:lnTo>
                    <a:pt x="4733036" y="828801"/>
                  </a:lnTo>
                </a:path>
                <a:path w="4733290" h="829310">
                  <a:moveTo>
                    <a:pt x="1075944" y="772413"/>
                  </a:moveTo>
                  <a:lnTo>
                    <a:pt x="4733036" y="772413"/>
                  </a:lnTo>
                  <a:lnTo>
                    <a:pt x="4733036" y="716280"/>
                  </a:lnTo>
                </a:path>
                <a:path w="4733290" h="829310">
                  <a:moveTo>
                    <a:pt x="1075944" y="772668"/>
                  </a:moveTo>
                  <a:lnTo>
                    <a:pt x="3723386" y="772668"/>
                  </a:lnTo>
                  <a:lnTo>
                    <a:pt x="3723386" y="828801"/>
                  </a:lnTo>
                </a:path>
                <a:path w="4733290" h="829310">
                  <a:moveTo>
                    <a:pt x="1075944" y="772413"/>
                  </a:moveTo>
                  <a:lnTo>
                    <a:pt x="3723386" y="772413"/>
                  </a:lnTo>
                  <a:lnTo>
                    <a:pt x="3723386" y="716280"/>
                  </a:lnTo>
                </a:path>
                <a:path w="4733290" h="829310">
                  <a:moveTo>
                    <a:pt x="1075944" y="772668"/>
                  </a:moveTo>
                  <a:lnTo>
                    <a:pt x="2713736" y="772668"/>
                  </a:lnTo>
                  <a:lnTo>
                    <a:pt x="2713736" y="828801"/>
                  </a:lnTo>
                </a:path>
                <a:path w="4733290" h="829310">
                  <a:moveTo>
                    <a:pt x="1075944" y="772413"/>
                  </a:moveTo>
                  <a:lnTo>
                    <a:pt x="2713736" y="772413"/>
                  </a:lnTo>
                  <a:lnTo>
                    <a:pt x="2713736" y="716280"/>
                  </a:lnTo>
                </a:path>
                <a:path w="4733290" h="829310">
                  <a:moveTo>
                    <a:pt x="1075944" y="772668"/>
                  </a:moveTo>
                  <a:lnTo>
                    <a:pt x="1704213" y="772668"/>
                  </a:lnTo>
                  <a:lnTo>
                    <a:pt x="1704213" y="828801"/>
                  </a:lnTo>
                </a:path>
                <a:path w="4733290" h="829310">
                  <a:moveTo>
                    <a:pt x="1075944" y="772413"/>
                  </a:moveTo>
                  <a:lnTo>
                    <a:pt x="1704213" y="772413"/>
                  </a:lnTo>
                  <a:lnTo>
                    <a:pt x="1704213" y="716280"/>
                  </a:lnTo>
                </a:path>
                <a:path w="4733290" h="829310">
                  <a:moveTo>
                    <a:pt x="0" y="385571"/>
                  </a:moveTo>
                  <a:lnTo>
                    <a:pt x="89788" y="385571"/>
                  </a:lnTo>
                  <a:lnTo>
                    <a:pt x="89788" y="771525"/>
                  </a:lnTo>
                  <a:lnTo>
                    <a:pt x="179450" y="771525"/>
                  </a:lnTo>
                </a:path>
                <a:path w="4733290" h="829310">
                  <a:moveTo>
                    <a:pt x="0" y="385571"/>
                  </a:moveTo>
                  <a:lnTo>
                    <a:pt x="179450" y="385571"/>
                  </a:lnTo>
                </a:path>
                <a:path w="4733290" h="829310">
                  <a:moveTo>
                    <a:pt x="0" y="385952"/>
                  </a:moveTo>
                  <a:lnTo>
                    <a:pt x="89788" y="385952"/>
                  </a:lnTo>
                  <a:lnTo>
                    <a:pt x="89788" y="0"/>
                  </a:lnTo>
                  <a:lnTo>
                    <a:pt x="179450" y="0"/>
                  </a:lnTo>
                </a:path>
              </a:pathLst>
            </a:custGeom>
            <a:ln w="19050">
              <a:solidFill>
                <a:srgbClr val="F9DA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478785" y="2379726"/>
              <a:ext cx="179705" cy="2122170"/>
            </a:xfrm>
            <a:custGeom>
              <a:avLst/>
              <a:gdLst/>
              <a:ahLst/>
              <a:cxnLst/>
              <a:rect l="l" t="t" r="r" b="b"/>
              <a:pathLst>
                <a:path w="179705" h="2122170">
                  <a:moveTo>
                    <a:pt x="0" y="1060703"/>
                  </a:moveTo>
                  <a:lnTo>
                    <a:pt x="89788" y="1060703"/>
                  </a:lnTo>
                  <a:lnTo>
                    <a:pt x="89788" y="2121916"/>
                  </a:lnTo>
                  <a:lnTo>
                    <a:pt x="179450" y="2121916"/>
                  </a:lnTo>
                </a:path>
                <a:path w="179705" h="2122170">
                  <a:moveTo>
                    <a:pt x="0" y="1061212"/>
                  </a:moveTo>
                  <a:lnTo>
                    <a:pt x="89788" y="1061212"/>
                  </a:lnTo>
                  <a:lnTo>
                    <a:pt x="89788" y="0"/>
                  </a:lnTo>
                  <a:lnTo>
                    <a:pt x="179450" y="0"/>
                  </a:lnTo>
                </a:path>
              </a:pathLst>
            </a:custGeom>
            <a:ln w="19050">
              <a:solidFill>
                <a:srgbClr val="D2DA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556254" y="256793"/>
              <a:ext cx="4800600" cy="3529329"/>
            </a:xfrm>
            <a:custGeom>
              <a:avLst/>
              <a:gdLst/>
              <a:ahLst/>
              <a:cxnLst/>
              <a:rect l="l" t="t" r="r" b="b"/>
              <a:pathLst>
                <a:path w="4800600" h="3529329">
                  <a:moveTo>
                    <a:pt x="1075944" y="3473195"/>
                  </a:moveTo>
                  <a:lnTo>
                    <a:pt x="4800346" y="3473195"/>
                  </a:lnTo>
                  <a:lnTo>
                    <a:pt x="4800346" y="3529329"/>
                  </a:lnTo>
                </a:path>
                <a:path w="4800600" h="3529329">
                  <a:moveTo>
                    <a:pt x="1075944" y="3473195"/>
                  </a:moveTo>
                  <a:lnTo>
                    <a:pt x="4800346" y="3473195"/>
                  </a:lnTo>
                  <a:lnTo>
                    <a:pt x="4800346" y="3031235"/>
                  </a:lnTo>
                </a:path>
                <a:path w="4800600" h="3529329">
                  <a:moveTo>
                    <a:pt x="1075944" y="3473195"/>
                  </a:moveTo>
                  <a:lnTo>
                    <a:pt x="1704213" y="3473195"/>
                  </a:lnTo>
                  <a:lnTo>
                    <a:pt x="1704213" y="3529329"/>
                  </a:lnTo>
                </a:path>
                <a:path w="4800600" h="3529329">
                  <a:moveTo>
                    <a:pt x="2153412" y="3087623"/>
                  </a:moveTo>
                  <a:lnTo>
                    <a:pt x="3791204" y="3087623"/>
                  </a:lnTo>
                  <a:lnTo>
                    <a:pt x="3791204" y="3143757"/>
                  </a:lnTo>
                </a:path>
                <a:path w="4800600" h="3529329">
                  <a:moveTo>
                    <a:pt x="2153412" y="3087369"/>
                  </a:moveTo>
                  <a:lnTo>
                    <a:pt x="3791204" y="3087369"/>
                  </a:lnTo>
                  <a:lnTo>
                    <a:pt x="3791204" y="3031235"/>
                  </a:lnTo>
                </a:path>
                <a:path w="4800600" h="3529329">
                  <a:moveTo>
                    <a:pt x="2153412" y="3087623"/>
                  </a:moveTo>
                  <a:lnTo>
                    <a:pt x="2781681" y="3087623"/>
                  </a:lnTo>
                  <a:lnTo>
                    <a:pt x="2781681" y="3143757"/>
                  </a:lnTo>
                </a:path>
                <a:path w="4800600" h="3529329">
                  <a:moveTo>
                    <a:pt x="2153412" y="3087369"/>
                  </a:moveTo>
                  <a:lnTo>
                    <a:pt x="2781681" y="3087369"/>
                  </a:lnTo>
                  <a:lnTo>
                    <a:pt x="2781681" y="3031235"/>
                  </a:lnTo>
                </a:path>
                <a:path w="4800600" h="3529329">
                  <a:moveTo>
                    <a:pt x="1075944" y="3473830"/>
                  </a:moveTo>
                  <a:lnTo>
                    <a:pt x="1704213" y="3473830"/>
                  </a:lnTo>
                  <a:lnTo>
                    <a:pt x="1704213" y="3224783"/>
                  </a:lnTo>
                </a:path>
                <a:path w="4800600" h="3529329">
                  <a:moveTo>
                    <a:pt x="0" y="1737359"/>
                  </a:moveTo>
                  <a:lnTo>
                    <a:pt x="89788" y="1737359"/>
                  </a:lnTo>
                  <a:lnTo>
                    <a:pt x="89788" y="3473957"/>
                  </a:lnTo>
                  <a:lnTo>
                    <a:pt x="179450" y="3473957"/>
                  </a:lnTo>
                </a:path>
                <a:path w="4800600" h="3529329">
                  <a:moveTo>
                    <a:pt x="0" y="1737359"/>
                  </a:moveTo>
                  <a:lnTo>
                    <a:pt x="89788" y="1737359"/>
                  </a:lnTo>
                  <a:lnTo>
                    <a:pt x="89788" y="3088004"/>
                  </a:lnTo>
                  <a:lnTo>
                    <a:pt x="179450" y="3088004"/>
                  </a:lnTo>
                </a:path>
                <a:path w="4800600" h="3529329">
                  <a:moveTo>
                    <a:pt x="0" y="1737359"/>
                  </a:moveTo>
                  <a:lnTo>
                    <a:pt x="89788" y="1737359"/>
                  </a:lnTo>
                  <a:lnTo>
                    <a:pt x="89788" y="2702052"/>
                  </a:lnTo>
                  <a:lnTo>
                    <a:pt x="179450" y="2702052"/>
                  </a:lnTo>
                </a:path>
                <a:path w="4800600" h="3529329">
                  <a:moveTo>
                    <a:pt x="0" y="1737359"/>
                  </a:moveTo>
                  <a:lnTo>
                    <a:pt x="89788" y="1737359"/>
                  </a:lnTo>
                  <a:lnTo>
                    <a:pt x="89788" y="2316226"/>
                  </a:lnTo>
                  <a:lnTo>
                    <a:pt x="179450" y="2316226"/>
                  </a:lnTo>
                </a:path>
                <a:path w="4800600" h="3529329">
                  <a:moveTo>
                    <a:pt x="0" y="1737359"/>
                  </a:moveTo>
                  <a:lnTo>
                    <a:pt x="89788" y="1737359"/>
                  </a:lnTo>
                  <a:lnTo>
                    <a:pt x="89788" y="1930272"/>
                  </a:lnTo>
                  <a:lnTo>
                    <a:pt x="179450" y="1930272"/>
                  </a:lnTo>
                </a:path>
                <a:path w="4800600" h="3529329">
                  <a:moveTo>
                    <a:pt x="0" y="1736725"/>
                  </a:moveTo>
                  <a:lnTo>
                    <a:pt x="89788" y="1736725"/>
                  </a:lnTo>
                  <a:lnTo>
                    <a:pt x="89788" y="1543811"/>
                  </a:lnTo>
                  <a:lnTo>
                    <a:pt x="179450" y="1543811"/>
                  </a:lnTo>
                </a:path>
                <a:path w="4800600" h="3529329">
                  <a:moveTo>
                    <a:pt x="0" y="1737105"/>
                  </a:moveTo>
                  <a:lnTo>
                    <a:pt x="89788" y="1737105"/>
                  </a:lnTo>
                  <a:lnTo>
                    <a:pt x="89788" y="1158239"/>
                  </a:lnTo>
                  <a:lnTo>
                    <a:pt x="179450" y="1158239"/>
                  </a:lnTo>
                </a:path>
                <a:path w="4800600" h="3529329">
                  <a:moveTo>
                    <a:pt x="1075944" y="771143"/>
                  </a:moveTo>
                  <a:lnTo>
                    <a:pt x="2713736" y="771143"/>
                  </a:lnTo>
                  <a:lnTo>
                    <a:pt x="2713736" y="839596"/>
                  </a:lnTo>
                </a:path>
                <a:path w="4800600" h="3529329">
                  <a:moveTo>
                    <a:pt x="1075944" y="771143"/>
                  </a:moveTo>
                  <a:lnTo>
                    <a:pt x="1704213" y="771143"/>
                  </a:lnTo>
                  <a:lnTo>
                    <a:pt x="1704213" y="839596"/>
                  </a:lnTo>
                </a:path>
                <a:path w="4800600" h="3529329">
                  <a:moveTo>
                    <a:pt x="0" y="1735835"/>
                  </a:moveTo>
                  <a:lnTo>
                    <a:pt x="89788" y="1735835"/>
                  </a:lnTo>
                  <a:lnTo>
                    <a:pt x="89788" y="771143"/>
                  </a:lnTo>
                  <a:lnTo>
                    <a:pt x="179450" y="771143"/>
                  </a:lnTo>
                </a:path>
                <a:path w="4800600" h="3529329">
                  <a:moveTo>
                    <a:pt x="0" y="1736216"/>
                  </a:moveTo>
                  <a:lnTo>
                    <a:pt x="89788" y="1736216"/>
                  </a:lnTo>
                  <a:lnTo>
                    <a:pt x="89788" y="385571"/>
                  </a:lnTo>
                  <a:lnTo>
                    <a:pt x="179450" y="385571"/>
                  </a:lnTo>
                </a:path>
                <a:path w="4800600" h="3529329">
                  <a:moveTo>
                    <a:pt x="1075944" y="0"/>
                  </a:moveTo>
                  <a:lnTo>
                    <a:pt x="2713736" y="0"/>
                  </a:lnTo>
                  <a:lnTo>
                    <a:pt x="2713736" y="68452"/>
                  </a:lnTo>
                </a:path>
                <a:path w="4800600" h="3529329">
                  <a:moveTo>
                    <a:pt x="1075944" y="0"/>
                  </a:moveTo>
                  <a:lnTo>
                    <a:pt x="1704213" y="0"/>
                  </a:lnTo>
                  <a:lnTo>
                    <a:pt x="1704213" y="68452"/>
                  </a:lnTo>
                </a:path>
                <a:path w="4800600" h="3529329">
                  <a:moveTo>
                    <a:pt x="0" y="1736597"/>
                  </a:moveTo>
                  <a:lnTo>
                    <a:pt x="89788" y="1736597"/>
                  </a:lnTo>
                  <a:lnTo>
                    <a:pt x="89788" y="0"/>
                  </a:lnTo>
                  <a:lnTo>
                    <a:pt x="179450" y="0"/>
                  </a:lnTo>
                </a:path>
              </a:pathLst>
            </a:custGeom>
            <a:ln w="19050">
              <a:solidFill>
                <a:srgbClr val="F9DA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478785" y="1994154"/>
              <a:ext cx="179705" cy="1447165"/>
            </a:xfrm>
            <a:custGeom>
              <a:avLst/>
              <a:gdLst/>
              <a:ahLst/>
              <a:cxnLst/>
              <a:rect l="l" t="t" r="r" b="b"/>
              <a:pathLst>
                <a:path w="179705" h="1447164">
                  <a:moveTo>
                    <a:pt x="0" y="1447165"/>
                  </a:moveTo>
                  <a:lnTo>
                    <a:pt x="89788" y="1447165"/>
                  </a:lnTo>
                  <a:lnTo>
                    <a:pt x="89788" y="0"/>
                  </a:lnTo>
                  <a:lnTo>
                    <a:pt x="179450" y="0"/>
                  </a:lnTo>
                </a:path>
              </a:pathLst>
            </a:custGeom>
            <a:ln w="19050">
              <a:solidFill>
                <a:srgbClr val="D2DA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401317" y="3440429"/>
              <a:ext cx="179705" cy="1495425"/>
            </a:xfrm>
            <a:custGeom>
              <a:avLst/>
              <a:gdLst/>
              <a:ahLst/>
              <a:cxnLst/>
              <a:rect l="l" t="t" r="r" b="b"/>
              <a:pathLst>
                <a:path w="179705" h="1495425">
                  <a:moveTo>
                    <a:pt x="0" y="1495298"/>
                  </a:moveTo>
                  <a:lnTo>
                    <a:pt x="89788" y="1495298"/>
                  </a:lnTo>
                  <a:lnTo>
                    <a:pt x="89788" y="0"/>
                  </a:lnTo>
                  <a:lnTo>
                    <a:pt x="179450" y="0"/>
                  </a:lnTo>
                </a:path>
              </a:pathLst>
            </a:custGeom>
            <a:ln w="19049">
              <a:solidFill>
                <a:srgbClr val="9FB8C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05205" y="4798314"/>
              <a:ext cx="896619" cy="274320"/>
            </a:xfrm>
            <a:custGeom>
              <a:avLst/>
              <a:gdLst/>
              <a:ahLst/>
              <a:cxnLst/>
              <a:rect l="l" t="t" r="r" b="b"/>
              <a:pathLst>
                <a:path w="896619" h="274320">
                  <a:moveTo>
                    <a:pt x="896112" y="0"/>
                  </a:moveTo>
                  <a:lnTo>
                    <a:pt x="0" y="0"/>
                  </a:lnTo>
                  <a:lnTo>
                    <a:pt x="0" y="274319"/>
                  </a:lnTo>
                  <a:lnTo>
                    <a:pt x="896112" y="274319"/>
                  </a:lnTo>
                  <a:lnTo>
                    <a:pt x="896112" y="0"/>
                  </a:lnTo>
                  <a:close/>
                </a:path>
              </a:pathLst>
            </a:custGeom>
            <a:solidFill>
              <a:srgbClr val="717BA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05205" y="4798314"/>
              <a:ext cx="896619" cy="274320"/>
            </a:xfrm>
            <a:custGeom>
              <a:avLst/>
              <a:gdLst/>
              <a:ahLst/>
              <a:cxnLst/>
              <a:rect l="l" t="t" r="r" b="b"/>
              <a:pathLst>
                <a:path w="896619" h="274320">
                  <a:moveTo>
                    <a:pt x="0" y="274319"/>
                  </a:moveTo>
                  <a:lnTo>
                    <a:pt x="896112" y="274319"/>
                  </a:lnTo>
                  <a:lnTo>
                    <a:pt x="896112" y="0"/>
                  </a:lnTo>
                  <a:lnTo>
                    <a:pt x="0" y="0"/>
                  </a:lnTo>
                  <a:lnTo>
                    <a:pt x="0" y="274319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505205" y="4798314"/>
            <a:ext cx="896619" cy="27432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31750">
              <a:lnSpc>
                <a:spcPct val="100000"/>
              </a:lnSpc>
              <a:spcBef>
                <a:spcPts val="580"/>
              </a:spcBef>
            </a:pPr>
            <a:r>
              <a:rPr sz="700" spc="-10" dirty="0">
                <a:latin typeface="Consolas"/>
                <a:cs typeface="Consolas"/>
              </a:rPr>
              <a:t>javafx.scene.Node</a:t>
            </a:r>
            <a:endParaRPr sz="700">
              <a:latin typeface="Consolas"/>
              <a:cs typeface="Consolas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1571625" y="3293745"/>
            <a:ext cx="916940" cy="293370"/>
            <a:chOff x="1571625" y="3293745"/>
            <a:chExt cx="916940" cy="293370"/>
          </a:xfrm>
        </p:grpSpPr>
        <p:sp>
          <p:nvSpPr>
            <p:cNvPr id="26" name="object 26"/>
            <p:cNvSpPr/>
            <p:nvPr/>
          </p:nvSpPr>
          <p:spPr>
            <a:xfrm>
              <a:off x="1581150" y="3303270"/>
              <a:ext cx="897890" cy="274320"/>
            </a:xfrm>
            <a:custGeom>
              <a:avLst/>
              <a:gdLst/>
              <a:ahLst/>
              <a:cxnLst/>
              <a:rect l="l" t="t" r="r" b="b"/>
              <a:pathLst>
                <a:path w="897889" h="274320">
                  <a:moveTo>
                    <a:pt x="897636" y="0"/>
                  </a:moveTo>
                  <a:lnTo>
                    <a:pt x="0" y="0"/>
                  </a:lnTo>
                  <a:lnTo>
                    <a:pt x="0" y="274320"/>
                  </a:lnTo>
                  <a:lnTo>
                    <a:pt x="897636" y="274320"/>
                  </a:lnTo>
                  <a:lnTo>
                    <a:pt x="897636" y="0"/>
                  </a:lnTo>
                  <a:close/>
                </a:path>
              </a:pathLst>
            </a:custGeom>
            <a:solidFill>
              <a:srgbClr val="9FB8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81150" y="3303270"/>
              <a:ext cx="897890" cy="274320"/>
            </a:xfrm>
            <a:custGeom>
              <a:avLst/>
              <a:gdLst/>
              <a:ahLst/>
              <a:cxnLst/>
              <a:rect l="l" t="t" r="r" b="b"/>
              <a:pathLst>
                <a:path w="897889" h="274320">
                  <a:moveTo>
                    <a:pt x="0" y="274320"/>
                  </a:moveTo>
                  <a:lnTo>
                    <a:pt x="897636" y="274320"/>
                  </a:lnTo>
                  <a:lnTo>
                    <a:pt x="897636" y="0"/>
                  </a:lnTo>
                  <a:lnTo>
                    <a:pt x="0" y="0"/>
                  </a:lnTo>
                  <a:lnTo>
                    <a:pt x="0" y="274320"/>
                  </a:lnTo>
                  <a:close/>
                </a:path>
              </a:pathLst>
            </a:custGeom>
            <a:ln w="190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1581150" y="3303270"/>
            <a:ext cx="897890" cy="274320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75"/>
              </a:spcBef>
            </a:pPr>
            <a:r>
              <a:rPr sz="700" spc="-10" dirty="0">
                <a:latin typeface="Consolas"/>
                <a:cs typeface="Consolas"/>
              </a:rPr>
              <a:t>Parent</a:t>
            </a:r>
            <a:endParaRPr sz="700">
              <a:latin typeface="Consolas"/>
              <a:cs typeface="Consolas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2649092" y="1847469"/>
            <a:ext cx="916940" cy="292100"/>
            <a:chOff x="2649092" y="1847469"/>
            <a:chExt cx="916940" cy="292100"/>
          </a:xfrm>
        </p:grpSpPr>
        <p:sp>
          <p:nvSpPr>
            <p:cNvPr id="30" name="object 30"/>
            <p:cNvSpPr/>
            <p:nvPr/>
          </p:nvSpPr>
          <p:spPr>
            <a:xfrm>
              <a:off x="2658617" y="1856994"/>
              <a:ext cx="897890" cy="273050"/>
            </a:xfrm>
            <a:custGeom>
              <a:avLst/>
              <a:gdLst/>
              <a:ahLst/>
              <a:cxnLst/>
              <a:rect l="l" t="t" r="r" b="b"/>
              <a:pathLst>
                <a:path w="897889" h="273050">
                  <a:moveTo>
                    <a:pt x="897635" y="0"/>
                  </a:moveTo>
                  <a:lnTo>
                    <a:pt x="0" y="0"/>
                  </a:lnTo>
                  <a:lnTo>
                    <a:pt x="0" y="272796"/>
                  </a:lnTo>
                  <a:lnTo>
                    <a:pt x="897635" y="272796"/>
                  </a:lnTo>
                  <a:lnTo>
                    <a:pt x="897635" y="0"/>
                  </a:lnTo>
                  <a:close/>
                </a:path>
              </a:pathLst>
            </a:custGeom>
            <a:solidFill>
              <a:srgbClr val="D2DA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658617" y="1856994"/>
              <a:ext cx="897890" cy="273050"/>
            </a:xfrm>
            <a:custGeom>
              <a:avLst/>
              <a:gdLst/>
              <a:ahLst/>
              <a:cxnLst/>
              <a:rect l="l" t="t" r="r" b="b"/>
              <a:pathLst>
                <a:path w="897889" h="273050">
                  <a:moveTo>
                    <a:pt x="0" y="272796"/>
                  </a:moveTo>
                  <a:lnTo>
                    <a:pt x="897635" y="272796"/>
                  </a:lnTo>
                  <a:lnTo>
                    <a:pt x="897635" y="0"/>
                  </a:lnTo>
                  <a:lnTo>
                    <a:pt x="0" y="0"/>
                  </a:lnTo>
                  <a:lnTo>
                    <a:pt x="0" y="272796"/>
                  </a:lnTo>
                  <a:close/>
                </a:path>
              </a:pathLst>
            </a:custGeom>
            <a:ln w="190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2658617" y="1856994"/>
            <a:ext cx="897890" cy="273050"/>
          </a:xfrm>
          <a:prstGeom prst="rect">
            <a:avLst/>
          </a:prstGeom>
        </p:spPr>
        <p:txBody>
          <a:bodyPr vert="horz" wrap="square" lIns="0" tIns="71755" rIns="0" bIns="0" rtlCol="0">
            <a:spAutoFit/>
          </a:bodyPr>
          <a:lstStyle/>
          <a:p>
            <a:pPr marL="276225">
              <a:lnSpc>
                <a:spcPct val="100000"/>
              </a:lnSpc>
              <a:spcBef>
                <a:spcPts val="565"/>
              </a:spcBef>
            </a:pPr>
            <a:r>
              <a:rPr sz="700" b="1" spc="-10" dirty="0">
                <a:latin typeface="Consolas"/>
                <a:cs typeface="Consolas"/>
              </a:rPr>
              <a:t>Control</a:t>
            </a:r>
            <a:endParaRPr sz="700">
              <a:latin typeface="Consolas"/>
              <a:cs typeface="Consolas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3726560" y="110109"/>
            <a:ext cx="915669" cy="293370"/>
            <a:chOff x="3726560" y="110109"/>
            <a:chExt cx="915669" cy="293370"/>
          </a:xfrm>
        </p:grpSpPr>
        <p:sp>
          <p:nvSpPr>
            <p:cNvPr id="34" name="object 34"/>
            <p:cNvSpPr/>
            <p:nvPr/>
          </p:nvSpPr>
          <p:spPr>
            <a:xfrm>
              <a:off x="3736085" y="119634"/>
              <a:ext cx="896619" cy="274320"/>
            </a:xfrm>
            <a:custGeom>
              <a:avLst/>
              <a:gdLst/>
              <a:ahLst/>
              <a:cxnLst/>
              <a:rect l="l" t="t" r="r" b="b"/>
              <a:pathLst>
                <a:path w="896620" h="274320">
                  <a:moveTo>
                    <a:pt x="896112" y="0"/>
                  </a:moveTo>
                  <a:lnTo>
                    <a:pt x="0" y="0"/>
                  </a:lnTo>
                  <a:lnTo>
                    <a:pt x="0" y="274320"/>
                  </a:lnTo>
                  <a:lnTo>
                    <a:pt x="896112" y="274320"/>
                  </a:lnTo>
                  <a:lnTo>
                    <a:pt x="896112" y="0"/>
                  </a:lnTo>
                  <a:close/>
                </a:path>
              </a:pathLst>
            </a:custGeom>
            <a:solidFill>
              <a:srgbClr val="F9DA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736085" y="119634"/>
              <a:ext cx="896619" cy="274320"/>
            </a:xfrm>
            <a:custGeom>
              <a:avLst/>
              <a:gdLst/>
              <a:ahLst/>
              <a:cxnLst/>
              <a:rect l="l" t="t" r="r" b="b"/>
              <a:pathLst>
                <a:path w="896620" h="274320">
                  <a:moveTo>
                    <a:pt x="0" y="274320"/>
                  </a:moveTo>
                  <a:lnTo>
                    <a:pt x="896112" y="274320"/>
                  </a:lnTo>
                  <a:lnTo>
                    <a:pt x="896112" y="0"/>
                  </a:lnTo>
                  <a:lnTo>
                    <a:pt x="0" y="0"/>
                  </a:lnTo>
                  <a:lnTo>
                    <a:pt x="0" y="274320"/>
                  </a:lnTo>
                  <a:close/>
                </a:path>
              </a:pathLst>
            </a:custGeom>
            <a:ln w="190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3736085" y="119634"/>
            <a:ext cx="896619" cy="274320"/>
          </a:xfrm>
          <a:prstGeom prst="rect">
            <a:avLst/>
          </a:prstGeom>
        </p:spPr>
        <p:txBody>
          <a:bodyPr vert="horz" wrap="square" lIns="0" tIns="72390" rIns="0" bIns="0" rtlCol="0">
            <a:spAutoFit/>
          </a:bodyPr>
          <a:lstStyle/>
          <a:p>
            <a:pPr marL="56515">
              <a:lnSpc>
                <a:spcPct val="100000"/>
              </a:lnSpc>
              <a:spcBef>
                <a:spcPts val="570"/>
              </a:spcBef>
            </a:pPr>
            <a:r>
              <a:rPr sz="700" spc="-10" dirty="0">
                <a:latin typeface="Consolas"/>
                <a:cs typeface="Consolas"/>
              </a:rPr>
              <a:t>TextInputControl</a:t>
            </a:r>
            <a:endParaRPr sz="700">
              <a:latin typeface="Consolas"/>
              <a:cs typeface="Consolas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4802504" y="315849"/>
            <a:ext cx="916940" cy="293370"/>
            <a:chOff x="4802504" y="315849"/>
            <a:chExt cx="916940" cy="293370"/>
          </a:xfrm>
        </p:grpSpPr>
        <p:sp>
          <p:nvSpPr>
            <p:cNvPr id="38" name="object 38"/>
            <p:cNvSpPr/>
            <p:nvPr/>
          </p:nvSpPr>
          <p:spPr>
            <a:xfrm>
              <a:off x="4812029" y="325374"/>
              <a:ext cx="897890" cy="274320"/>
            </a:xfrm>
            <a:custGeom>
              <a:avLst/>
              <a:gdLst/>
              <a:ahLst/>
              <a:cxnLst/>
              <a:rect l="l" t="t" r="r" b="b"/>
              <a:pathLst>
                <a:path w="897889" h="274320">
                  <a:moveTo>
                    <a:pt x="897636" y="0"/>
                  </a:moveTo>
                  <a:lnTo>
                    <a:pt x="0" y="0"/>
                  </a:lnTo>
                  <a:lnTo>
                    <a:pt x="0" y="274320"/>
                  </a:lnTo>
                  <a:lnTo>
                    <a:pt x="897636" y="274320"/>
                  </a:lnTo>
                  <a:lnTo>
                    <a:pt x="897636" y="0"/>
                  </a:lnTo>
                  <a:close/>
                </a:path>
              </a:pathLst>
            </a:custGeom>
            <a:solidFill>
              <a:srgbClr val="F9DA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4812029" y="325374"/>
              <a:ext cx="897890" cy="274320"/>
            </a:xfrm>
            <a:custGeom>
              <a:avLst/>
              <a:gdLst/>
              <a:ahLst/>
              <a:cxnLst/>
              <a:rect l="l" t="t" r="r" b="b"/>
              <a:pathLst>
                <a:path w="897889" h="274320">
                  <a:moveTo>
                    <a:pt x="0" y="274320"/>
                  </a:moveTo>
                  <a:lnTo>
                    <a:pt x="897636" y="274320"/>
                  </a:lnTo>
                  <a:lnTo>
                    <a:pt x="897636" y="0"/>
                  </a:lnTo>
                  <a:lnTo>
                    <a:pt x="0" y="0"/>
                  </a:lnTo>
                  <a:lnTo>
                    <a:pt x="0" y="274320"/>
                  </a:lnTo>
                  <a:close/>
                </a:path>
              </a:pathLst>
            </a:custGeom>
            <a:ln w="190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5065140" y="384759"/>
            <a:ext cx="40322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700" spc="-10" dirty="0">
                <a:latin typeface="Consolas"/>
                <a:cs typeface="Consolas"/>
              </a:rPr>
              <a:t>TextArea</a:t>
            </a:r>
            <a:endParaRPr sz="700">
              <a:latin typeface="Consolas"/>
              <a:cs typeface="Consolas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5812916" y="315849"/>
            <a:ext cx="916940" cy="293370"/>
            <a:chOff x="5812916" y="315849"/>
            <a:chExt cx="916940" cy="293370"/>
          </a:xfrm>
        </p:grpSpPr>
        <p:sp>
          <p:nvSpPr>
            <p:cNvPr id="42" name="object 42"/>
            <p:cNvSpPr/>
            <p:nvPr/>
          </p:nvSpPr>
          <p:spPr>
            <a:xfrm>
              <a:off x="5822441" y="325374"/>
              <a:ext cx="897890" cy="274320"/>
            </a:xfrm>
            <a:custGeom>
              <a:avLst/>
              <a:gdLst/>
              <a:ahLst/>
              <a:cxnLst/>
              <a:rect l="l" t="t" r="r" b="b"/>
              <a:pathLst>
                <a:path w="897890" h="274320">
                  <a:moveTo>
                    <a:pt x="897636" y="0"/>
                  </a:moveTo>
                  <a:lnTo>
                    <a:pt x="0" y="0"/>
                  </a:lnTo>
                  <a:lnTo>
                    <a:pt x="0" y="274320"/>
                  </a:lnTo>
                  <a:lnTo>
                    <a:pt x="897636" y="274320"/>
                  </a:lnTo>
                  <a:lnTo>
                    <a:pt x="897636" y="0"/>
                  </a:lnTo>
                  <a:close/>
                </a:path>
              </a:pathLst>
            </a:custGeom>
            <a:solidFill>
              <a:srgbClr val="F9DA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5822441" y="325374"/>
              <a:ext cx="897890" cy="274320"/>
            </a:xfrm>
            <a:custGeom>
              <a:avLst/>
              <a:gdLst/>
              <a:ahLst/>
              <a:cxnLst/>
              <a:rect l="l" t="t" r="r" b="b"/>
              <a:pathLst>
                <a:path w="897890" h="274320">
                  <a:moveTo>
                    <a:pt x="0" y="274320"/>
                  </a:moveTo>
                  <a:lnTo>
                    <a:pt x="897636" y="274320"/>
                  </a:lnTo>
                  <a:lnTo>
                    <a:pt x="897636" y="0"/>
                  </a:lnTo>
                  <a:lnTo>
                    <a:pt x="0" y="0"/>
                  </a:lnTo>
                  <a:lnTo>
                    <a:pt x="0" y="274320"/>
                  </a:lnTo>
                  <a:close/>
                </a:path>
              </a:pathLst>
            </a:custGeom>
            <a:ln w="190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6050534" y="384759"/>
            <a:ext cx="45212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700" spc="-10" dirty="0">
                <a:latin typeface="Consolas"/>
                <a:cs typeface="Consolas"/>
              </a:rPr>
              <a:t>TextField</a:t>
            </a:r>
            <a:endParaRPr sz="700">
              <a:latin typeface="Consolas"/>
              <a:cs typeface="Consolas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3726560" y="495680"/>
            <a:ext cx="915669" cy="293370"/>
            <a:chOff x="3726560" y="495680"/>
            <a:chExt cx="915669" cy="293370"/>
          </a:xfrm>
        </p:grpSpPr>
        <p:sp>
          <p:nvSpPr>
            <p:cNvPr id="46" name="object 46"/>
            <p:cNvSpPr/>
            <p:nvPr/>
          </p:nvSpPr>
          <p:spPr>
            <a:xfrm>
              <a:off x="3736085" y="505205"/>
              <a:ext cx="896619" cy="274320"/>
            </a:xfrm>
            <a:custGeom>
              <a:avLst/>
              <a:gdLst/>
              <a:ahLst/>
              <a:cxnLst/>
              <a:rect l="l" t="t" r="r" b="b"/>
              <a:pathLst>
                <a:path w="896620" h="274320">
                  <a:moveTo>
                    <a:pt x="896112" y="0"/>
                  </a:moveTo>
                  <a:lnTo>
                    <a:pt x="0" y="0"/>
                  </a:lnTo>
                  <a:lnTo>
                    <a:pt x="0" y="274320"/>
                  </a:lnTo>
                  <a:lnTo>
                    <a:pt x="896112" y="274320"/>
                  </a:lnTo>
                  <a:lnTo>
                    <a:pt x="896112" y="0"/>
                  </a:lnTo>
                  <a:close/>
                </a:path>
              </a:pathLst>
            </a:custGeom>
            <a:solidFill>
              <a:srgbClr val="F9DA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3736085" y="505205"/>
              <a:ext cx="896619" cy="274320"/>
            </a:xfrm>
            <a:custGeom>
              <a:avLst/>
              <a:gdLst/>
              <a:ahLst/>
              <a:cxnLst/>
              <a:rect l="l" t="t" r="r" b="b"/>
              <a:pathLst>
                <a:path w="896620" h="274320">
                  <a:moveTo>
                    <a:pt x="0" y="274320"/>
                  </a:moveTo>
                  <a:lnTo>
                    <a:pt x="896112" y="274320"/>
                  </a:lnTo>
                  <a:lnTo>
                    <a:pt x="896112" y="0"/>
                  </a:lnTo>
                  <a:lnTo>
                    <a:pt x="0" y="0"/>
                  </a:lnTo>
                  <a:lnTo>
                    <a:pt x="0" y="274320"/>
                  </a:lnTo>
                  <a:close/>
                </a:path>
              </a:pathLst>
            </a:custGeom>
            <a:ln w="190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" name="object 48"/>
          <p:cNvSpPr txBox="1"/>
          <p:nvPr/>
        </p:nvSpPr>
        <p:spPr>
          <a:xfrm>
            <a:off x="3736085" y="505205"/>
            <a:ext cx="896619" cy="274320"/>
          </a:xfrm>
          <a:prstGeom prst="rect">
            <a:avLst/>
          </a:prstGeom>
        </p:spPr>
        <p:txBody>
          <a:bodyPr vert="horz" wrap="square" lIns="0" tIns="72390" rIns="0" bIns="0" rtlCol="0">
            <a:spAutoFit/>
          </a:bodyPr>
          <a:lstStyle/>
          <a:p>
            <a:pPr marL="227329">
              <a:lnSpc>
                <a:spcPct val="100000"/>
              </a:lnSpc>
              <a:spcBef>
                <a:spcPts val="570"/>
              </a:spcBef>
            </a:pPr>
            <a:r>
              <a:rPr sz="700" spc="-10" dirty="0">
                <a:latin typeface="Consolas"/>
                <a:cs typeface="Consolas"/>
              </a:rPr>
              <a:t>ChoiceBox</a:t>
            </a:r>
            <a:endParaRPr sz="700">
              <a:latin typeface="Consolas"/>
              <a:cs typeface="Consolas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3726560" y="882777"/>
            <a:ext cx="915669" cy="292100"/>
            <a:chOff x="3726560" y="882777"/>
            <a:chExt cx="915669" cy="292100"/>
          </a:xfrm>
        </p:grpSpPr>
        <p:sp>
          <p:nvSpPr>
            <p:cNvPr id="50" name="object 50"/>
            <p:cNvSpPr/>
            <p:nvPr/>
          </p:nvSpPr>
          <p:spPr>
            <a:xfrm>
              <a:off x="3736085" y="892302"/>
              <a:ext cx="896619" cy="273050"/>
            </a:xfrm>
            <a:custGeom>
              <a:avLst/>
              <a:gdLst/>
              <a:ahLst/>
              <a:cxnLst/>
              <a:rect l="l" t="t" r="r" b="b"/>
              <a:pathLst>
                <a:path w="896620" h="273050">
                  <a:moveTo>
                    <a:pt x="896112" y="0"/>
                  </a:moveTo>
                  <a:lnTo>
                    <a:pt x="0" y="0"/>
                  </a:lnTo>
                  <a:lnTo>
                    <a:pt x="0" y="272796"/>
                  </a:lnTo>
                  <a:lnTo>
                    <a:pt x="896112" y="272796"/>
                  </a:lnTo>
                  <a:lnTo>
                    <a:pt x="896112" y="0"/>
                  </a:lnTo>
                  <a:close/>
                </a:path>
              </a:pathLst>
            </a:custGeom>
            <a:solidFill>
              <a:srgbClr val="F9DA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3736085" y="892302"/>
              <a:ext cx="896619" cy="273050"/>
            </a:xfrm>
            <a:custGeom>
              <a:avLst/>
              <a:gdLst/>
              <a:ahLst/>
              <a:cxnLst/>
              <a:rect l="l" t="t" r="r" b="b"/>
              <a:pathLst>
                <a:path w="896620" h="273050">
                  <a:moveTo>
                    <a:pt x="0" y="272796"/>
                  </a:moveTo>
                  <a:lnTo>
                    <a:pt x="896112" y="272796"/>
                  </a:lnTo>
                  <a:lnTo>
                    <a:pt x="896112" y="0"/>
                  </a:lnTo>
                  <a:lnTo>
                    <a:pt x="0" y="0"/>
                  </a:lnTo>
                  <a:lnTo>
                    <a:pt x="0" y="272796"/>
                  </a:lnTo>
                  <a:close/>
                </a:path>
              </a:pathLst>
            </a:custGeom>
            <a:ln w="190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3736085" y="892302"/>
            <a:ext cx="896619" cy="273050"/>
          </a:xfrm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L="154305">
              <a:lnSpc>
                <a:spcPct val="100000"/>
              </a:lnSpc>
              <a:spcBef>
                <a:spcPts val="560"/>
              </a:spcBef>
            </a:pPr>
            <a:r>
              <a:rPr sz="700" spc="-10" dirty="0">
                <a:latin typeface="Consolas"/>
                <a:cs typeface="Consolas"/>
              </a:rPr>
              <a:t>ComboBoxBase</a:t>
            </a:r>
            <a:endParaRPr sz="700">
              <a:latin typeface="Consolas"/>
              <a:cs typeface="Consolas"/>
            </a:endParaRPr>
          </a:p>
        </p:txBody>
      </p:sp>
      <p:grpSp>
        <p:nvGrpSpPr>
          <p:cNvPr id="53" name="object 53"/>
          <p:cNvGrpSpPr/>
          <p:nvPr/>
        </p:nvGrpSpPr>
        <p:grpSpPr>
          <a:xfrm>
            <a:off x="4802504" y="1086992"/>
            <a:ext cx="916940" cy="293370"/>
            <a:chOff x="4802504" y="1086992"/>
            <a:chExt cx="916940" cy="293370"/>
          </a:xfrm>
        </p:grpSpPr>
        <p:sp>
          <p:nvSpPr>
            <p:cNvPr id="54" name="object 54"/>
            <p:cNvSpPr/>
            <p:nvPr/>
          </p:nvSpPr>
          <p:spPr>
            <a:xfrm>
              <a:off x="4812029" y="1096517"/>
              <a:ext cx="897890" cy="274320"/>
            </a:xfrm>
            <a:custGeom>
              <a:avLst/>
              <a:gdLst/>
              <a:ahLst/>
              <a:cxnLst/>
              <a:rect l="l" t="t" r="r" b="b"/>
              <a:pathLst>
                <a:path w="897889" h="274319">
                  <a:moveTo>
                    <a:pt x="897636" y="0"/>
                  </a:moveTo>
                  <a:lnTo>
                    <a:pt x="0" y="0"/>
                  </a:lnTo>
                  <a:lnTo>
                    <a:pt x="0" y="274320"/>
                  </a:lnTo>
                  <a:lnTo>
                    <a:pt x="897636" y="274320"/>
                  </a:lnTo>
                  <a:lnTo>
                    <a:pt x="897636" y="0"/>
                  </a:lnTo>
                  <a:close/>
                </a:path>
              </a:pathLst>
            </a:custGeom>
            <a:solidFill>
              <a:srgbClr val="F9DA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4812029" y="1096517"/>
              <a:ext cx="897890" cy="274320"/>
            </a:xfrm>
            <a:custGeom>
              <a:avLst/>
              <a:gdLst/>
              <a:ahLst/>
              <a:cxnLst/>
              <a:rect l="l" t="t" r="r" b="b"/>
              <a:pathLst>
                <a:path w="897889" h="274319">
                  <a:moveTo>
                    <a:pt x="0" y="274320"/>
                  </a:moveTo>
                  <a:lnTo>
                    <a:pt x="897636" y="274320"/>
                  </a:lnTo>
                  <a:lnTo>
                    <a:pt x="897636" y="0"/>
                  </a:lnTo>
                  <a:lnTo>
                    <a:pt x="0" y="0"/>
                  </a:lnTo>
                  <a:lnTo>
                    <a:pt x="0" y="274320"/>
                  </a:lnTo>
                  <a:close/>
                </a:path>
              </a:pathLst>
            </a:custGeom>
            <a:ln w="190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6" name="object 56"/>
          <p:cNvSpPr txBox="1"/>
          <p:nvPr/>
        </p:nvSpPr>
        <p:spPr>
          <a:xfrm>
            <a:off x="4812029" y="1096517"/>
            <a:ext cx="897890" cy="274320"/>
          </a:xfrm>
          <a:prstGeom prst="rect">
            <a:avLst/>
          </a:prstGeom>
        </p:spPr>
        <p:txBody>
          <a:bodyPr vert="horz" wrap="square" lIns="0" tIns="72390" rIns="0" bIns="0" rtlCol="0">
            <a:spAutoFit/>
          </a:bodyPr>
          <a:lstStyle/>
          <a:p>
            <a:pPr marL="179705">
              <a:lnSpc>
                <a:spcPct val="100000"/>
              </a:lnSpc>
              <a:spcBef>
                <a:spcPts val="570"/>
              </a:spcBef>
            </a:pPr>
            <a:r>
              <a:rPr sz="700" spc="-10" dirty="0">
                <a:latin typeface="Consolas"/>
                <a:cs typeface="Consolas"/>
              </a:rPr>
              <a:t>ColorPicker</a:t>
            </a:r>
            <a:endParaRPr sz="700">
              <a:latin typeface="Consolas"/>
              <a:cs typeface="Consolas"/>
            </a:endParaRPr>
          </a:p>
        </p:txBody>
      </p:sp>
      <p:grpSp>
        <p:nvGrpSpPr>
          <p:cNvPr id="57" name="object 57"/>
          <p:cNvGrpSpPr/>
          <p:nvPr/>
        </p:nvGrpSpPr>
        <p:grpSpPr>
          <a:xfrm>
            <a:off x="5812916" y="1086992"/>
            <a:ext cx="916940" cy="293370"/>
            <a:chOff x="5812916" y="1086992"/>
            <a:chExt cx="916940" cy="293370"/>
          </a:xfrm>
        </p:grpSpPr>
        <p:sp>
          <p:nvSpPr>
            <p:cNvPr id="58" name="object 58"/>
            <p:cNvSpPr/>
            <p:nvPr/>
          </p:nvSpPr>
          <p:spPr>
            <a:xfrm>
              <a:off x="5822441" y="1096517"/>
              <a:ext cx="897890" cy="274320"/>
            </a:xfrm>
            <a:custGeom>
              <a:avLst/>
              <a:gdLst/>
              <a:ahLst/>
              <a:cxnLst/>
              <a:rect l="l" t="t" r="r" b="b"/>
              <a:pathLst>
                <a:path w="897890" h="274319">
                  <a:moveTo>
                    <a:pt x="897636" y="0"/>
                  </a:moveTo>
                  <a:lnTo>
                    <a:pt x="0" y="0"/>
                  </a:lnTo>
                  <a:lnTo>
                    <a:pt x="0" y="274320"/>
                  </a:lnTo>
                  <a:lnTo>
                    <a:pt x="897636" y="274320"/>
                  </a:lnTo>
                  <a:lnTo>
                    <a:pt x="897636" y="0"/>
                  </a:lnTo>
                  <a:close/>
                </a:path>
              </a:pathLst>
            </a:custGeom>
            <a:solidFill>
              <a:srgbClr val="F9DA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5822441" y="1096517"/>
              <a:ext cx="897890" cy="274320"/>
            </a:xfrm>
            <a:custGeom>
              <a:avLst/>
              <a:gdLst/>
              <a:ahLst/>
              <a:cxnLst/>
              <a:rect l="l" t="t" r="r" b="b"/>
              <a:pathLst>
                <a:path w="897890" h="274319">
                  <a:moveTo>
                    <a:pt x="0" y="274320"/>
                  </a:moveTo>
                  <a:lnTo>
                    <a:pt x="897636" y="274320"/>
                  </a:lnTo>
                  <a:lnTo>
                    <a:pt x="897636" y="0"/>
                  </a:lnTo>
                  <a:lnTo>
                    <a:pt x="0" y="0"/>
                  </a:lnTo>
                  <a:lnTo>
                    <a:pt x="0" y="274320"/>
                  </a:lnTo>
                  <a:close/>
                </a:path>
              </a:pathLst>
            </a:custGeom>
            <a:ln w="190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0" name="object 60"/>
          <p:cNvSpPr txBox="1"/>
          <p:nvPr/>
        </p:nvSpPr>
        <p:spPr>
          <a:xfrm>
            <a:off x="5822441" y="1096517"/>
            <a:ext cx="897890" cy="274320"/>
          </a:xfrm>
          <a:prstGeom prst="rect">
            <a:avLst/>
          </a:prstGeom>
        </p:spPr>
        <p:txBody>
          <a:bodyPr vert="horz" wrap="square" lIns="0" tIns="72390" rIns="0" bIns="0" rtlCol="0">
            <a:spAutoFit/>
          </a:bodyPr>
          <a:lstStyle/>
          <a:p>
            <a:pPr marL="252095">
              <a:lnSpc>
                <a:spcPct val="100000"/>
              </a:lnSpc>
              <a:spcBef>
                <a:spcPts val="570"/>
              </a:spcBef>
            </a:pPr>
            <a:r>
              <a:rPr sz="700" spc="-10" dirty="0">
                <a:latin typeface="Consolas"/>
                <a:cs typeface="Consolas"/>
              </a:rPr>
              <a:t>ComboBox</a:t>
            </a:r>
            <a:endParaRPr sz="700">
              <a:latin typeface="Consolas"/>
              <a:cs typeface="Consolas"/>
            </a:endParaRPr>
          </a:p>
        </p:txBody>
      </p:sp>
      <p:grpSp>
        <p:nvGrpSpPr>
          <p:cNvPr id="61" name="object 61"/>
          <p:cNvGrpSpPr/>
          <p:nvPr/>
        </p:nvGrpSpPr>
        <p:grpSpPr>
          <a:xfrm>
            <a:off x="3726560" y="1268349"/>
            <a:ext cx="915669" cy="292100"/>
            <a:chOff x="3726560" y="1268349"/>
            <a:chExt cx="915669" cy="292100"/>
          </a:xfrm>
        </p:grpSpPr>
        <p:sp>
          <p:nvSpPr>
            <p:cNvPr id="62" name="object 62"/>
            <p:cNvSpPr/>
            <p:nvPr/>
          </p:nvSpPr>
          <p:spPr>
            <a:xfrm>
              <a:off x="3736085" y="1277874"/>
              <a:ext cx="896619" cy="273050"/>
            </a:xfrm>
            <a:custGeom>
              <a:avLst/>
              <a:gdLst/>
              <a:ahLst/>
              <a:cxnLst/>
              <a:rect l="l" t="t" r="r" b="b"/>
              <a:pathLst>
                <a:path w="896620" h="273050">
                  <a:moveTo>
                    <a:pt x="896112" y="0"/>
                  </a:moveTo>
                  <a:lnTo>
                    <a:pt x="0" y="0"/>
                  </a:lnTo>
                  <a:lnTo>
                    <a:pt x="0" y="272796"/>
                  </a:lnTo>
                  <a:lnTo>
                    <a:pt x="896112" y="272796"/>
                  </a:lnTo>
                  <a:lnTo>
                    <a:pt x="896112" y="0"/>
                  </a:lnTo>
                  <a:close/>
                </a:path>
              </a:pathLst>
            </a:custGeom>
            <a:solidFill>
              <a:srgbClr val="F9DA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3736085" y="1277874"/>
              <a:ext cx="896619" cy="273050"/>
            </a:xfrm>
            <a:custGeom>
              <a:avLst/>
              <a:gdLst/>
              <a:ahLst/>
              <a:cxnLst/>
              <a:rect l="l" t="t" r="r" b="b"/>
              <a:pathLst>
                <a:path w="896620" h="273050">
                  <a:moveTo>
                    <a:pt x="0" y="272796"/>
                  </a:moveTo>
                  <a:lnTo>
                    <a:pt x="896112" y="272796"/>
                  </a:lnTo>
                  <a:lnTo>
                    <a:pt x="896112" y="0"/>
                  </a:lnTo>
                  <a:lnTo>
                    <a:pt x="0" y="0"/>
                  </a:lnTo>
                  <a:lnTo>
                    <a:pt x="0" y="272796"/>
                  </a:lnTo>
                  <a:close/>
                </a:path>
              </a:pathLst>
            </a:custGeom>
            <a:ln w="190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4" name="object 64"/>
          <p:cNvSpPr txBox="1"/>
          <p:nvPr/>
        </p:nvSpPr>
        <p:spPr>
          <a:xfrm>
            <a:off x="3736085" y="1277874"/>
            <a:ext cx="896619" cy="273050"/>
          </a:xfrm>
          <a:prstGeom prst="rect">
            <a:avLst/>
          </a:prstGeom>
        </p:spPr>
        <p:txBody>
          <a:bodyPr vert="horz" wrap="square" lIns="0" tIns="71755" rIns="0" bIns="0" rtlCol="0">
            <a:spAutoFit/>
          </a:bodyPr>
          <a:lstStyle/>
          <a:p>
            <a:pPr marL="251460">
              <a:lnSpc>
                <a:spcPct val="100000"/>
              </a:lnSpc>
              <a:spcBef>
                <a:spcPts val="565"/>
              </a:spcBef>
            </a:pPr>
            <a:r>
              <a:rPr sz="700" spc="-10" dirty="0">
                <a:latin typeface="Consolas"/>
                <a:cs typeface="Consolas"/>
              </a:rPr>
              <a:t>ListView</a:t>
            </a:r>
            <a:endParaRPr sz="700">
              <a:latin typeface="Consolas"/>
              <a:cs typeface="Consolas"/>
            </a:endParaRPr>
          </a:p>
        </p:txBody>
      </p:sp>
      <p:grpSp>
        <p:nvGrpSpPr>
          <p:cNvPr id="65" name="object 65"/>
          <p:cNvGrpSpPr/>
          <p:nvPr/>
        </p:nvGrpSpPr>
        <p:grpSpPr>
          <a:xfrm>
            <a:off x="3726560" y="1653920"/>
            <a:ext cx="915669" cy="293370"/>
            <a:chOff x="3726560" y="1653920"/>
            <a:chExt cx="915669" cy="293370"/>
          </a:xfrm>
        </p:grpSpPr>
        <p:sp>
          <p:nvSpPr>
            <p:cNvPr id="66" name="object 66"/>
            <p:cNvSpPr/>
            <p:nvPr/>
          </p:nvSpPr>
          <p:spPr>
            <a:xfrm>
              <a:off x="3736085" y="1663445"/>
              <a:ext cx="896619" cy="274320"/>
            </a:xfrm>
            <a:custGeom>
              <a:avLst/>
              <a:gdLst/>
              <a:ahLst/>
              <a:cxnLst/>
              <a:rect l="l" t="t" r="r" b="b"/>
              <a:pathLst>
                <a:path w="896620" h="274319">
                  <a:moveTo>
                    <a:pt x="896112" y="0"/>
                  </a:moveTo>
                  <a:lnTo>
                    <a:pt x="0" y="0"/>
                  </a:lnTo>
                  <a:lnTo>
                    <a:pt x="0" y="274320"/>
                  </a:lnTo>
                  <a:lnTo>
                    <a:pt x="896112" y="274320"/>
                  </a:lnTo>
                  <a:lnTo>
                    <a:pt x="896112" y="0"/>
                  </a:lnTo>
                  <a:close/>
                </a:path>
              </a:pathLst>
            </a:custGeom>
            <a:solidFill>
              <a:srgbClr val="F9DA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3736085" y="1663445"/>
              <a:ext cx="896619" cy="274320"/>
            </a:xfrm>
            <a:custGeom>
              <a:avLst/>
              <a:gdLst/>
              <a:ahLst/>
              <a:cxnLst/>
              <a:rect l="l" t="t" r="r" b="b"/>
              <a:pathLst>
                <a:path w="896620" h="274319">
                  <a:moveTo>
                    <a:pt x="0" y="274320"/>
                  </a:moveTo>
                  <a:lnTo>
                    <a:pt x="896112" y="274320"/>
                  </a:lnTo>
                  <a:lnTo>
                    <a:pt x="896112" y="0"/>
                  </a:lnTo>
                  <a:lnTo>
                    <a:pt x="0" y="0"/>
                  </a:lnTo>
                  <a:lnTo>
                    <a:pt x="0" y="274320"/>
                  </a:lnTo>
                  <a:close/>
                </a:path>
              </a:pathLst>
            </a:custGeom>
            <a:ln w="190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8" name="object 68"/>
          <p:cNvSpPr txBox="1"/>
          <p:nvPr/>
        </p:nvSpPr>
        <p:spPr>
          <a:xfrm>
            <a:off x="3736085" y="1663445"/>
            <a:ext cx="896619" cy="274320"/>
          </a:xfrm>
          <a:prstGeom prst="rect">
            <a:avLst/>
          </a:prstGeom>
        </p:spPr>
        <p:txBody>
          <a:bodyPr vert="horz" wrap="square" lIns="0" tIns="72390" rIns="0" bIns="0" rtlCol="0">
            <a:spAutoFit/>
          </a:bodyPr>
          <a:lstStyle/>
          <a:p>
            <a:pPr marL="276225">
              <a:lnSpc>
                <a:spcPct val="100000"/>
              </a:lnSpc>
              <a:spcBef>
                <a:spcPts val="570"/>
              </a:spcBef>
            </a:pPr>
            <a:r>
              <a:rPr sz="700" spc="-10" dirty="0">
                <a:latin typeface="Consolas"/>
                <a:cs typeface="Consolas"/>
              </a:rPr>
              <a:t>MenuBar</a:t>
            </a:r>
            <a:endParaRPr sz="700">
              <a:latin typeface="Consolas"/>
              <a:cs typeface="Consolas"/>
            </a:endParaRPr>
          </a:p>
        </p:txBody>
      </p:sp>
      <p:grpSp>
        <p:nvGrpSpPr>
          <p:cNvPr id="69" name="object 69"/>
          <p:cNvGrpSpPr/>
          <p:nvPr/>
        </p:nvGrpSpPr>
        <p:grpSpPr>
          <a:xfrm>
            <a:off x="3726560" y="2039492"/>
            <a:ext cx="915669" cy="293370"/>
            <a:chOff x="3726560" y="2039492"/>
            <a:chExt cx="915669" cy="293370"/>
          </a:xfrm>
        </p:grpSpPr>
        <p:sp>
          <p:nvSpPr>
            <p:cNvPr id="70" name="object 70"/>
            <p:cNvSpPr/>
            <p:nvPr/>
          </p:nvSpPr>
          <p:spPr>
            <a:xfrm>
              <a:off x="3736085" y="2049017"/>
              <a:ext cx="896619" cy="274320"/>
            </a:xfrm>
            <a:custGeom>
              <a:avLst/>
              <a:gdLst/>
              <a:ahLst/>
              <a:cxnLst/>
              <a:rect l="l" t="t" r="r" b="b"/>
              <a:pathLst>
                <a:path w="896620" h="274319">
                  <a:moveTo>
                    <a:pt x="896112" y="0"/>
                  </a:moveTo>
                  <a:lnTo>
                    <a:pt x="0" y="0"/>
                  </a:lnTo>
                  <a:lnTo>
                    <a:pt x="0" y="274320"/>
                  </a:lnTo>
                  <a:lnTo>
                    <a:pt x="896112" y="274320"/>
                  </a:lnTo>
                  <a:lnTo>
                    <a:pt x="896112" y="0"/>
                  </a:lnTo>
                  <a:close/>
                </a:path>
              </a:pathLst>
            </a:custGeom>
            <a:solidFill>
              <a:srgbClr val="F9DA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3736085" y="2049017"/>
              <a:ext cx="896619" cy="274320"/>
            </a:xfrm>
            <a:custGeom>
              <a:avLst/>
              <a:gdLst/>
              <a:ahLst/>
              <a:cxnLst/>
              <a:rect l="l" t="t" r="r" b="b"/>
              <a:pathLst>
                <a:path w="896620" h="274319">
                  <a:moveTo>
                    <a:pt x="0" y="274320"/>
                  </a:moveTo>
                  <a:lnTo>
                    <a:pt x="896112" y="274320"/>
                  </a:lnTo>
                  <a:lnTo>
                    <a:pt x="896112" y="0"/>
                  </a:lnTo>
                  <a:lnTo>
                    <a:pt x="0" y="0"/>
                  </a:lnTo>
                  <a:lnTo>
                    <a:pt x="0" y="274320"/>
                  </a:lnTo>
                  <a:close/>
                </a:path>
              </a:pathLst>
            </a:custGeom>
            <a:ln w="190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2" name="object 72"/>
          <p:cNvSpPr txBox="1"/>
          <p:nvPr/>
        </p:nvSpPr>
        <p:spPr>
          <a:xfrm>
            <a:off x="3736085" y="2049017"/>
            <a:ext cx="896619" cy="274320"/>
          </a:xfrm>
          <a:prstGeom prst="rect">
            <a:avLst/>
          </a:prstGeom>
        </p:spPr>
        <p:txBody>
          <a:bodyPr vert="horz" wrap="square" lIns="0" tIns="72390" rIns="0" bIns="0" rtlCol="0">
            <a:spAutoFit/>
          </a:bodyPr>
          <a:lstStyle/>
          <a:p>
            <a:pPr marL="227329">
              <a:lnSpc>
                <a:spcPct val="100000"/>
              </a:lnSpc>
              <a:spcBef>
                <a:spcPts val="570"/>
              </a:spcBef>
            </a:pPr>
            <a:r>
              <a:rPr sz="700" spc="-10" dirty="0">
                <a:latin typeface="Consolas"/>
                <a:cs typeface="Consolas"/>
              </a:rPr>
              <a:t>Separator</a:t>
            </a:r>
            <a:endParaRPr sz="700">
              <a:latin typeface="Consolas"/>
              <a:cs typeface="Consolas"/>
            </a:endParaRPr>
          </a:p>
        </p:txBody>
      </p:sp>
      <p:grpSp>
        <p:nvGrpSpPr>
          <p:cNvPr id="73" name="object 73"/>
          <p:cNvGrpSpPr/>
          <p:nvPr/>
        </p:nvGrpSpPr>
        <p:grpSpPr>
          <a:xfrm>
            <a:off x="3726560" y="2426589"/>
            <a:ext cx="915669" cy="292100"/>
            <a:chOff x="3726560" y="2426589"/>
            <a:chExt cx="915669" cy="292100"/>
          </a:xfrm>
        </p:grpSpPr>
        <p:sp>
          <p:nvSpPr>
            <p:cNvPr id="74" name="object 74"/>
            <p:cNvSpPr/>
            <p:nvPr/>
          </p:nvSpPr>
          <p:spPr>
            <a:xfrm>
              <a:off x="3736085" y="2436114"/>
              <a:ext cx="896619" cy="273050"/>
            </a:xfrm>
            <a:custGeom>
              <a:avLst/>
              <a:gdLst/>
              <a:ahLst/>
              <a:cxnLst/>
              <a:rect l="l" t="t" r="r" b="b"/>
              <a:pathLst>
                <a:path w="896620" h="273050">
                  <a:moveTo>
                    <a:pt x="896112" y="0"/>
                  </a:moveTo>
                  <a:lnTo>
                    <a:pt x="0" y="0"/>
                  </a:lnTo>
                  <a:lnTo>
                    <a:pt x="0" y="272796"/>
                  </a:lnTo>
                  <a:lnTo>
                    <a:pt x="896112" y="272796"/>
                  </a:lnTo>
                  <a:lnTo>
                    <a:pt x="896112" y="0"/>
                  </a:lnTo>
                  <a:close/>
                </a:path>
              </a:pathLst>
            </a:custGeom>
            <a:solidFill>
              <a:srgbClr val="F9DA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3736085" y="2436114"/>
              <a:ext cx="896619" cy="273050"/>
            </a:xfrm>
            <a:custGeom>
              <a:avLst/>
              <a:gdLst/>
              <a:ahLst/>
              <a:cxnLst/>
              <a:rect l="l" t="t" r="r" b="b"/>
              <a:pathLst>
                <a:path w="896620" h="273050">
                  <a:moveTo>
                    <a:pt x="0" y="272796"/>
                  </a:moveTo>
                  <a:lnTo>
                    <a:pt x="896112" y="272796"/>
                  </a:lnTo>
                  <a:lnTo>
                    <a:pt x="896112" y="0"/>
                  </a:lnTo>
                  <a:lnTo>
                    <a:pt x="0" y="0"/>
                  </a:lnTo>
                  <a:lnTo>
                    <a:pt x="0" y="272796"/>
                  </a:lnTo>
                  <a:close/>
                </a:path>
              </a:pathLst>
            </a:custGeom>
            <a:ln w="190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6" name="object 76"/>
          <p:cNvSpPr txBox="1"/>
          <p:nvPr/>
        </p:nvSpPr>
        <p:spPr>
          <a:xfrm>
            <a:off x="3736085" y="2436114"/>
            <a:ext cx="896619" cy="273050"/>
          </a:xfrm>
          <a:prstGeom prst="rect">
            <a:avLst/>
          </a:prstGeom>
        </p:spPr>
        <p:txBody>
          <a:bodyPr vert="horz" wrap="square" lIns="0" tIns="7175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65"/>
              </a:spcBef>
            </a:pPr>
            <a:r>
              <a:rPr sz="700" spc="-10" dirty="0">
                <a:latin typeface="Consolas"/>
                <a:cs typeface="Consolas"/>
              </a:rPr>
              <a:t>Slider</a:t>
            </a:r>
            <a:endParaRPr sz="700">
              <a:latin typeface="Consolas"/>
              <a:cs typeface="Consolas"/>
            </a:endParaRPr>
          </a:p>
        </p:txBody>
      </p:sp>
      <p:grpSp>
        <p:nvGrpSpPr>
          <p:cNvPr id="77" name="object 77"/>
          <p:cNvGrpSpPr/>
          <p:nvPr/>
        </p:nvGrpSpPr>
        <p:grpSpPr>
          <a:xfrm>
            <a:off x="3726560" y="2812160"/>
            <a:ext cx="915669" cy="292100"/>
            <a:chOff x="3726560" y="2812160"/>
            <a:chExt cx="915669" cy="292100"/>
          </a:xfrm>
        </p:grpSpPr>
        <p:sp>
          <p:nvSpPr>
            <p:cNvPr id="78" name="object 78"/>
            <p:cNvSpPr/>
            <p:nvPr/>
          </p:nvSpPr>
          <p:spPr>
            <a:xfrm>
              <a:off x="3736085" y="2821685"/>
              <a:ext cx="896619" cy="273050"/>
            </a:xfrm>
            <a:custGeom>
              <a:avLst/>
              <a:gdLst/>
              <a:ahLst/>
              <a:cxnLst/>
              <a:rect l="l" t="t" r="r" b="b"/>
              <a:pathLst>
                <a:path w="896620" h="273050">
                  <a:moveTo>
                    <a:pt x="896112" y="0"/>
                  </a:moveTo>
                  <a:lnTo>
                    <a:pt x="0" y="0"/>
                  </a:lnTo>
                  <a:lnTo>
                    <a:pt x="0" y="272796"/>
                  </a:lnTo>
                  <a:lnTo>
                    <a:pt x="896112" y="272796"/>
                  </a:lnTo>
                  <a:lnTo>
                    <a:pt x="896112" y="0"/>
                  </a:lnTo>
                  <a:close/>
                </a:path>
              </a:pathLst>
            </a:custGeom>
            <a:solidFill>
              <a:srgbClr val="F9DA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3736085" y="2821685"/>
              <a:ext cx="896619" cy="273050"/>
            </a:xfrm>
            <a:custGeom>
              <a:avLst/>
              <a:gdLst/>
              <a:ahLst/>
              <a:cxnLst/>
              <a:rect l="l" t="t" r="r" b="b"/>
              <a:pathLst>
                <a:path w="896620" h="273050">
                  <a:moveTo>
                    <a:pt x="0" y="272796"/>
                  </a:moveTo>
                  <a:lnTo>
                    <a:pt x="896112" y="272796"/>
                  </a:lnTo>
                  <a:lnTo>
                    <a:pt x="896112" y="0"/>
                  </a:lnTo>
                  <a:lnTo>
                    <a:pt x="0" y="0"/>
                  </a:lnTo>
                  <a:lnTo>
                    <a:pt x="0" y="272796"/>
                  </a:lnTo>
                  <a:close/>
                </a:path>
              </a:pathLst>
            </a:custGeom>
            <a:ln w="190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0" name="object 80"/>
          <p:cNvSpPr txBox="1"/>
          <p:nvPr/>
        </p:nvSpPr>
        <p:spPr>
          <a:xfrm>
            <a:off x="3736085" y="2821685"/>
            <a:ext cx="896619" cy="273050"/>
          </a:xfrm>
          <a:prstGeom prst="rect">
            <a:avLst/>
          </a:prstGeom>
        </p:spPr>
        <p:txBody>
          <a:bodyPr vert="horz" wrap="square" lIns="0" tIns="71755" rIns="0" bIns="0" rtlCol="0">
            <a:spAutoFit/>
          </a:bodyPr>
          <a:lstStyle/>
          <a:p>
            <a:pPr marL="276225">
              <a:lnSpc>
                <a:spcPct val="100000"/>
              </a:lnSpc>
              <a:spcBef>
                <a:spcPts val="565"/>
              </a:spcBef>
            </a:pPr>
            <a:r>
              <a:rPr sz="700" spc="-10" dirty="0">
                <a:latin typeface="Consolas"/>
                <a:cs typeface="Consolas"/>
              </a:rPr>
              <a:t>TabPane</a:t>
            </a:r>
            <a:endParaRPr sz="700">
              <a:latin typeface="Consolas"/>
              <a:cs typeface="Consolas"/>
            </a:endParaRPr>
          </a:p>
        </p:txBody>
      </p:sp>
      <p:grpSp>
        <p:nvGrpSpPr>
          <p:cNvPr id="81" name="object 81"/>
          <p:cNvGrpSpPr/>
          <p:nvPr/>
        </p:nvGrpSpPr>
        <p:grpSpPr>
          <a:xfrm>
            <a:off x="3726560" y="3197732"/>
            <a:ext cx="915669" cy="293370"/>
            <a:chOff x="3726560" y="3197732"/>
            <a:chExt cx="915669" cy="293370"/>
          </a:xfrm>
        </p:grpSpPr>
        <p:sp>
          <p:nvSpPr>
            <p:cNvPr id="82" name="object 82"/>
            <p:cNvSpPr/>
            <p:nvPr/>
          </p:nvSpPr>
          <p:spPr>
            <a:xfrm>
              <a:off x="3736085" y="3207257"/>
              <a:ext cx="896619" cy="274320"/>
            </a:xfrm>
            <a:custGeom>
              <a:avLst/>
              <a:gdLst/>
              <a:ahLst/>
              <a:cxnLst/>
              <a:rect l="l" t="t" r="r" b="b"/>
              <a:pathLst>
                <a:path w="896620" h="274320">
                  <a:moveTo>
                    <a:pt x="896112" y="0"/>
                  </a:moveTo>
                  <a:lnTo>
                    <a:pt x="0" y="0"/>
                  </a:lnTo>
                  <a:lnTo>
                    <a:pt x="0" y="274320"/>
                  </a:lnTo>
                  <a:lnTo>
                    <a:pt x="896112" y="274320"/>
                  </a:lnTo>
                  <a:lnTo>
                    <a:pt x="896112" y="0"/>
                  </a:lnTo>
                  <a:close/>
                </a:path>
              </a:pathLst>
            </a:custGeom>
            <a:solidFill>
              <a:srgbClr val="F9DA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3736085" y="3207257"/>
              <a:ext cx="896619" cy="274320"/>
            </a:xfrm>
            <a:custGeom>
              <a:avLst/>
              <a:gdLst/>
              <a:ahLst/>
              <a:cxnLst/>
              <a:rect l="l" t="t" r="r" b="b"/>
              <a:pathLst>
                <a:path w="896620" h="274320">
                  <a:moveTo>
                    <a:pt x="0" y="274320"/>
                  </a:moveTo>
                  <a:lnTo>
                    <a:pt x="896112" y="274320"/>
                  </a:lnTo>
                  <a:lnTo>
                    <a:pt x="896112" y="0"/>
                  </a:lnTo>
                  <a:lnTo>
                    <a:pt x="0" y="0"/>
                  </a:lnTo>
                  <a:lnTo>
                    <a:pt x="0" y="274320"/>
                  </a:lnTo>
                  <a:close/>
                </a:path>
              </a:pathLst>
            </a:custGeom>
            <a:ln w="190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4" name="object 84"/>
          <p:cNvSpPr txBox="1"/>
          <p:nvPr/>
        </p:nvSpPr>
        <p:spPr>
          <a:xfrm>
            <a:off x="3736085" y="3207257"/>
            <a:ext cx="896619" cy="274320"/>
          </a:xfrm>
          <a:prstGeom prst="rect">
            <a:avLst/>
          </a:prstGeom>
        </p:spPr>
        <p:txBody>
          <a:bodyPr vert="horz" wrap="square" lIns="0" tIns="72390" rIns="0" bIns="0" rtlCol="0">
            <a:spAutoFit/>
          </a:bodyPr>
          <a:lstStyle/>
          <a:p>
            <a:pPr marL="276225">
              <a:lnSpc>
                <a:spcPct val="100000"/>
              </a:lnSpc>
              <a:spcBef>
                <a:spcPts val="570"/>
              </a:spcBef>
            </a:pPr>
            <a:r>
              <a:rPr sz="700" spc="-10" dirty="0">
                <a:latin typeface="Consolas"/>
                <a:cs typeface="Consolas"/>
              </a:rPr>
              <a:t>ToolBar</a:t>
            </a:r>
            <a:endParaRPr sz="700">
              <a:latin typeface="Consolas"/>
              <a:cs typeface="Consolas"/>
            </a:endParaRPr>
          </a:p>
        </p:txBody>
      </p:sp>
      <p:grpSp>
        <p:nvGrpSpPr>
          <p:cNvPr id="85" name="object 85"/>
          <p:cNvGrpSpPr/>
          <p:nvPr/>
        </p:nvGrpSpPr>
        <p:grpSpPr>
          <a:xfrm>
            <a:off x="3726560" y="3583304"/>
            <a:ext cx="915669" cy="293370"/>
            <a:chOff x="3726560" y="3583304"/>
            <a:chExt cx="915669" cy="293370"/>
          </a:xfrm>
        </p:grpSpPr>
        <p:sp>
          <p:nvSpPr>
            <p:cNvPr id="86" name="object 86"/>
            <p:cNvSpPr/>
            <p:nvPr/>
          </p:nvSpPr>
          <p:spPr>
            <a:xfrm>
              <a:off x="3736085" y="3592829"/>
              <a:ext cx="896619" cy="274320"/>
            </a:xfrm>
            <a:custGeom>
              <a:avLst/>
              <a:gdLst/>
              <a:ahLst/>
              <a:cxnLst/>
              <a:rect l="l" t="t" r="r" b="b"/>
              <a:pathLst>
                <a:path w="896620" h="274320">
                  <a:moveTo>
                    <a:pt x="896112" y="0"/>
                  </a:moveTo>
                  <a:lnTo>
                    <a:pt x="0" y="0"/>
                  </a:lnTo>
                  <a:lnTo>
                    <a:pt x="0" y="274320"/>
                  </a:lnTo>
                  <a:lnTo>
                    <a:pt x="896112" y="274320"/>
                  </a:lnTo>
                  <a:lnTo>
                    <a:pt x="896112" y="0"/>
                  </a:lnTo>
                  <a:close/>
                </a:path>
              </a:pathLst>
            </a:custGeom>
            <a:solidFill>
              <a:srgbClr val="F9DA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3736085" y="3592829"/>
              <a:ext cx="896619" cy="274320"/>
            </a:xfrm>
            <a:custGeom>
              <a:avLst/>
              <a:gdLst/>
              <a:ahLst/>
              <a:cxnLst/>
              <a:rect l="l" t="t" r="r" b="b"/>
              <a:pathLst>
                <a:path w="896620" h="274320">
                  <a:moveTo>
                    <a:pt x="0" y="274320"/>
                  </a:moveTo>
                  <a:lnTo>
                    <a:pt x="896112" y="274320"/>
                  </a:lnTo>
                  <a:lnTo>
                    <a:pt x="896112" y="0"/>
                  </a:lnTo>
                  <a:lnTo>
                    <a:pt x="0" y="0"/>
                  </a:lnTo>
                  <a:lnTo>
                    <a:pt x="0" y="274320"/>
                  </a:lnTo>
                  <a:close/>
                </a:path>
              </a:pathLst>
            </a:custGeom>
            <a:ln w="190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8" name="object 88"/>
          <p:cNvSpPr txBox="1"/>
          <p:nvPr/>
        </p:nvSpPr>
        <p:spPr>
          <a:xfrm>
            <a:off x="3736085" y="3592829"/>
            <a:ext cx="896619" cy="274320"/>
          </a:xfrm>
          <a:prstGeom prst="rect">
            <a:avLst/>
          </a:prstGeom>
        </p:spPr>
        <p:txBody>
          <a:bodyPr vert="horz" wrap="square" lIns="0" tIns="72390" rIns="0" bIns="0" rtlCol="0">
            <a:spAutoFit/>
          </a:bodyPr>
          <a:lstStyle/>
          <a:p>
            <a:pPr marL="276225">
              <a:lnSpc>
                <a:spcPct val="100000"/>
              </a:lnSpc>
              <a:spcBef>
                <a:spcPts val="570"/>
              </a:spcBef>
            </a:pPr>
            <a:r>
              <a:rPr sz="700" spc="-10" dirty="0">
                <a:latin typeface="Consolas"/>
                <a:cs typeface="Consolas"/>
              </a:rPr>
              <a:t>Labeled</a:t>
            </a:r>
            <a:endParaRPr sz="700">
              <a:latin typeface="Consolas"/>
              <a:cs typeface="Consolas"/>
            </a:endParaRPr>
          </a:p>
        </p:txBody>
      </p:sp>
      <p:grpSp>
        <p:nvGrpSpPr>
          <p:cNvPr id="89" name="object 89"/>
          <p:cNvGrpSpPr/>
          <p:nvPr/>
        </p:nvGrpSpPr>
        <p:grpSpPr>
          <a:xfrm>
            <a:off x="4802504" y="3197732"/>
            <a:ext cx="916940" cy="293370"/>
            <a:chOff x="4802504" y="3197732"/>
            <a:chExt cx="916940" cy="293370"/>
          </a:xfrm>
        </p:grpSpPr>
        <p:sp>
          <p:nvSpPr>
            <p:cNvPr id="90" name="object 90"/>
            <p:cNvSpPr/>
            <p:nvPr/>
          </p:nvSpPr>
          <p:spPr>
            <a:xfrm>
              <a:off x="4812029" y="3207257"/>
              <a:ext cx="897890" cy="274320"/>
            </a:xfrm>
            <a:custGeom>
              <a:avLst/>
              <a:gdLst/>
              <a:ahLst/>
              <a:cxnLst/>
              <a:rect l="l" t="t" r="r" b="b"/>
              <a:pathLst>
                <a:path w="897889" h="274320">
                  <a:moveTo>
                    <a:pt x="897636" y="0"/>
                  </a:moveTo>
                  <a:lnTo>
                    <a:pt x="0" y="0"/>
                  </a:lnTo>
                  <a:lnTo>
                    <a:pt x="0" y="274320"/>
                  </a:lnTo>
                  <a:lnTo>
                    <a:pt x="897636" y="274320"/>
                  </a:lnTo>
                  <a:lnTo>
                    <a:pt x="897636" y="0"/>
                  </a:lnTo>
                  <a:close/>
                </a:path>
              </a:pathLst>
            </a:custGeom>
            <a:solidFill>
              <a:srgbClr val="F9DA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4812029" y="3207257"/>
              <a:ext cx="897890" cy="274320"/>
            </a:xfrm>
            <a:custGeom>
              <a:avLst/>
              <a:gdLst/>
              <a:ahLst/>
              <a:cxnLst/>
              <a:rect l="l" t="t" r="r" b="b"/>
              <a:pathLst>
                <a:path w="897889" h="274320">
                  <a:moveTo>
                    <a:pt x="0" y="274320"/>
                  </a:moveTo>
                  <a:lnTo>
                    <a:pt x="897636" y="274320"/>
                  </a:lnTo>
                  <a:lnTo>
                    <a:pt x="897636" y="0"/>
                  </a:lnTo>
                  <a:lnTo>
                    <a:pt x="0" y="0"/>
                  </a:lnTo>
                  <a:lnTo>
                    <a:pt x="0" y="274320"/>
                  </a:lnTo>
                  <a:close/>
                </a:path>
              </a:pathLst>
            </a:custGeom>
            <a:ln w="190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2" name="object 92"/>
          <p:cNvSpPr txBox="1"/>
          <p:nvPr/>
        </p:nvSpPr>
        <p:spPr>
          <a:xfrm>
            <a:off x="4812029" y="3207257"/>
            <a:ext cx="897890" cy="274320"/>
          </a:xfrm>
          <a:prstGeom prst="rect">
            <a:avLst/>
          </a:prstGeom>
        </p:spPr>
        <p:txBody>
          <a:bodyPr vert="horz" wrap="square" lIns="0" tIns="72390" rIns="0" bIns="0" rtlCol="0">
            <a:spAutoFit/>
          </a:bodyPr>
          <a:lstStyle/>
          <a:p>
            <a:pPr marL="203835">
              <a:lnSpc>
                <a:spcPct val="100000"/>
              </a:lnSpc>
              <a:spcBef>
                <a:spcPts val="570"/>
              </a:spcBef>
            </a:pPr>
            <a:r>
              <a:rPr sz="700" spc="-10" dirty="0">
                <a:latin typeface="Consolas"/>
                <a:cs typeface="Consolas"/>
              </a:rPr>
              <a:t>ButtonBase</a:t>
            </a:r>
            <a:endParaRPr sz="700">
              <a:latin typeface="Consolas"/>
              <a:cs typeface="Consolas"/>
            </a:endParaRPr>
          </a:p>
        </p:txBody>
      </p:sp>
      <p:grpSp>
        <p:nvGrpSpPr>
          <p:cNvPr id="93" name="object 93"/>
          <p:cNvGrpSpPr/>
          <p:nvPr/>
        </p:nvGrpSpPr>
        <p:grpSpPr>
          <a:xfrm>
            <a:off x="5879972" y="3004185"/>
            <a:ext cx="916940" cy="293370"/>
            <a:chOff x="5879972" y="3004185"/>
            <a:chExt cx="916940" cy="293370"/>
          </a:xfrm>
        </p:grpSpPr>
        <p:sp>
          <p:nvSpPr>
            <p:cNvPr id="94" name="object 94"/>
            <p:cNvSpPr/>
            <p:nvPr/>
          </p:nvSpPr>
          <p:spPr>
            <a:xfrm>
              <a:off x="5889497" y="3013710"/>
              <a:ext cx="897890" cy="274320"/>
            </a:xfrm>
            <a:custGeom>
              <a:avLst/>
              <a:gdLst/>
              <a:ahLst/>
              <a:cxnLst/>
              <a:rect l="l" t="t" r="r" b="b"/>
              <a:pathLst>
                <a:path w="897890" h="274320">
                  <a:moveTo>
                    <a:pt x="897636" y="0"/>
                  </a:moveTo>
                  <a:lnTo>
                    <a:pt x="0" y="0"/>
                  </a:lnTo>
                  <a:lnTo>
                    <a:pt x="0" y="274320"/>
                  </a:lnTo>
                  <a:lnTo>
                    <a:pt x="897636" y="274320"/>
                  </a:lnTo>
                  <a:lnTo>
                    <a:pt x="897636" y="0"/>
                  </a:lnTo>
                  <a:close/>
                </a:path>
              </a:pathLst>
            </a:custGeom>
            <a:solidFill>
              <a:srgbClr val="F9DA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5889497" y="3013710"/>
              <a:ext cx="897890" cy="274320"/>
            </a:xfrm>
            <a:custGeom>
              <a:avLst/>
              <a:gdLst/>
              <a:ahLst/>
              <a:cxnLst/>
              <a:rect l="l" t="t" r="r" b="b"/>
              <a:pathLst>
                <a:path w="897890" h="274320">
                  <a:moveTo>
                    <a:pt x="0" y="274320"/>
                  </a:moveTo>
                  <a:lnTo>
                    <a:pt x="897636" y="274320"/>
                  </a:lnTo>
                  <a:lnTo>
                    <a:pt x="897636" y="0"/>
                  </a:lnTo>
                  <a:lnTo>
                    <a:pt x="0" y="0"/>
                  </a:lnTo>
                  <a:lnTo>
                    <a:pt x="0" y="274320"/>
                  </a:lnTo>
                  <a:close/>
                </a:path>
              </a:pathLst>
            </a:custGeom>
            <a:ln w="190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6" name="object 96"/>
          <p:cNvSpPr txBox="1"/>
          <p:nvPr/>
        </p:nvSpPr>
        <p:spPr>
          <a:xfrm>
            <a:off x="5889497" y="3013710"/>
            <a:ext cx="897890" cy="274320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75"/>
              </a:spcBef>
            </a:pPr>
            <a:r>
              <a:rPr sz="700" spc="-10" dirty="0">
                <a:latin typeface="Consolas"/>
                <a:cs typeface="Consolas"/>
              </a:rPr>
              <a:t>Button</a:t>
            </a:r>
            <a:endParaRPr sz="700">
              <a:latin typeface="Consolas"/>
              <a:cs typeface="Consolas"/>
            </a:endParaRPr>
          </a:p>
        </p:txBody>
      </p:sp>
      <p:grpSp>
        <p:nvGrpSpPr>
          <p:cNvPr id="97" name="object 97"/>
          <p:cNvGrpSpPr/>
          <p:nvPr/>
        </p:nvGrpSpPr>
        <p:grpSpPr>
          <a:xfrm>
            <a:off x="5879972" y="3391280"/>
            <a:ext cx="916940" cy="292100"/>
            <a:chOff x="5879972" y="3391280"/>
            <a:chExt cx="916940" cy="292100"/>
          </a:xfrm>
        </p:grpSpPr>
        <p:sp>
          <p:nvSpPr>
            <p:cNvPr id="98" name="object 98"/>
            <p:cNvSpPr/>
            <p:nvPr/>
          </p:nvSpPr>
          <p:spPr>
            <a:xfrm>
              <a:off x="5889497" y="3400805"/>
              <a:ext cx="897890" cy="273050"/>
            </a:xfrm>
            <a:custGeom>
              <a:avLst/>
              <a:gdLst/>
              <a:ahLst/>
              <a:cxnLst/>
              <a:rect l="l" t="t" r="r" b="b"/>
              <a:pathLst>
                <a:path w="897890" h="273050">
                  <a:moveTo>
                    <a:pt x="897636" y="0"/>
                  </a:moveTo>
                  <a:lnTo>
                    <a:pt x="0" y="0"/>
                  </a:lnTo>
                  <a:lnTo>
                    <a:pt x="0" y="272796"/>
                  </a:lnTo>
                  <a:lnTo>
                    <a:pt x="897636" y="272796"/>
                  </a:lnTo>
                  <a:lnTo>
                    <a:pt x="897636" y="0"/>
                  </a:lnTo>
                  <a:close/>
                </a:path>
              </a:pathLst>
            </a:custGeom>
            <a:solidFill>
              <a:srgbClr val="F9DA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5889497" y="3400805"/>
              <a:ext cx="897890" cy="273050"/>
            </a:xfrm>
            <a:custGeom>
              <a:avLst/>
              <a:gdLst/>
              <a:ahLst/>
              <a:cxnLst/>
              <a:rect l="l" t="t" r="r" b="b"/>
              <a:pathLst>
                <a:path w="897890" h="273050">
                  <a:moveTo>
                    <a:pt x="0" y="272796"/>
                  </a:moveTo>
                  <a:lnTo>
                    <a:pt x="897636" y="272796"/>
                  </a:lnTo>
                  <a:lnTo>
                    <a:pt x="897636" y="0"/>
                  </a:lnTo>
                  <a:lnTo>
                    <a:pt x="0" y="0"/>
                  </a:lnTo>
                  <a:lnTo>
                    <a:pt x="0" y="272796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0" name="object 100"/>
          <p:cNvSpPr txBox="1"/>
          <p:nvPr/>
        </p:nvSpPr>
        <p:spPr>
          <a:xfrm>
            <a:off x="5889497" y="3400805"/>
            <a:ext cx="897890" cy="273050"/>
          </a:xfrm>
          <a:prstGeom prst="rect">
            <a:avLst/>
          </a:prstGeom>
        </p:spPr>
        <p:txBody>
          <a:bodyPr vert="horz" wrap="square" lIns="0" tIns="71755" rIns="0" bIns="0" rtlCol="0">
            <a:spAutoFit/>
          </a:bodyPr>
          <a:lstStyle/>
          <a:p>
            <a:pPr marL="252729">
              <a:lnSpc>
                <a:spcPct val="100000"/>
              </a:lnSpc>
              <a:spcBef>
                <a:spcPts val="565"/>
              </a:spcBef>
            </a:pPr>
            <a:r>
              <a:rPr sz="700" spc="-10" dirty="0">
                <a:latin typeface="Consolas"/>
                <a:cs typeface="Consolas"/>
              </a:rPr>
              <a:t>CheckBox</a:t>
            </a:r>
            <a:endParaRPr sz="700">
              <a:latin typeface="Consolas"/>
              <a:cs typeface="Consolas"/>
            </a:endParaRPr>
          </a:p>
        </p:txBody>
      </p:sp>
      <p:grpSp>
        <p:nvGrpSpPr>
          <p:cNvPr id="101" name="object 101"/>
          <p:cNvGrpSpPr/>
          <p:nvPr/>
        </p:nvGrpSpPr>
        <p:grpSpPr>
          <a:xfrm>
            <a:off x="6888860" y="3004185"/>
            <a:ext cx="916940" cy="293370"/>
            <a:chOff x="6888860" y="3004185"/>
            <a:chExt cx="916940" cy="293370"/>
          </a:xfrm>
        </p:grpSpPr>
        <p:sp>
          <p:nvSpPr>
            <p:cNvPr id="102" name="object 102"/>
            <p:cNvSpPr/>
            <p:nvPr/>
          </p:nvSpPr>
          <p:spPr>
            <a:xfrm>
              <a:off x="6898385" y="3013710"/>
              <a:ext cx="897890" cy="274320"/>
            </a:xfrm>
            <a:custGeom>
              <a:avLst/>
              <a:gdLst/>
              <a:ahLst/>
              <a:cxnLst/>
              <a:rect l="l" t="t" r="r" b="b"/>
              <a:pathLst>
                <a:path w="897890" h="274320">
                  <a:moveTo>
                    <a:pt x="897635" y="0"/>
                  </a:moveTo>
                  <a:lnTo>
                    <a:pt x="0" y="0"/>
                  </a:lnTo>
                  <a:lnTo>
                    <a:pt x="0" y="274320"/>
                  </a:lnTo>
                  <a:lnTo>
                    <a:pt x="897635" y="274320"/>
                  </a:lnTo>
                  <a:lnTo>
                    <a:pt x="897635" y="0"/>
                  </a:lnTo>
                  <a:close/>
                </a:path>
              </a:pathLst>
            </a:custGeom>
            <a:solidFill>
              <a:srgbClr val="F9DA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6898385" y="3013710"/>
              <a:ext cx="897890" cy="274320"/>
            </a:xfrm>
            <a:custGeom>
              <a:avLst/>
              <a:gdLst/>
              <a:ahLst/>
              <a:cxnLst/>
              <a:rect l="l" t="t" r="r" b="b"/>
              <a:pathLst>
                <a:path w="897890" h="274320">
                  <a:moveTo>
                    <a:pt x="0" y="274320"/>
                  </a:moveTo>
                  <a:lnTo>
                    <a:pt x="897635" y="274320"/>
                  </a:lnTo>
                  <a:lnTo>
                    <a:pt x="897635" y="0"/>
                  </a:lnTo>
                  <a:lnTo>
                    <a:pt x="0" y="0"/>
                  </a:lnTo>
                  <a:lnTo>
                    <a:pt x="0" y="274320"/>
                  </a:lnTo>
                  <a:close/>
                </a:path>
              </a:pathLst>
            </a:custGeom>
            <a:ln w="190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4" name="object 104"/>
          <p:cNvSpPr txBox="1"/>
          <p:nvPr/>
        </p:nvSpPr>
        <p:spPr>
          <a:xfrm>
            <a:off x="6898385" y="3013710"/>
            <a:ext cx="897890" cy="274320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204470">
              <a:lnSpc>
                <a:spcPct val="100000"/>
              </a:lnSpc>
              <a:spcBef>
                <a:spcPts val="575"/>
              </a:spcBef>
            </a:pPr>
            <a:r>
              <a:rPr sz="700" spc="-10" dirty="0">
                <a:latin typeface="Consolas"/>
                <a:cs typeface="Consolas"/>
              </a:rPr>
              <a:t>MenuButton</a:t>
            </a:r>
            <a:endParaRPr sz="700">
              <a:latin typeface="Consolas"/>
              <a:cs typeface="Consolas"/>
            </a:endParaRPr>
          </a:p>
        </p:txBody>
      </p:sp>
      <p:grpSp>
        <p:nvGrpSpPr>
          <p:cNvPr id="105" name="object 105"/>
          <p:cNvGrpSpPr/>
          <p:nvPr/>
        </p:nvGrpSpPr>
        <p:grpSpPr>
          <a:xfrm>
            <a:off x="6888860" y="3391280"/>
            <a:ext cx="916940" cy="292100"/>
            <a:chOff x="6888860" y="3391280"/>
            <a:chExt cx="916940" cy="292100"/>
          </a:xfrm>
        </p:grpSpPr>
        <p:sp>
          <p:nvSpPr>
            <p:cNvPr id="106" name="object 106"/>
            <p:cNvSpPr/>
            <p:nvPr/>
          </p:nvSpPr>
          <p:spPr>
            <a:xfrm>
              <a:off x="6898385" y="3400805"/>
              <a:ext cx="897890" cy="273050"/>
            </a:xfrm>
            <a:custGeom>
              <a:avLst/>
              <a:gdLst/>
              <a:ahLst/>
              <a:cxnLst/>
              <a:rect l="l" t="t" r="r" b="b"/>
              <a:pathLst>
                <a:path w="897890" h="273050">
                  <a:moveTo>
                    <a:pt x="897635" y="0"/>
                  </a:moveTo>
                  <a:lnTo>
                    <a:pt x="0" y="0"/>
                  </a:lnTo>
                  <a:lnTo>
                    <a:pt x="0" y="272796"/>
                  </a:lnTo>
                  <a:lnTo>
                    <a:pt x="897635" y="272796"/>
                  </a:lnTo>
                  <a:lnTo>
                    <a:pt x="897635" y="0"/>
                  </a:lnTo>
                  <a:close/>
                </a:path>
              </a:pathLst>
            </a:custGeom>
            <a:solidFill>
              <a:srgbClr val="F9DA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6898385" y="3400805"/>
              <a:ext cx="897890" cy="273050"/>
            </a:xfrm>
            <a:custGeom>
              <a:avLst/>
              <a:gdLst/>
              <a:ahLst/>
              <a:cxnLst/>
              <a:rect l="l" t="t" r="r" b="b"/>
              <a:pathLst>
                <a:path w="897890" h="273050">
                  <a:moveTo>
                    <a:pt x="0" y="272796"/>
                  </a:moveTo>
                  <a:lnTo>
                    <a:pt x="897635" y="272796"/>
                  </a:lnTo>
                  <a:lnTo>
                    <a:pt x="897635" y="0"/>
                  </a:lnTo>
                  <a:lnTo>
                    <a:pt x="0" y="0"/>
                  </a:lnTo>
                  <a:lnTo>
                    <a:pt x="0" y="272796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8" name="object 108"/>
          <p:cNvSpPr txBox="1"/>
          <p:nvPr/>
        </p:nvSpPr>
        <p:spPr>
          <a:xfrm>
            <a:off x="6898385" y="3400805"/>
            <a:ext cx="897890" cy="273050"/>
          </a:xfrm>
          <a:prstGeom prst="rect">
            <a:avLst/>
          </a:prstGeom>
        </p:spPr>
        <p:txBody>
          <a:bodyPr vert="horz" wrap="square" lIns="0" tIns="71755" rIns="0" bIns="0" rtlCol="0">
            <a:spAutoFit/>
          </a:bodyPr>
          <a:lstStyle/>
          <a:p>
            <a:pPr marL="156210">
              <a:lnSpc>
                <a:spcPct val="100000"/>
              </a:lnSpc>
              <a:spcBef>
                <a:spcPts val="565"/>
              </a:spcBef>
            </a:pPr>
            <a:r>
              <a:rPr sz="700" spc="-10" dirty="0">
                <a:latin typeface="Consolas"/>
                <a:cs typeface="Consolas"/>
              </a:rPr>
              <a:t>ToggleButton</a:t>
            </a:r>
            <a:endParaRPr sz="700">
              <a:latin typeface="Consolas"/>
              <a:cs typeface="Consolas"/>
            </a:endParaRPr>
          </a:p>
        </p:txBody>
      </p:sp>
      <p:grpSp>
        <p:nvGrpSpPr>
          <p:cNvPr id="109" name="object 109"/>
          <p:cNvGrpSpPr/>
          <p:nvPr/>
        </p:nvGrpSpPr>
        <p:grpSpPr>
          <a:xfrm>
            <a:off x="4802504" y="3776853"/>
            <a:ext cx="916940" cy="292100"/>
            <a:chOff x="4802504" y="3776853"/>
            <a:chExt cx="916940" cy="292100"/>
          </a:xfrm>
        </p:grpSpPr>
        <p:sp>
          <p:nvSpPr>
            <p:cNvPr id="110" name="object 110"/>
            <p:cNvSpPr/>
            <p:nvPr/>
          </p:nvSpPr>
          <p:spPr>
            <a:xfrm>
              <a:off x="4812029" y="3786378"/>
              <a:ext cx="897890" cy="273050"/>
            </a:xfrm>
            <a:custGeom>
              <a:avLst/>
              <a:gdLst/>
              <a:ahLst/>
              <a:cxnLst/>
              <a:rect l="l" t="t" r="r" b="b"/>
              <a:pathLst>
                <a:path w="897889" h="273050">
                  <a:moveTo>
                    <a:pt x="897636" y="0"/>
                  </a:moveTo>
                  <a:lnTo>
                    <a:pt x="0" y="0"/>
                  </a:lnTo>
                  <a:lnTo>
                    <a:pt x="0" y="272796"/>
                  </a:lnTo>
                  <a:lnTo>
                    <a:pt x="897636" y="272796"/>
                  </a:lnTo>
                  <a:lnTo>
                    <a:pt x="897636" y="0"/>
                  </a:lnTo>
                  <a:close/>
                </a:path>
              </a:pathLst>
            </a:custGeom>
            <a:solidFill>
              <a:srgbClr val="F9DA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4812029" y="3786378"/>
              <a:ext cx="897890" cy="273050"/>
            </a:xfrm>
            <a:custGeom>
              <a:avLst/>
              <a:gdLst/>
              <a:ahLst/>
              <a:cxnLst/>
              <a:rect l="l" t="t" r="r" b="b"/>
              <a:pathLst>
                <a:path w="897889" h="273050">
                  <a:moveTo>
                    <a:pt x="0" y="272796"/>
                  </a:moveTo>
                  <a:lnTo>
                    <a:pt x="897636" y="272796"/>
                  </a:lnTo>
                  <a:lnTo>
                    <a:pt x="897636" y="0"/>
                  </a:lnTo>
                  <a:lnTo>
                    <a:pt x="0" y="0"/>
                  </a:lnTo>
                  <a:lnTo>
                    <a:pt x="0" y="272796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2" name="object 112"/>
          <p:cNvSpPr txBox="1"/>
          <p:nvPr/>
        </p:nvSpPr>
        <p:spPr>
          <a:xfrm>
            <a:off x="4812029" y="3786378"/>
            <a:ext cx="897890" cy="273050"/>
          </a:xfrm>
          <a:prstGeom prst="rect">
            <a:avLst/>
          </a:prstGeom>
        </p:spPr>
        <p:txBody>
          <a:bodyPr vert="horz" wrap="square" lIns="0" tIns="7239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70"/>
              </a:spcBef>
            </a:pPr>
            <a:r>
              <a:rPr sz="700" spc="-20" dirty="0">
                <a:latin typeface="Consolas"/>
                <a:cs typeface="Consolas"/>
              </a:rPr>
              <a:t>Cell</a:t>
            </a:r>
            <a:endParaRPr sz="700">
              <a:latin typeface="Consolas"/>
              <a:cs typeface="Consolas"/>
            </a:endParaRPr>
          </a:p>
        </p:txBody>
      </p:sp>
      <p:grpSp>
        <p:nvGrpSpPr>
          <p:cNvPr id="113" name="object 113"/>
          <p:cNvGrpSpPr/>
          <p:nvPr/>
        </p:nvGrpSpPr>
        <p:grpSpPr>
          <a:xfrm>
            <a:off x="7899272" y="3004185"/>
            <a:ext cx="916940" cy="293370"/>
            <a:chOff x="7899272" y="3004185"/>
            <a:chExt cx="916940" cy="293370"/>
          </a:xfrm>
        </p:grpSpPr>
        <p:sp>
          <p:nvSpPr>
            <p:cNvPr id="114" name="object 114"/>
            <p:cNvSpPr/>
            <p:nvPr/>
          </p:nvSpPr>
          <p:spPr>
            <a:xfrm>
              <a:off x="7908797" y="3013710"/>
              <a:ext cx="897890" cy="274320"/>
            </a:xfrm>
            <a:custGeom>
              <a:avLst/>
              <a:gdLst/>
              <a:ahLst/>
              <a:cxnLst/>
              <a:rect l="l" t="t" r="r" b="b"/>
              <a:pathLst>
                <a:path w="897890" h="274320">
                  <a:moveTo>
                    <a:pt x="897636" y="0"/>
                  </a:moveTo>
                  <a:lnTo>
                    <a:pt x="0" y="0"/>
                  </a:lnTo>
                  <a:lnTo>
                    <a:pt x="0" y="274320"/>
                  </a:lnTo>
                  <a:lnTo>
                    <a:pt x="897636" y="274320"/>
                  </a:lnTo>
                  <a:lnTo>
                    <a:pt x="897636" y="0"/>
                  </a:lnTo>
                  <a:close/>
                </a:path>
              </a:pathLst>
            </a:custGeom>
            <a:solidFill>
              <a:srgbClr val="F9DA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7908797" y="3013710"/>
              <a:ext cx="897890" cy="274320"/>
            </a:xfrm>
            <a:custGeom>
              <a:avLst/>
              <a:gdLst/>
              <a:ahLst/>
              <a:cxnLst/>
              <a:rect l="l" t="t" r="r" b="b"/>
              <a:pathLst>
                <a:path w="897890" h="274320">
                  <a:moveTo>
                    <a:pt x="0" y="274320"/>
                  </a:moveTo>
                  <a:lnTo>
                    <a:pt x="897636" y="274320"/>
                  </a:lnTo>
                  <a:lnTo>
                    <a:pt x="897636" y="0"/>
                  </a:lnTo>
                  <a:lnTo>
                    <a:pt x="0" y="0"/>
                  </a:lnTo>
                  <a:lnTo>
                    <a:pt x="0" y="274320"/>
                  </a:lnTo>
                  <a:close/>
                </a:path>
              </a:pathLst>
            </a:custGeom>
            <a:ln w="190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6" name="object 116"/>
          <p:cNvSpPr txBox="1"/>
          <p:nvPr/>
        </p:nvSpPr>
        <p:spPr>
          <a:xfrm>
            <a:off x="7908797" y="3013710"/>
            <a:ext cx="897890" cy="274320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75"/>
              </a:spcBef>
            </a:pPr>
            <a:r>
              <a:rPr sz="700" spc="-10" dirty="0">
                <a:latin typeface="Consolas"/>
                <a:cs typeface="Consolas"/>
              </a:rPr>
              <a:t>Label</a:t>
            </a:r>
            <a:endParaRPr sz="700">
              <a:latin typeface="Consolas"/>
              <a:cs typeface="Consolas"/>
            </a:endParaRPr>
          </a:p>
        </p:txBody>
      </p:sp>
      <p:grpSp>
        <p:nvGrpSpPr>
          <p:cNvPr id="117" name="object 117"/>
          <p:cNvGrpSpPr/>
          <p:nvPr/>
        </p:nvGrpSpPr>
        <p:grpSpPr>
          <a:xfrm>
            <a:off x="7899272" y="3776853"/>
            <a:ext cx="916940" cy="292100"/>
            <a:chOff x="7899272" y="3776853"/>
            <a:chExt cx="916940" cy="292100"/>
          </a:xfrm>
        </p:grpSpPr>
        <p:sp>
          <p:nvSpPr>
            <p:cNvPr id="118" name="object 118"/>
            <p:cNvSpPr/>
            <p:nvPr/>
          </p:nvSpPr>
          <p:spPr>
            <a:xfrm>
              <a:off x="7908797" y="3786378"/>
              <a:ext cx="897890" cy="273050"/>
            </a:xfrm>
            <a:custGeom>
              <a:avLst/>
              <a:gdLst/>
              <a:ahLst/>
              <a:cxnLst/>
              <a:rect l="l" t="t" r="r" b="b"/>
              <a:pathLst>
                <a:path w="897890" h="273050">
                  <a:moveTo>
                    <a:pt x="897636" y="0"/>
                  </a:moveTo>
                  <a:lnTo>
                    <a:pt x="0" y="0"/>
                  </a:lnTo>
                  <a:lnTo>
                    <a:pt x="0" y="272796"/>
                  </a:lnTo>
                  <a:lnTo>
                    <a:pt x="897636" y="272796"/>
                  </a:lnTo>
                  <a:lnTo>
                    <a:pt x="897636" y="0"/>
                  </a:lnTo>
                  <a:close/>
                </a:path>
              </a:pathLst>
            </a:custGeom>
            <a:solidFill>
              <a:srgbClr val="F9DA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7908797" y="3786378"/>
              <a:ext cx="897890" cy="273050"/>
            </a:xfrm>
            <a:custGeom>
              <a:avLst/>
              <a:gdLst/>
              <a:ahLst/>
              <a:cxnLst/>
              <a:rect l="l" t="t" r="r" b="b"/>
              <a:pathLst>
                <a:path w="897890" h="273050">
                  <a:moveTo>
                    <a:pt x="0" y="272796"/>
                  </a:moveTo>
                  <a:lnTo>
                    <a:pt x="897636" y="272796"/>
                  </a:lnTo>
                  <a:lnTo>
                    <a:pt x="897636" y="0"/>
                  </a:lnTo>
                  <a:lnTo>
                    <a:pt x="0" y="0"/>
                  </a:lnTo>
                  <a:lnTo>
                    <a:pt x="0" y="272796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0" name="object 120"/>
          <p:cNvSpPr txBox="1"/>
          <p:nvPr/>
        </p:nvSpPr>
        <p:spPr>
          <a:xfrm>
            <a:off x="7908797" y="3786378"/>
            <a:ext cx="897890" cy="273050"/>
          </a:xfrm>
          <a:prstGeom prst="rect">
            <a:avLst/>
          </a:prstGeom>
        </p:spPr>
        <p:txBody>
          <a:bodyPr vert="horz" wrap="square" lIns="0" tIns="72390" rIns="0" bIns="0" rtlCol="0">
            <a:spAutoFit/>
          </a:bodyPr>
          <a:lstStyle/>
          <a:p>
            <a:pPr marL="203835">
              <a:lnSpc>
                <a:spcPct val="100000"/>
              </a:lnSpc>
              <a:spcBef>
                <a:spcPts val="570"/>
              </a:spcBef>
            </a:pPr>
            <a:r>
              <a:rPr sz="700" spc="-10" dirty="0">
                <a:latin typeface="Consolas"/>
                <a:cs typeface="Consolas"/>
              </a:rPr>
              <a:t>TitledPane</a:t>
            </a:r>
            <a:endParaRPr sz="700">
              <a:latin typeface="Consolas"/>
              <a:cs typeface="Consolas"/>
            </a:endParaRPr>
          </a:p>
        </p:txBody>
      </p:sp>
      <p:grpSp>
        <p:nvGrpSpPr>
          <p:cNvPr id="121" name="object 121"/>
          <p:cNvGrpSpPr/>
          <p:nvPr/>
        </p:nvGrpSpPr>
        <p:grpSpPr>
          <a:xfrm>
            <a:off x="2649092" y="2233041"/>
            <a:ext cx="916940" cy="293370"/>
            <a:chOff x="2649092" y="2233041"/>
            <a:chExt cx="916940" cy="293370"/>
          </a:xfrm>
        </p:grpSpPr>
        <p:sp>
          <p:nvSpPr>
            <p:cNvPr id="122" name="object 122"/>
            <p:cNvSpPr/>
            <p:nvPr/>
          </p:nvSpPr>
          <p:spPr>
            <a:xfrm>
              <a:off x="2658617" y="2242566"/>
              <a:ext cx="897890" cy="274320"/>
            </a:xfrm>
            <a:custGeom>
              <a:avLst/>
              <a:gdLst/>
              <a:ahLst/>
              <a:cxnLst/>
              <a:rect l="l" t="t" r="r" b="b"/>
              <a:pathLst>
                <a:path w="897889" h="274319">
                  <a:moveTo>
                    <a:pt x="897635" y="0"/>
                  </a:moveTo>
                  <a:lnTo>
                    <a:pt x="0" y="0"/>
                  </a:lnTo>
                  <a:lnTo>
                    <a:pt x="0" y="274320"/>
                  </a:lnTo>
                  <a:lnTo>
                    <a:pt x="897635" y="274320"/>
                  </a:lnTo>
                  <a:lnTo>
                    <a:pt x="897635" y="0"/>
                  </a:lnTo>
                  <a:close/>
                </a:path>
              </a:pathLst>
            </a:custGeom>
            <a:solidFill>
              <a:srgbClr val="D2DA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3"/>
            <p:cNvSpPr/>
            <p:nvPr/>
          </p:nvSpPr>
          <p:spPr>
            <a:xfrm>
              <a:off x="2658617" y="2242566"/>
              <a:ext cx="897890" cy="274320"/>
            </a:xfrm>
            <a:custGeom>
              <a:avLst/>
              <a:gdLst/>
              <a:ahLst/>
              <a:cxnLst/>
              <a:rect l="l" t="t" r="r" b="b"/>
              <a:pathLst>
                <a:path w="897889" h="274319">
                  <a:moveTo>
                    <a:pt x="0" y="274320"/>
                  </a:moveTo>
                  <a:lnTo>
                    <a:pt x="897635" y="274320"/>
                  </a:lnTo>
                  <a:lnTo>
                    <a:pt x="897635" y="0"/>
                  </a:lnTo>
                  <a:lnTo>
                    <a:pt x="0" y="0"/>
                  </a:lnTo>
                  <a:lnTo>
                    <a:pt x="0" y="274320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4" name="object 124"/>
          <p:cNvSpPr txBox="1"/>
          <p:nvPr/>
        </p:nvSpPr>
        <p:spPr>
          <a:xfrm>
            <a:off x="2658617" y="2242566"/>
            <a:ext cx="897890" cy="274320"/>
          </a:xfrm>
          <a:prstGeom prst="rect">
            <a:avLst/>
          </a:prstGeom>
        </p:spPr>
        <p:txBody>
          <a:bodyPr vert="horz" wrap="square" lIns="0" tIns="7239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70"/>
              </a:spcBef>
            </a:pPr>
            <a:r>
              <a:rPr sz="700" spc="-10" dirty="0">
                <a:latin typeface="Consolas"/>
                <a:cs typeface="Consolas"/>
              </a:rPr>
              <a:t>Group</a:t>
            </a:r>
            <a:endParaRPr sz="700">
              <a:latin typeface="Consolas"/>
              <a:cs typeface="Consolas"/>
            </a:endParaRPr>
          </a:p>
        </p:txBody>
      </p:sp>
      <p:grpSp>
        <p:nvGrpSpPr>
          <p:cNvPr id="125" name="object 125"/>
          <p:cNvGrpSpPr/>
          <p:nvPr/>
        </p:nvGrpSpPr>
        <p:grpSpPr>
          <a:xfrm>
            <a:off x="2649092" y="4355972"/>
            <a:ext cx="916940" cy="292100"/>
            <a:chOff x="2649092" y="4355972"/>
            <a:chExt cx="916940" cy="292100"/>
          </a:xfrm>
        </p:grpSpPr>
        <p:sp>
          <p:nvSpPr>
            <p:cNvPr id="126" name="object 126"/>
            <p:cNvSpPr/>
            <p:nvPr/>
          </p:nvSpPr>
          <p:spPr>
            <a:xfrm>
              <a:off x="2658617" y="4365497"/>
              <a:ext cx="897890" cy="273050"/>
            </a:xfrm>
            <a:custGeom>
              <a:avLst/>
              <a:gdLst/>
              <a:ahLst/>
              <a:cxnLst/>
              <a:rect l="l" t="t" r="r" b="b"/>
              <a:pathLst>
                <a:path w="897889" h="273050">
                  <a:moveTo>
                    <a:pt x="897635" y="0"/>
                  </a:moveTo>
                  <a:lnTo>
                    <a:pt x="0" y="0"/>
                  </a:lnTo>
                  <a:lnTo>
                    <a:pt x="0" y="272795"/>
                  </a:lnTo>
                  <a:lnTo>
                    <a:pt x="897635" y="272795"/>
                  </a:lnTo>
                  <a:lnTo>
                    <a:pt x="897635" y="0"/>
                  </a:lnTo>
                  <a:close/>
                </a:path>
              </a:pathLst>
            </a:custGeom>
            <a:solidFill>
              <a:srgbClr val="D2DA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" name="object 127"/>
            <p:cNvSpPr/>
            <p:nvPr/>
          </p:nvSpPr>
          <p:spPr>
            <a:xfrm>
              <a:off x="2658617" y="4365497"/>
              <a:ext cx="897890" cy="273050"/>
            </a:xfrm>
            <a:custGeom>
              <a:avLst/>
              <a:gdLst/>
              <a:ahLst/>
              <a:cxnLst/>
              <a:rect l="l" t="t" r="r" b="b"/>
              <a:pathLst>
                <a:path w="897889" h="273050">
                  <a:moveTo>
                    <a:pt x="0" y="272795"/>
                  </a:moveTo>
                  <a:lnTo>
                    <a:pt x="897635" y="272795"/>
                  </a:lnTo>
                  <a:lnTo>
                    <a:pt x="897635" y="0"/>
                  </a:lnTo>
                  <a:lnTo>
                    <a:pt x="0" y="0"/>
                  </a:lnTo>
                  <a:lnTo>
                    <a:pt x="0" y="272795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8" name="object 128"/>
          <p:cNvSpPr txBox="1"/>
          <p:nvPr/>
        </p:nvSpPr>
        <p:spPr>
          <a:xfrm>
            <a:off x="2658617" y="4365497"/>
            <a:ext cx="897890" cy="273050"/>
          </a:xfrm>
          <a:prstGeom prst="rect">
            <a:avLst/>
          </a:prstGeom>
        </p:spPr>
        <p:txBody>
          <a:bodyPr vert="horz" wrap="square" lIns="0" tIns="7175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65"/>
              </a:spcBef>
            </a:pPr>
            <a:r>
              <a:rPr sz="700" spc="-10" dirty="0">
                <a:latin typeface="Consolas"/>
                <a:cs typeface="Consolas"/>
              </a:rPr>
              <a:t>Region</a:t>
            </a:r>
            <a:endParaRPr sz="700">
              <a:latin typeface="Consolas"/>
              <a:cs typeface="Consolas"/>
            </a:endParaRPr>
          </a:p>
        </p:txBody>
      </p:sp>
      <p:grpSp>
        <p:nvGrpSpPr>
          <p:cNvPr id="129" name="object 129"/>
          <p:cNvGrpSpPr/>
          <p:nvPr/>
        </p:nvGrpSpPr>
        <p:grpSpPr>
          <a:xfrm>
            <a:off x="3726560" y="3968877"/>
            <a:ext cx="915669" cy="293370"/>
            <a:chOff x="3726560" y="3968877"/>
            <a:chExt cx="915669" cy="293370"/>
          </a:xfrm>
        </p:grpSpPr>
        <p:sp>
          <p:nvSpPr>
            <p:cNvPr id="130" name="object 130"/>
            <p:cNvSpPr/>
            <p:nvPr/>
          </p:nvSpPr>
          <p:spPr>
            <a:xfrm>
              <a:off x="3736085" y="3978402"/>
              <a:ext cx="896619" cy="274320"/>
            </a:xfrm>
            <a:custGeom>
              <a:avLst/>
              <a:gdLst/>
              <a:ahLst/>
              <a:cxnLst/>
              <a:rect l="l" t="t" r="r" b="b"/>
              <a:pathLst>
                <a:path w="896620" h="274320">
                  <a:moveTo>
                    <a:pt x="896112" y="0"/>
                  </a:moveTo>
                  <a:lnTo>
                    <a:pt x="0" y="0"/>
                  </a:lnTo>
                  <a:lnTo>
                    <a:pt x="0" y="274320"/>
                  </a:lnTo>
                  <a:lnTo>
                    <a:pt x="896112" y="274320"/>
                  </a:lnTo>
                  <a:lnTo>
                    <a:pt x="896112" y="0"/>
                  </a:lnTo>
                  <a:close/>
                </a:path>
              </a:pathLst>
            </a:custGeom>
            <a:solidFill>
              <a:srgbClr val="F9DA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" name="object 131"/>
            <p:cNvSpPr/>
            <p:nvPr/>
          </p:nvSpPr>
          <p:spPr>
            <a:xfrm>
              <a:off x="3736085" y="3978402"/>
              <a:ext cx="896619" cy="274320"/>
            </a:xfrm>
            <a:custGeom>
              <a:avLst/>
              <a:gdLst/>
              <a:ahLst/>
              <a:cxnLst/>
              <a:rect l="l" t="t" r="r" b="b"/>
              <a:pathLst>
                <a:path w="896620" h="274320">
                  <a:moveTo>
                    <a:pt x="0" y="274320"/>
                  </a:moveTo>
                  <a:lnTo>
                    <a:pt x="896112" y="274320"/>
                  </a:lnTo>
                  <a:lnTo>
                    <a:pt x="896112" y="0"/>
                  </a:lnTo>
                  <a:lnTo>
                    <a:pt x="0" y="0"/>
                  </a:lnTo>
                  <a:lnTo>
                    <a:pt x="0" y="274320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2" name="object 132"/>
          <p:cNvSpPr txBox="1"/>
          <p:nvPr/>
        </p:nvSpPr>
        <p:spPr>
          <a:xfrm>
            <a:off x="3736085" y="3978402"/>
            <a:ext cx="896619" cy="274320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75"/>
              </a:spcBef>
            </a:pPr>
            <a:r>
              <a:rPr sz="700" spc="-20" dirty="0">
                <a:latin typeface="Consolas"/>
                <a:cs typeface="Consolas"/>
              </a:rPr>
              <a:t>Axis</a:t>
            </a:r>
            <a:endParaRPr sz="700">
              <a:latin typeface="Consolas"/>
              <a:cs typeface="Consolas"/>
            </a:endParaRPr>
          </a:p>
        </p:txBody>
      </p:sp>
      <p:grpSp>
        <p:nvGrpSpPr>
          <p:cNvPr id="133" name="object 133"/>
          <p:cNvGrpSpPr/>
          <p:nvPr/>
        </p:nvGrpSpPr>
        <p:grpSpPr>
          <a:xfrm>
            <a:off x="3726560" y="4355972"/>
            <a:ext cx="915669" cy="292100"/>
            <a:chOff x="3726560" y="4355972"/>
            <a:chExt cx="915669" cy="292100"/>
          </a:xfrm>
        </p:grpSpPr>
        <p:sp>
          <p:nvSpPr>
            <p:cNvPr id="134" name="object 134"/>
            <p:cNvSpPr/>
            <p:nvPr/>
          </p:nvSpPr>
          <p:spPr>
            <a:xfrm>
              <a:off x="3736085" y="4365497"/>
              <a:ext cx="896619" cy="273050"/>
            </a:xfrm>
            <a:custGeom>
              <a:avLst/>
              <a:gdLst/>
              <a:ahLst/>
              <a:cxnLst/>
              <a:rect l="l" t="t" r="r" b="b"/>
              <a:pathLst>
                <a:path w="896620" h="273050">
                  <a:moveTo>
                    <a:pt x="896112" y="0"/>
                  </a:moveTo>
                  <a:lnTo>
                    <a:pt x="0" y="0"/>
                  </a:lnTo>
                  <a:lnTo>
                    <a:pt x="0" y="272795"/>
                  </a:lnTo>
                  <a:lnTo>
                    <a:pt x="896112" y="272795"/>
                  </a:lnTo>
                  <a:lnTo>
                    <a:pt x="896112" y="0"/>
                  </a:lnTo>
                  <a:close/>
                </a:path>
              </a:pathLst>
            </a:custGeom>
            <a:solidFill>
              <a:srgbClr val="F9DA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5" name="object 135"/>
            <p:cNvSpPr/>
            <p:nvPr/>
          </p:nvSpPr>
          <p:spPr>
            <a:xfrm>
              <a:off x="3736085" y="4365497"/>
              <a:ext cx="896619" cy="273050"/>
            </a:xfrm>
            <a:custGeom>
              <a:avLst/>
              <a:gdLst/>
              <a:ahLst/>
              <a:cxnLst/>
              <a:rect l="l" t="t" r="r" b="b"/>
              <a:pathLst>
                <a:path w="896620" h="273050">
                  <a:moveTo>
                    <a:pt x="0" y="272795"/>
                  </a:moveTo>
                  <a:lnTo>
                    <a:pt x="896112" y="272795"/>
                  </a:lnTo>
                  <a:lnTo>
                    <a:pt x="896112" y="0"/>
                  </a:lnTo>
                  <a:lnTo>
                    <a:pt x="0" y="0"/>
                  </a:lnTo>
                  <a:lnTo>
                    <a:pt x="0" y="272795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6" name="object 136"/>
          <p:cNvSpPr txBox="1"/>
          <p:nvPr/>
        </p:nvSpPr>
        <p:spPr>
          <a:xfrm>
            <a:off x="3736085" y="4365497"/>
            <a:ext cx="896619" cy="273050"/>
          </a:xfrm>
          <a:prstGeom prst="rect">
            <a:avLst/>
          </a:prstGeom>
        </p:spPr>
        <p:txBody>
          <a:bodyPr vert="horz" wrap="square" lIns="0" tIns="7175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65"/>
              </a:spcBef>
            </a:pPr>
            <a:r>
              <a:rPr sz="700" spc="-10" dirty="0">
                <a:latin typeface="Consolas"/>
                <a:cs typeface="Consolas"/>
              </a:rPr>
              <a:t>Chart</a:t>
            </a:r>
            <a:endParaRPr sz="700">
              <a:latin typeface="Consolas"/>
              <a:cs typeface="Consolas"/>
            </a:endParaRPr>
          </a:p>
        </p:txBody>
      </p:sp>
      <p:grpSp>
        <p:nvGrpSpPr>
          <p:cNvPr id="137" name="object 137"/>
          <p:cNvGrpSpPr/>
          <p:nvPr/>
        </p:nvGrpSpPr>
        <p:grpSpPr>
          <a:xfrm>
            <a:off x="3726560" y="4741545"/>
            <a:ext cx="915669" cy="292100"/>
            <a:chOff x="3726560" y="4741545"/>
            <a:chExt cx="915669" cy="292100"/>
          </a:xfrm>
        </p:grpSpPr>
        <p:sp>
          <p:nvSpPr>
            <p:cNvPr id="138" name="object 138"/>
            <p:cNvSpPr/>
            <p:nvPr/>
          </p:nvSpPr>
          <p:spPr>
            <a:xfrm>
              <a:off x="3736085" y="4751070"/>
              <a:ext cx="896619" cy="273050"/>
            </a:xfrm>
            <a:custGeom>
              <a:avLst/>
              <a:gdLst/>
              <a:ahLst/>
              <a:cxnLst/>
              <a:rect l="l" t="t" r="r" b="b"/>
              <a:pathLst>
                <a:path w="896620" h="273050">
                  <a:moveTo>
                    <a:pt x="896112" y="0"/>
                  </a:moveTo>
                  <a:lnTo>
                    <a:pt x="0" y="0"/>
                  </a:lnTo>
                  <a:lnTo>
                    <a:pt x="0" y="272795"/>
                  </a:lnTo>
                  <a:lnTo>
                    <a:pt x="896112" y="272795"/>
                  </a:lnTo>
                  <a:lnTo>
                    <a:pt x="896112" y="0"/>
                  </a:lnTo>
                  <a:close/>
                </a:path>
              </a:pathLst>
            </a:custGeom>
            <a:solidFill>
              <a:srgbClr val="F9DA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" name="object 139"/>
            <p:cNvSpPr/>
            <p:nvPr/>
          </p:nvSpPr>
          <p:spPr>
            <a:xfrm>
              <a:off x="3736085" y="4751070"/>
              <a:ext cx="896619" cy="273050"/>
            </a:xfrm>
            <a:custGeom>
              <a:avLst/>
              <a:gdLst/>
              <a:ahLst/>
              <a:cxnLst/>
              <a:rect l="l" t="t" r="r" b="b"/>
              <a:pathLst>
                <a:path w="896620" h="273050">
                  <a:moveTo>
                    <a:pt x="0" y="272795"/>
                  </a:moveTo>
                  <a:lnTo>
                    <a:pt x="896112" y="272795"/>
                  </a:lnTo>
                  <a:lnTo>
                    <a:pt x="896112" y="0"/>
                  </a:lnTo>
                  <a:lnTo>
                    <a:pt x="0" y="0"/>
                  </a:lnTo>
                  <a:lnTo>
                    <a:pt x="0" y="272795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0" name="object 140"/>
          <p:cNvSpPr txBox="1"/>
          <p:nvPr/>
        </p:nvSpPr>
        <p:spPr>
          <a:xfrm>
            <a:off x="3736085" y="4751070"/>
            <a:ext cx="896619" cy="273050"/>
          </a:xfrm>
          <a:prstGeom prst="rect">
            <a:avLst/>
          </a:prstGeom>
        </p:spPr>
        <p:txBody>
          <a:bodyPr vert="horz" wrap="square" lIns="0" tIns="7239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70"/>
              </a:spcBef>
            </a:pPr>
            <a:r>
              <a:rPr sz="700" b="1" spc="-20" dirty="0">
                <a:latin typeface="Consolas"/>
                <a:cs typeface="Consolas"/>
              </a:rPr>
              <a:t>Pane</a:t>
            </a:r>
            <a:endParaRPr sz="700">
              <a:latin typeface="Consolas"/>
              <a:cs typeface="Consolas"/>
            </a:endParaRPr>
          </a:p>
        </p:txBody>
      </p:sp>
      <p:grpSp>
        <p:nvGrpSpPr>
          <p:cNvPr id="141" name="object 141"/>
          <p:cNvGrpSpPr/>
          <p:nvPr/>
        </p:nvGrpSpPr>
        <p:grpSpPr>
          <a:xfrm>
            <a:off x="4802504" y="4547996"/>
            <a:ext cx="916940" cy="293370"/>
            <a:chOff x="4802504" y="4547996"/>
            <a:chExt cx="916940" cy="293370"/>
          </a:xfrm>
        </p:grpSpPr>
        <p:sp>
          <p:nvSpPr>
            <p:cNvPr id="142" name="object 142"/>
            <p:cNvSpPr/>
            <p:nvPr/>
          </p:nvSpPr>
          <p:spPr>
            <a:xfrm>
              <a:off x="4812029" y="4557521"/>
              <a:ext cx="897890" cy="274320"/>
            </a:xfrm>
            <a:custGeom>
              <a:avLst/>
              <a:gdLst/>
              <a:ahLst/>
              <a:cxnLst/>
              <a:rect l="l" t="t" r="r" b="b"/>
              <a:pathLst>
                <a:path w="897889" h="274320">
                  <a:moveTo>
                    <a:pt x="897636" y="0"/>
                  </a:moveTo>
                  <a:lnTo>
                    <a:pt x="0" y="0"/>
                  </a:lnTo>
                  <a:lnTo>
                    <a:pt x="0" y="274319"/>
                  </a:lnTo>
                  <a:lnTo>
                    <a:pt x="897636" y="274319"/>
                  </a:lnTo>
                  <a:lnTo>
                    <a:pt x="897636" y="0"/>
                  </a:lnTo>
                  <a:close/>
                </a:path>
              </a:pathLst>
            </a:custGeom>
            <a:solidFill>
              <a:srgbClr val="F9DA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3" name="object 143"/>
            <p:cNvSpPr/>
            <p:nvPr/>
          </p:nvSpPr>
          <p:spPr>
            <a:xfrm>
              <a:off x="4812029" y="4557521"/>
              <a:ext cx="897890" cy="274320"/>
            </a:xfrm>
            <a:custGeom>
              <a:avLst/>
              <a:gdLst/>
              <a:ahLst/>
              <a:cxnLst/>
              <a:rect l="l" t="t" r="r" b="b"/>
              <a:pathLst>
                <a:path w="897889" h="274320">
                  <a:moveTo>
                    <a:pt x="0" y="274319"/>
                  </a:moveTo>
                  <a:lnTo>
                    <a:pt x="897636" y="274319"/>
                  </a:lnTo>
                  <a:lnTo>
                    <a:pt x="897636" y="0"/>
                  </a:lnTo>
                  <a:lnTo>
                    <a:pt x="0" y="0"/>
                  </a:lnTo>
                  <a:lnTo>
                    <a:pt x="0" y="274319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4" name="object 144"/>
          <p:cNvSpPr txBox="1"/>
          <p:nvPr/>
        </p:nvSpPr>
        <p:spPr>
          <a:xfrm>
            <a:off x="4812029" y="4557521"/>
            <a:ext cx="897890" cy="274320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203835">
              <a:lnSpc>
                <a:spcPct val="100000"/>
              </a:lnSpc>
              <a:spcBef>
                <a:spcPts val="575"/>
              </a:spcBef>
            </a:pPr>
            <a:r>
              <a:rPr sz="700" spc="-10" dirty="0">
                <a:latin typeface="Consolas"/>
                <a:cs typeface="Consolas"/>
              </a:rPr>
              <a:t>AnchorPane</a:t>
            </a:r>
            <a:endParaRPr sz="700">
              <a:latin typeface="Consolas"/>
              <a:cs typeface="Consolas"/>
            </a:endParaRPr>
          </a:p>
        </p:txBody>
      </p:sp>
      <p:grpSp>
        <p:nvGrpSpPr>
          <p:cNvPr id="145" name="object 145"/>
          <p:cNvGrpSpPr/>
          <p:nvPr/>
        </p:nvGrpSpPr>
        <p:grpSpPr>
          <a:xfrm>
            <a:off x="4802504" y="4933569"/>
            <a:ext cx="916940" cy="293370"/>
            <a:chOff x="4802504" y="4933569"/>
            <a:chExt cx="916940" cy="293370"/>
          </a:xfrm>
        </p:grpSpPr>
        <p:sp>
          <p:nvSpPr>
            <p:cNvPr id="146" name="object 146"/>
            <p:cNvSpPr/>
            <p:nvPr/>
          </p:nvSpPr>
          <p:spPr>
            <a:xfrm>
              <a:off x="4812029" y="4943094"/>
              <a:ext cx="897890" cy="274320"/>
            </a:xfrm>
            <a:custGeom>
              <a:avLst/>
              <a:gdLst/>
              <a:ahLst/>
              <a:cxnLst/>
              <a:rect l="l" t="t" r="r" b="b"/>
              <a:pathLst>
                <a:path w="897889" h="274320">
                  <a:moveTo>
                    <a:pt x="897636" y="0"/>
                  </a:moveTo>
                  <a:lnTo>
                    <a:pt x="0" y="0"/>
                  </a:lnTo>
                  <a:lnTo>
                    <a:pt x="0" y="274319"/>
                  </a:lnTo>
                  <a:lnTo>
                    <a:pt x="897636" y="274319"/>
                  </a:lnTo>
                  <a:lnTo>
                    <a:pt x="897636" y="0"/>
                  </a:lnTo>
                  <a:close/>
                </a:path>
              </a:pathLst>
            </a:custGeom>
            <a:solidFill>
              <a:srgbClr val="F9DA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7" name="object 147"/>
            <p:cNvSpPr/>
            <p:nvPr/>
          </p:nvSpPr>
          <p:spPr>
            <a:xfrm>
              <a:off x="4812029" y="4943094"/>
              <a:ext cx="897890" cy="274320"/>
            </a:xfrm>
            <a:custGeom>
              <a:avLst/>
              <a:gdLst/>
              <a:ahLst/>
              <a:cxnLst/>
              <a:rect l="l" t="t" r="r" b="b"/>
              <a:pathLst>
                <a:path w="897889" h="274320">
                  <a:moveTo>
                    <a:pt x="0" y="274319"/>
                  </a:moveTo>
                  <a:lnTo>
                    <a:pt x="897636" y="274319"/>
                  </a:lnTo>
                  <a:lnTo>
                    <a:pt x="897636" y="0"/>
                  </a:lnTo>
                  <a:lnTo>
                    <a:pt x="0" y="0"/>
                  </a:lnTo>
                  <a:lnTo>
                    <a:pt x="0" y="274319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8" name="object 148"/>
          <p:cNvSpPr txBox="1"/>
          <p:nvPr/>
        </p:nvSpPr>
        <p:spPr>
          <a:xfrm>
            <a:off x="4812029" y="4943094"/>
            <a:ext cx="897890" cy="27432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203835">
              <a:lnSpc>
                <a:spcPct val="100000"/>
              </a:lnSpc>
              <a:spcBef>
                <a:spcPts val="580"/>
              </a:spcBef>
            </a:pPr>
            <a:r>
              <a:rPr sz="700" spc="-10" dirty="0">
                <a:latin typeface="Consolas"/>
                <a:cs typeface="Consolas"/>
              </a:rPr>
              <a:t>BorderPane</a:t>
            </a:r>
            <a:endParaRPr sz="700">
              <a:latin typeface="Consolas"/>
              <a:cs typeface="Consolas"/>
            </a:endParaRPr>
          </a:p>
        </p:txBody>
      </p:sp>
      <p:grpSp>
        <p:nvGrpSpPr>
          <p:cNvPr id="149" name="object 149"/>
          <p:cNvGrpSpPr/>
          <p:nvPr/>
        </p:nvGrpSpPr>
        <p:grpSpPr>
          <a:xfrm>
            <a:off x="5812916" y="4547996"/>
            <a:ext cx="916940" cy="293370"/>
            <a:chOff x="5812916" y="4547996"/>
            <a:chExt cx="916940" cy="293370"/>
          </a:xfrm>
        </p:grpSpPr>
        <p:sp>
          <p:nvSpPr>
            <p:cNvPr id="150" name="object 150"/>
            <p:cNvSpPr/>
            <p:nvPr/>
          </p:nvSpPr>
          <p:spPr>
            <a:xfrm>
              <a:off x="5822441" y="4557521"/>
              <a:ext cx="897890" cy="274320"/>
            </a:xfrm>
            <a:custGeom>
              <a:avLst/>
              <a:gdLst/>
              <a:ahLst/>
              <a:cxnLst/>
              <a:rect l="l" t="t" r="r" b="b"/>
              <a:pathLst>
                <a:path w="897890" h="274320">
                  <a:moveTo>
                    <a:pt x="897636" y="0"/>
                  </a:moveTo>
                  <a:lnTo>
                    <a:pt x="0" y="0"/>
                  </a:lnTo>
                  <a:lnTo>
                    <a:pt x="0" y="274319"/>
                  </a:lnTo>
                  <a:lnTo>
                    <a:pt x="897636" y="274319"/>
                  </a:lnTo>
                  <a:lnTo>
                    <a:pt x="897636" y="0"/>
                  </a:lnTo>
                  <a:close/>
                </a:path>
              </a:pathLst>
            </a:custGeom>
            <a:solidFill>
              <a:srgbClr val="F9DA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1" name="object 151"/>
            <p:cNvSpPr/>
            <p:nvPr/>
          </p:nvSpPr>
          <p:spPr>
            <a:xfrm>
              <a:off x="5822441" y="4557521"/>
              <a:ext cx="897890" cy="274320"/>
            </a:xfrm>
            <a:custGeom>
              <a:avLst/>
              <a:gdLst/>
              <a:ahLst/>
              <a:cxnLst/>
              <a:rect l="l" t="t" r="r" b="b"/>
              <a:pathLst>
                <a:path w="897890" h="274320">
                  <a:moveTo>
                    <a:pt x="0" y="274319"/>
                  </a:moveTo>
                  <a:lnTo>
                    <a:pt x="897636" y="274319"/>
                  </a:lnTo>
                  <a:lnTo>
                    <a:pt x="897636" y="0"/>
                  </a:lnTo>
                  <a:lnTo>
                    <a:pt x="0" y="0"/>
                  </a:lnTo>
                  <a:lnTo>
                    <a:pt x="0" y="274319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2" name="object 152"/>
          <p:cNvSpPr txBox="1"/>
          <p:nvPr/>
        </p:nvSpPr>
        <p:spPr>
          <a:xfrm>
            <a:off x="5822441" y="4557521"/>
            <a:ext cx="897890" cy="274320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252095">
              <a:lnSpc>
                <a:spcPct val="100000"/>
              </a:lnSpc>
              <a:spcBef>
                <a:spcPts val="575"/>
              </a:spcBef>
            </a:pPr>
            <a:r>
              <a:rPr sz="700" spc="-10" dirty="0">
                <a:latin typeface="Consolas"/>
                <a:cs typeface="Consolas"/>
              </a:rPr>
              <a:t>FlowPane</a:t>
            </a:r>
            <a:endParaRPr sz="700">
              <a:latin typeface="Consolas"/>
              <a:cs typeface="Consolas"/>
            </a:endParaRPr>
          </a:p>
        </p:txBody>
      </p:sp>
      <p:grpSp>
        <p:nvGrpSpPr>
          <p:cNvPr id="153" name="object 153"/>
          <p:cNvGrpSpPr/>
          <p:nvPr/>
        </p:nvGrpSpPr>
        <p:grpSpPr>
          <a:xfrm>
            <a:off x="5812916" y="4933569"/>
            <a:ext cx="916940" cy="293370"/>
            <a:chOff x="5812916" y="4933569"/>
            <a:chExt cx="916940" cy="293370"/>
          </a:xfrm>
        </p:grpSpPr>
        <p:sp>
          <p:nvSpPr>
            <p:cNvPr id="154" name="object 154"/>
            <p:cNvSpPr/>
            <p:nvPr/>
          </p:nvSpPr>
          <p:spPr>
            <a:xfrm>
              <a:off x="5822441" y="4943094"/>
              <a:ext cx="897890" cy="274320"/>
            </a:xfrm>
            <a:custGeom>
              <a:avLst/>
              <a:gdLst/>
              <a:ahLst/>
              <a:cxnLst/>
              <a:rect l="l" t="t" r="r" b="b"/>
              <a:pathLst>
                <a:path w="897890" h="274320">
                  <a:moveTo>
                    <a:pt x="897636" y="0"/>
                  </a:moveTo>
                  <a:lnTo>
                    <a:pt x="0" y="0"/>
                  </a:lnTo>
                  <a:lnTo>
                    <a:pt x="0" y="274319"/>
                  </a:lnTo>
                  <a:lnTo>
                    <a:pt x="897636" y="274319"/>
                  </a:lnTo>
                  <a:lnTo>
                    <a:pt x="897636" y="0"/>
                  </a:lnTo>
                  <a:close/>
                </a:path>
              </a:pathLst>
            </a:custGeom>
            <a:solidFill>
              <a:srgbClr val="F9DA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5" name="object 155"/>
            <p:cNvSpPr/>
            <p:nvPr/>
          </p:nvSpPr>
          <p:spPr>
            <a:xfrm>
              <a:off x="5822441" y="4943094"/>
              <a:ext cx="897890" cy="274320"/>
            </a:xfrm>
            <a:custGeom>
              <a:avLst/>
              <a:gdLst/>
              <a:ahLst/>
              <a:cxnLst/>
              <a:rect l="l" t="t" r="r" b="b"/>
              <a:pathLst>
                <a:path w="897890" h="274320">
                  <a:moveTo>
                    <a:pt x="0" y="274319"/>
                  </a:moveTo>
                  <a:lnTo>
                    <a:pt x="897636" y="274319"/>
                  </a:lnTo>
                  <a:lnTo>
                    <a:pt x="897636" y="0"/>
                  </a:lnTo>
                  <a:lnTo>
                    <a:pt x="0" y="0"/>
                  </a:lnTo>
                  <a:lnTo>
                    <a:pt x="0" y="274319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6" name="object 156"/>
          <p:cNvSpPr txBox="1"/>
          <p:nvPr/>
        </p:nvSpPr>
        <p:spPr>
          <a:xfrm>
            <a:off x="5822441" y="4943094"/>
            <a:ext cx="897890" cy="27432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252095">
              <a:lnSpc>
                <a:spcPct val="100000"/>
              </a:lnSpc>
              <a:spcBef>
                <a:spcPts val="580"/>
              </a:spcBef>
            </a:pPr>
            <a:r>
              <a:rPr sz="700" spc="-10" dirty="0">
                <a:latin typeface="Consolas"/>
                <a:cs typeface="Consolas"/>
              </a:rPr>
              <a:t>GridPane</a:t>
            </a:r>
            <a:endParaRPr sz="700">
              <a:latin typeface="Consolas"/>
              <a:cs typeface="Consolas"/>
            </a:endParaRPr>
          </a:p>
        </p:txBody>
      </p:sp>
      <p:grpSp>
        <p:nvGrpSpPr>
          <p:cNvPr id="157" name="object 157"/>
          <p:cNvGrpSpPr/>
          <p:nvPr/>
        </p:nvGrpSpPr>
        <p:grpSpPr>
          <a:xfrm>
            <a:off x="6821805" y="4547996"/>
            <a:ext cx="916940" cy="293370"/>
            <a:chOff x="6821805" y="4547996"/>
            <a:chExt cx="916940" cy="293370"/>
          </a:xfrm>
        </p:grpSpPr>
        <p:sp>
          <p:nvSpPr>
            <p:cNvPr id="158" name="object 158"/>
            <p:cNvSpPr/>
            <p:nvPr/>
          </p:nvSpPr>
          <p:spPr>
            <a:xfrm>
              <a:off x="6831330" y="4557521"/>
              <a:ext cx="897890" cy="274320"/>
            </a:xfrm>
            <a:custGeom>
              <a:avLst/>
              <a:gdLst/>
              <a:ahLst/>
              <a:cxnLst/>
              <a:rect l="l" t="t" r="r" b="b"/>
              <a:pathLst>
                <a:path w="897890" h="274320">
                  <a:moveTo>
                    <a:pt x="897635" y="0"/>
                  </a:moveTo>
                  <a:lnTo>
                    <a:pt x="0" y="0"/>
                  </a:lnTo>
                  <a:lnTo>
                    <a:pt x="0" y="274319"/>
                  </a:lnTo>
                  <a:lnTo>
                    <a:pt x="897635" y="274319"/>
                  </a:lnTo>
                  <a:lnTo>
                    <a:pt x="897635" y="0"/>
                  </a:lnTo>
                  <a:close/>
                </a:path>
              </a:pathLst>
            </a:custGeom>
            <a:solidFill>
              <a:srgbClr val="F9DA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9" name="object 159"/>
            <p:cNvSpPr/>
            <p:nvPr/>
          </p:nvSpPr>
          <p:spPr>
            <a:xfrm>
              <a:off x="6831330" y="4557521"/>
              <a:ext cx="897890" cy="274320"/>
            </a:xfrm>
            <a:custGeom>
              <a:avLst/>
              <a:gdLst/>
              <a:ahLst/>
              <a:cxnLst/>
              <a:rect l="l" t="t" r="r" b="b"/>
              <a:pathLst>
                <a:path w="897890" h="274320">
                  <a:moveTo>
                    <a:pt x="0" y="274319"/>
                  </a:moveTo>
                  <a:lnTo>
                    <a:pt x="897635" y="274319"/>
                  </a:lnTo>
                  <a:lnTo>
                    <a:pt x="897635" y="0"/>
                  </a:lnTo>
                  <a:lnTo>
                    <a:pt x="0" y="0"/>
                  </a:lnTo>
                  <a:lnTo>
                    <a:pt x="0" y="274319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0" name="object 160"/>
          <p:cNvSpPr txBox="1"/>
          <p:nvPr/>
        </p:nvSpPr>
        <p:spPr>
          <a:xfrm>
            <a:off x="6831330" y="4557521"/>
            <a:ext cx="897890" cy="274320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75"/>
              </a:spcBef>
            </a:pPr>
            <a:r>
              <a:rPr sz="700" spc="-20" dirty="0">
                <a:latin typeface="Consolas"/>
                <a:cs typeface="Consolas"/>
              </a:rPr>
              <a:t>HBox</a:t>
            </a:r>
            <a:endParaRPr sz="700">
              <a:latin typeface="Consolas"/>
              <a:cs typeface="Consolas"/>
            </a:endParaRPr>
          </a:p>
        </p:txBody>
      </p:sp>
      <p:grpSp>
        <p:nvGrpSpPr>
          <p:cNvPr id="161" name="object 161"/>
          <p:cNvGrpSpPr/>
          <p:nvPr/>
        </p:nvGrpSpPr>
        <p:grpSpPr>
          <a:xfrm>
            <a:off x="6821805" y="4933569"/>
            <a:ext cx="916940" cy="293370"/>
            <a:chOff x="6821805" y="4933569"/>
            <a:chExt cx="916940" cy="293370"/>
          </a:xfrm>
        </p:grpSpPr>
        <p:sp>
          <p:nvSpPr>
            <p:cNvPr id="162" name="object 162"/>
            <p:cNvSpPr/>
            <p:nvPr/>
          </p:nvSpPr>
          <p:spPr>
            <a:xfrm>
              <a:off x="6831330" y="4943094"/>
              <a:ext cx="897890" cy="274320"/>
            </a:xfrm>
            <a:custGeom>
              <a:avLst/>
              <a:gdLst/>
              <a:ahLst/>
              <a:cxnLst/>
              <a:rect l="l" t="t" r="r" b="b"/>
              <a:pathLst>
                <a:path w="897890" h="274320">
                  <a:moveTo>
                    <a:pt x="897635" y="0"/>
                  </a:moveTo>
                  <a:lnTo>
                    <a:pt x="0" y="0"/>
                  </a:lnTo>
                  <a:lnTo>
                    <a:pt x="0" y="274319"/>
                  </a:lnTo>
                  <a:lnTo>
                    <a:pt x="897635" y="274319"/>
                  </a:lnTo>
                  <a:lnTo>
                    <a:pt x="897635" y="0"/>
                  </a:lnTo>
                  <a:close/>
                </a:path>
              </a:pathLst>
            </a:custGeom>
            <a:solidFill>
              <a:srgbClr val="F9DA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3" name="object 163"/>
            <p:cNvSpPr/>
            <p:nvPr/>
          </p:nvSpPr>
          <p:spPr>
            <a:xfrm>
              <a:off x="6831330" y="4943094"/>
              <a:ext cx="897890" cy="274320"/>
            </a:xfrm>
            <a:custGeom>
              <a:avLst/>
              <a:gdLst/>
              <a:ahLst/>
              <a:cxnLst/>
              <a:rect l="l" t="t" r="r" b="b"/>
              <a:pathLst>
                <a:path w="897890" h="274320">
                  <a:moveTo>
                    <a:pt x="0" y="274319"/>
                  </a:moveTo>
                  <a:lnTo>
                    <a:pt x="897635" y="274319"/>
                  </a:lnTo>
                  <a:lnTo>
                    <a:pt x="897635" y="0"/>
                  </a:lnTo>
                  <a:lnTo>
                    <a:pt x="0" y="0"/>
                  </a:lnTo>
                  <a:lnTo>
                    <a:pt x="0" y="274319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4" name="object 164"/>
          <p:cNvSpPr txBox="1"/>
          <p:nvPr/>
        </p:nvSpPr>
        <p:spPr>
          <a:xfrm>
            <a:off x="6831330" y="4943094"/>
            <a:ext cx="897890" cy="27432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228600">
              <a:lnSpc>
                <a:spcPct val="100000"/>
              </a:lnSpc>
              <a:spcBef>
                <a:spcPts val="580"/>
              </a:spcBef>
            </a:pPr>
            <a:r>
              <a:rPr sz="700" spc="-10" dirty="0">
                <a:latin typeface="Consolas"/>
                <a:cs typeface="Consolas"/>
              </a:rPr>
              <a:t>StackPane</a:t>
            </a:r>
            <a:endParaRPr sz="700">
              <a:latin typeface="Consolas"/>
              <a:cs typeface="Consolas"/>
            </a:endParaRPr>
          </a:p>
        </p:txBody>
      </p:sp>
      <p:grpSp>
        <p:nvGrpSpPr>
          <p:cNvPr id="165" name="object 165"/>
          <p:cNvGrpSpPr/>
          <p:nvPr/>
        </p:nvGrpSpPr>
        <p:grpSpPr>
          <a:xfrm>
            <a:off x="7832217" y="4547996"/>
            <a:ext cx="916940" cy="293370"/>
            <a:chOff x="7832217" y="4547996"/>
            <a:chExt cx="916940" cy="293370"/>
          </a:xfrm>
        </p:grpSpPr>
        <p:sp>
          <p:nvSpPr>
            <p:cNvPr id="166" name="object 166"/>
            <p:cNvSpPr/>
            <p:nvPr/>
          </p:nvSpPr>
          <p:spPr>
            <a:xfrm>
              <a:off x="7841742" y="4557521"/>
              <a:ext cx="897890" cy="274320"/>
            </a:xfrm>
            <a:custGeom>
              <a:avLst/>
              <a:gdLst/>
              <a:ahLst/>
              <a:cxnLst/>
              <a:rect l="l" t="t" r="r" b="b"/>
              <a:pathLst>
                <a:path w="897890" h="274320">
                  <a:moveTo>
                    <a:pt x="897636" y="0"/>
                  </a:moveTo>
                  <a:lnTo>
                    <a:pt x="0" y="0"/>
                  </a:lnTo>
                  <a:lnTo>
                    <a:pt x="0" y="274319"/>
                  </a:lnTo>
                  <a:lnTo>
                    <a:pt x="897636" y="274319"/>
                  </a:lnTo>
                  <a:lnTo>
                    <a:pt x="897636" y="0"/>
                  </a:lnTo>
                  <a:close/>
                </a:path>
              </a:pathLst>
            </a:custGeom>
            <a:solidFill>
              <a:srgbClr val="F9DA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7" name="object 167"/>
            <p:cNvSpPr/>
            <p:nvPr/>
          </p:nvSpPr>
          <p:spPr>
            <a:xfrm>
              <a:off x="7841742" y="4557521"/>
              <a:ext cx="897890" cy="274320"/>
            </a:xfrm>
            <a:custGeom>
              <a:avLst/>
              <a:gdLst/>
              <a:ahLst/>
              <a:cxnLst/>
              <a:rect l="l" t="t" r="r" b="b"/>
              <a:pathLst>
                <a:path w="897890" h="274320">
                  <a:moveTo>
                    <a:pt x="0" y="274319"/>
                  </a:moveTo>
                  <a:lnTo>
                    <a:pt x="897636" y="274319"/>
                  </a:lnTo>
                  <a:lnTo>
                    <a:pt x="897636" y="0"/>
                  </a:lnTo>
                  <a:lnTo>
                    <a:pt x="0" y="0"/>
                  </a:lnTo>
                  <a:lnTo>
                    <a:pt x="0" y="274319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8" name="object 168"/>
          <p:cNvSpPr txBox="1"/>
          <p:nvPr/>
        </p:nvSpPr>
        <p:spPr>
          <a:xfrm>
            <a:off x="7841742" y="4557521"/>
            <a:ext cx="897890" cy="274320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252729">
              <a:lnSpc>
                <a:spcPct val="100000"/>
              </a:lnSpc>
              <a:spcBef>
                <a:spcPts val="575"/>
              </a:spcBef>
            </a:pPr>
            <a:r>
              <a:rPr sz="700" spc="-10" dirty="0">
                <a:latin typeface="Consolas"/>
                <a:cs typeface="Consolas"/>
              </a:rPr>
              <a:t>TilePane</a:t>
            </a:r>
            <a:endParaRPr sz="700">
              <a:latin typeface="Consolas"/>
              <a:cs typeface="Consolas"/>
            </a:endParaRPr>
          </a:p>
        </p:txBody>
      </p:sp>
      <p:grpSp>
        <p:nvGrpSpPr>
          <p:cNvPr id="169" name="object 169"/>
          <p:cNvGrpSpPr/>
          <p:nvPr/>
        </p:nvGrpSpPr>
        <p:grpSpPr>
          <a:xfrm>
            <a:off x="7832217" y="4933569"/>
            <a:ext cx="916940" cy="293370"/>
            <a:chOff x="7832217" y="4933569"/>
            <a:chExt cx="916940" cy="293370"/>
          </a:xfrm>
        </p:grpSpPr>
        <p:sp>
          <p:nvSpPr>
            <p:cNvPr id="170" name="object 170"/>
            <p:cNvSpPr/>
            <p:nvPr/>
          </p:nvSpPr>
          <p:spPr>
            <a:xfrm>
              <a:off x="7841742" y="4943094"/>
              <a:ext cx="897890" cy="274320"/>
            </a:xfrm>
            <a:custGeom>
              <a:avLst/>
              <a:gdLst/>
              <a:ahLst/>
              <a:cxnLst/>
              <a:rect l="l" t="t" r="r" b="b"/>
              <a:pathLst>
                <a:path w="897890" h="274320">
                  <a:moveTo>
                    <a:pt x="897636" y="0"/>
                  </a:moveTo>
                  <a:lnTo>
                    <a:pt x="0" y="0"/>
                  </a:lnTo>
                  <a:lnTo>
                    <a:pt x="0" y="274319"/>
                  </a:lnTo>
                  <a:lnTo>
                    <a:pt x="897636" y="274319"/>
                  </a:lnTo>
                  <a:lnTo>
                    <a:pt x="897636" y="0"/>
                  </a:lnTo>
                  <a:close/>
                </a:path>
              </a:pathLst>
            </a:custGeom>
            <a:solidFill>
              <a:srgbClr val="F9DA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1" name="object 171"/>
            <p:cNvSpPr/>
            <p:nvPr/>
          </p:nvSpPr>
          <p:spPr>
            <a:xfrm>
              <a:off x="7841742" y="4943094"/>
              <a:ext cx="897890" cy="274320"/>
            </a:xfrm>
            <a:custGeom>
              <a:avLst/>
              <a:gdLst/>
              <a:ahLst/>
              <a:cxnLst/>
              <a:rect l="l" t="t" r="r" b="b"/>
              <a:pathLst>
                <a:path w="897890" h="274320">
                  <a:moveTo>
                    <a:pt x="0" y="274319"/>
                  </a:moveTo>
                  <a:lnTo>
                    <a:pt x="897636" y="274319"/>
                  </a:lnTo>
                  <a:lnTo>
                    <a:pt x="897636" y="0"/>
                  </a:lnTo>
                  <a:lnTo>
                    <a:pt x="0" y="0"/>
                  </a:lnTo>
                  <a:lnTo>
                    <a:pt x="0" y="274319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2" name="object 172"/>
          <p:cNvSpPr txBox="1"/>
          <p:nvPr/>
        </p:nvSpPr>
        <p:spPr>
          <a:xfrm>
            <a:off x="7841742" y="4943094"/>
            <a:ext cx="897890" cy="27432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80"/>
              </a:spcBef>
            </a:pPr>
            <a:r>
              <a:rPr sz="700" spc="-20" dirty="0">
                <a:latin typeface="Consolas"/>
                <a:cs typeface="Consolas"/>
              </a:rPr>
              <a:t>VBox</a:t>
            </a:r>
            <a:endParaRPr sz="700">
              <a:latin typeface="Consolas"/>
              <a:cs typeface="Consolas"/>
            </a:endParaRPr>
          </a:p>
        </p:txBody>
      </p:sp>
      <p:grpSp>
        <p:nvGrpSpPr>
          <p:cNvPr id="173" name="object 173"/>
          <p:cNvGrpSpPr/>
          <p:nvPr/>
        </p:nvGrpSpPr>
        <p:grpSpPr>
          <a:xfrm>
            <a:off x="2649092" y="4741545"/>
            <a:ext cx="916940" cy="292100"/>
            <a:chOff x="2649092" y="4741545"/>
            <a:chExt cx="916940" cy="292100"/>
          </a:xfrm>
        </p:grpSpPr>
        <p:sp>
          <p:nvSpPr>
            <p:cNvPr id="174" name="object 174"/>
            <p:cNvSpPr/>
            <p:nvPr/>
          </p:nvSpPr>
          <p:spPr>
            <a:xfrm>
              <a:off x="2658617" y="4751070"/>
              <a:ext cx="897890" cy="273050"/>
            </a:xfrm>
            <a:custGeom>
              <a:avLst/>
              <a:gdLst/>
              <a:ahLst/>
              <a:cxnLst/>
              <a:rect l="l" t="t" r="r" b="b"/>
              <a:pathLst>
                <a:path w="897889" h="273050">
                  <a:moveTo>
                    <a:pt x="897635" y="0"/>
                  </a:moveTo>
                  <a:lnTo>
                    <a:pt x="0" y="0"/>
                  </a:lnTo>
                  <a:lnTo>
                    <a:pt x="0" y="272795"/>
                  </a:lnTo>
                  <a:lnTo>
                    <a:pt x="897635" y="272795"/>
                  </a:lnTo>
                  <a:lnTo>
                    <a:pt x="897635" y="0"/>
                  </a:lnTo>
                  <a:close/>
                </a:path>
              </a:pathLst>
            </a:custGeom>
            <a:solidFill>
              <a:srgbClr val="D2DA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5" name="object 175"/>
            <p:cNvSpPr/>
            <p:nvPr/>
          </p:nvSpPr>
          <p:spPr>
            <a:xfrm>
              <a:off x="2658617" y="4751070"/>
              <a:ext cx="897890" cy="273050"/>
            </a:xfrm>
            <a:custGeom>
              <a:avLst/>
              <a:gdLst/>
              <a:ahLst/>
              <a:cxnLst/>
              <a:rect l="l" t="t" r="r" b="b"/>
              <a:pathLst>
                <a:path w="897889" h="273050">
                  <a:moveTo>
                    <a:pt x="0" y="272795"/>
                  </a:moveTo>
                  <a:lnTo>
                    <a:pt x="897635" y="272795"/>
                  </a:lnTo>
                  <a:lnTo>
                    <a:pt x="897635" y="0"/>
                  </a:lnTo>
                  <a:lnTo>
                    <a:pt x="0" y="0"/>
                  </a:lnTo>
                  <a:lnTo>
                    <a:pt x="0" y="272795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6" name="object 176"/>
          <p:cNvSpPr txBox="1"/>
          <p:nvPr/>
        </p:nvSpPr>
        <p:spPr>
          <a:xfrm>
            <a:off x="2658617" y="4751070"/>
            <a:ext cx="897890" cy="273050"/>
          </a:xfrm>
          <a:prstGeom prst="rect">
            <a:avLst/>
          </a:prstGeom>
        </p:spPr>
        <p:txBody>
          <a:bodyPr vert="horz" wrap="square" lIns="0" tIns="72390" rIns="0" bIns="0" rtlCol="0">
            <a:spAutoFit/>
          </a:bodyPr>
          <a:lstStyle/>
          <a:p>
            <a:pPr marL="276225">
              <a:lnSpc>
                <a:spcPct val="100000"/>
              </a:lnSpc>
              <a:spcBef>
                <a:spcPts val="570"/>
              </a:spcBef>
            </a:pPr>
            <a:r>
              <a:rPr sz="700" spc="-10" dirty="0">
                <a:latin typeface="Consolas"/>
                <a:cs typeface="Consolas"/>
              </a:rPr>
              <a:t>WebView</a:t>
            </a:r>
            <a:endParaRPr sz="700">
              <a:latin typeface="Consolas"/>
              <a:cs typeface="Consolas"/>
            </a:endParaRPr>
          </a:p>
        </p:txBody>
      </p:sp>
      <p:grpSp>
        <p:nvGrpSpPr>
          <p:cNvPr id="177" name="object 177"/>
          <p:cNvGrpSpPr/>
          <p:nvPr/>
        </p:nvGrpSpPr>
        <p:grpSpPr>
          <a:xfrm>
            <a:off x="1571625" y="5512689"/>
            <a:ext cx="916940" cy="293370"/>
            <a:chOff x="1571625" y="5512689"/>
            <a:chExt cx="916940" cy="293370"/>
          </a:xfrm>
        </p:grpSpPr>
        <p:sp>
          <p:nvSpPr>
            <p:cNvPr id="178" name="object 178"/>
            <p:cNvSpPr/>
            <p:nvPr/>
          </p:nvSpPr>
          <p:spPr>
            <a:xfrm>
              <a:off x="1581150" y="5522214"/>
              <a:ext cx="897890" cy="274320"/>
            </a:xfrm>
            <a:custGeom>
              <a:avLst/>
              <a:gdLst/>
              <a:ahLst/>
              <a:cxnLst/>
              <a:rect l="l" t="t" r="r" b="b"/>
              <a:pathLst>
                <a:path w="897889" h="274320">
                  <a:moveTo>
                    <a:pt x="897636" y="0"/>
                  </a:moveTo>
                  <a:lnTo>
                    <a:pt x="0" y="0"/>
                  </a:lnTo>
                  <a:lnTo>
                    <a:pt x="0" y="274320"/>
                  </a:lnTo>
                  <a:lnTo>
                    <a:pt x="897636" y="274320"/>
                  </a:lnTo>
                  <a:lnTo>
                    <a:pt x="897636" y="0"/>
                  </a:lnTo>
                  <a:close/>
                </a:path>
              </a:pathLst>
            </a:custGeom>
            <a:solidFill>
              <a:srgbClr val="9FB8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9" name="object 179"/>
            <p:cNvSpPr/>
            <p:nvPr/>
          </p:nvSpPr>
          <p:spPr>
            <a:xfrm>
              <a:off x="1581150" y="5522214"/>
              <a:ext cx="897890" cy="274320"/>
            </a:xfrm>
            <a:custGeom>
              <a:avLst/>
              <a:gdLst/>
              <a:ahLst/>
              <a:cxnLst/>
              <a:rect l="l" t="t" r="r" b="b"/>
              <a:pathLst>
                <a:path w="897889" h="274320">
                  <a:moveTo>
                    <a:pt x="0" y="274320"/>
                  </a:moveTo>
                  <a:lnTo>
                    <a:pt x="897636" y="274320"/>
                  </a:lnTo>
                  <a:lnTo>
                    <a:pt x="897636" y="0"/>
                  </a:lnTo>
                  <a:lnTo>
                    <a:pt x="0" y="0"/>
                  </a:lnTo>
                  <a:lnTo>
                    <a:pt x="0" y="274320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0" name="object 180"/>
          <p:cNvSpPr txBox="1"/>
          <p:nvPr/>
        </p:nvSpPr>
        <p:spPr>
          <a:xfrm>
            <a:off x="1581150" y="5522214"/>
            <a:ext cx="897890" cy="274320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75"/>
              </a:spcBef>
            </a:pPr>
            <a:r>
              <a:rPr sz="700" spc="-10" dirty="0">
                <a:latin typeface="Consolas"/>
                <a:cs typeface="Consolas"/>
              </a:rPr>
              <a:t>Shape</a:t>
            </a:r>
            <a:endParaRPr sz="700">
              <a:latin typeface="Consolas"/>
              <a:cs typeface="Consolas"/>
            </a:endParaRPr>
          </a:p>
        </p:txBody>
      </p:sp>
      <p:grpSp>
        <p:nvGrpSpPr>
          <p:cNvPr id="181" name="object 181"/>
          <p:cNvGrpSpPr/>
          <p:nvPr/>
        </p:nvGrpSpPr>
        <p:grpSpPr>
          <a:xfrm>
            <a:off x="2649092" y="5320665"/>
            <a:ext cx="916940" cy="292100"/>
            <a:chOff x="2649092" y="5320665"/>
            <a:chExt cx="916940" cy="292100"/>
          </a:xfrm>
        </p:grpSpPr>
        <p:sp>
          <p:nvSpPr>
            <p:cNvPr id="182" name="object 182"/>
            <p:cNvSpPr/>
            <p:nvPr/>
          </p:nvSpPr>
          <p:spPr>
            <a:xfrm>
              <a:off x="2658617" y="5330190"/>
              <a:ext cx="897890" cy="273050"/>
            </a:xfrm>
            <a:custGeom>
              <a:avLst/>
              <a:gdLst/>
              <a:ahLst/>
              <a:cxnLst/>
              <a:rect l="l" t="t" r="r" b="b"/>
              <a:pathLst>
                <a:path w="897889" h="273050">
                  <a:moveTo>
                    <a:pt x="897635" y="0"/>
                  </a:moveTo>
                  <a:lnTo>
                    <a:pt x="0" y="0"/>
                  </a:lnTo>
                  <a:lnTo>
                    <a:pt x="0" y="272796"/>
                  </a:lnTo>
                  <a:lnTo>
                    <a:pt x="897635" y="272796"/>
                  </a:lnTo>
                  <a:lnTo>
                    <a:pt x="897635" y="0"/>
                  </a:lnTo>
                  <a:close/>
                </a:path>
              </a:pathLst>
            </a:custGeom>
            <a:solidFill>
              <a:srgbClr val="D2DA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3" name="object 183"/>
            <p:cNvSpPr/>
            <p:nvPr/>
          </p:nvSpPr>
          <p:spPr>
            <a:xfrm>
              <a:off x="2658617" y="5330190"/>
              <a:ext cx="897890" cy="273050"/>
            </a:xfrm>
            <a:custGeom>
              <a:avLst/>
              <a:gdLst/>
              <a:ahLst/>
              <a:cxnLst/>
              <a:rect l="l" t="t" r="r" b="b"/>
              <a:pathLst>
                <a:path w="897889" h="273050">
                  <a:moveTo>
                    <a:pt x="0" y="272796"/>
                  </a:moveTo>
                  <a:lnTo>
                    <a:pt x="897635" y="272796"/>
                  </a:lnTo>
                  <a:lnTo>
                    <a:pt x="897635" y="0"/>
                  </a:lnTo>
                  <a:lnTo>
                    <a:pt x="0" y="0"/>
                  </a:lnTo>
                  <a:lnTo>
                    <a:pt x="0" y="272796"/>
                  </a:lnTo>
                  <a:close/>
                </a:path>
              </a:pathLst>
            </a:custGeom>
            <a:ln w="190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4" name="object 184"/>
          <p:cNvSpPr txBox="1"/>
          <p:nvPr/>
        </p:nvSpPr>
        <p:spPr>
          <a:xfrm>
            <a:off x="2658617" y="5330190"/>
            <a:ext cx="897890" cy="273050"/>
          </a:xfrm>
          <a:prstGeom prst="rect">
            <a:avLst/>
          </a:prstGeom>
        </p:spPr>
        <p:txBody>
          <a:bodyPr vert="horz" wrap="square" lIns="0" tIns="7239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70"/>
              </a:spcBef>
            </a:pPr>
            <a:r>
              <a:rPr sz="700" spc="-25" dirty="0">
                <a:latin typeface="Consolas"/>
                <a:cs typeface="Consolas"/>
              </a:rPr>
              <a:t>Arc</a:t>
            </a:r>
            <a:endParaRPr sz="700">
              <a:latin typeface="Consolas"/>
              <a:cs typeface="Consolas"/>
            </a:endParaRPr>
          </a:p>
        </p:txBody>
      </p:sp>
      <p:grpSp>
        <p:nvGrpSpPr>
          <p:cNvPr id="185" name="object 185"/>
          <p:cNvGrpSpPr/>
          <p:nvPr/>
        </p:nvGrpSpPr>
        <p:grpSpPr>
          <a:xfrm>
            <a:off x="2649092" y="5706236"/>
            <a:ext cx="916940" cy="292100"/>
            <a:chOff x="2649092" y="5706236"/>
            <a:chExt cx="916940" cy="292100"/>
          </a:xfrm>
        </p:grpSpPr>
        <p:sp>
          <p:nvSpPr>
            <p:cNvPr id="186" name="object 186"/>
            <p:cNvSpPr/>
            <p:nvPr/>
          </p:nvSpPr>
          <p:spPr>
            <a:xfrm>
              <a:off x="2658617" y="5715761"/>
              <a:ext cx="897890" cy="273050"/>
            </a:xfrm>
            <a:custGeom>
              <a:avLst/>
              <a:gdLst/>
              <a:ahLst/>
              <a:cxnLst/>
              <a:rect l="l" t="t" r="r" b="b"/>
              <a:pathLst>
                <a:path w="897889" h="273050">
                  <a:moveTo>
                    <a:pt x="897635" y="0"/>
                  </a:moveTo>
                  <a:lnTo>
                    <a:pt x="0" y="0"/>
                  </a:lnTo>
                  <a:lnTo>
                    <a:pt x="0" y="272796"/>
                  </a:lnTo>
                  <a:lnTo>
                    <a:pt x="897635" y="272796"/>
                  </a:lnTo>
                  <a:lnTo>
                    <a:pt x="897635" y="0"/>
                  </a:lnTo>
                  <a:close/>
                </a:path>
              </a:pathLst>
            </a:custGeom>
            <a:solidFill>
              <a:srgbClr val="D2DA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7" name="object 187"/>
            <p:cNvSpPr/>
            <p:nvPr/>
          </p:nvSpPr>
          <p:spPr>
            <a:xfrm>
              <a:off x="2658617" y="5715761"/>
              <a:ext cx="897890" cy="273050"/>
            </a:xfrm>
            <a:custGeom>
              <a:avLst/>
              <a:gdLst/>
              <a:ahLst/>
              <a:cxnLst/>
              <a:rect l="l" t="t" r="r" b="b"/>
              <a:pathLst>
                <a:path w="897889" h="273050">
                  <a:moveTo>
                    <a:pt x="0" y="272796"/>
                  </a:moveTo>
                  <a:lnTo>
                    <a:pt x="897635" y="272796"/>
                  </a:lnTo>
                  <a:lnTo>
                    <a:pt x="897635" y="0"/>
                  </a:lnTo>
                  <a:lnTo>
                    <a:pt x="0" y="0"/>
                  </a:lnTo>
                  <a:lnTo>
                    <a:pt x="0" y="272796"/>
                  </a:lnTo>
                  <a:close/>
                </a:path>
              </a:pathLst>
            </a:custGeom>
            <a:ln w="190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8" name="object 188"/>
          <p:cNvSpPr txBox="1"/>
          <p:nvPr/>
        </p:nvSpPr>
        <p:spPr>
          <a:xfrm>
            <a:off x="2658617" y="5715761"/>
            <a:ext cx="897890" cy="273050"/>
          </a:xfrm>
          <a:prstGeom prst="rect">
            <a:avLst/>
          </a:prstGeom>
        </p:spPr>
        <p:txBody>
          <a:bodyPr vert="horz" wrap="square" lIns="0" tIns="7239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70"/>
              </a:spcBef>
            </a:pPr>
            <a:r>
              <a:rPr sz="700" spc="-10" dirty="0">
                <a:latin typeface="Consolas"/>
                <a:cs typeface="Consolas"/>
              </a:rPr>
              <a:t>Circle</a:t>
            </a:r>
            <a:endParaRPr sz="700">
              <a:latin typeface="Consolas"/>
              <a:cs typeface="Consolas"/>
            </a:endParaRPr>
          </a:p>
        </p:txBody>
      </p:sp>
      <p:grpSp>
        <p:nvGrpSpPr>
          <p:cNvPr id="189" name="object 189"/>
          <p:cNvGrpSpPr/>
          <p:nvPr/>
        </p:nvGrpSpPr>
        <p:grpSpPr>
          <a:xfrm>
            <a:off x="3657980" y="5320665"/>
            <a:ext cx="916940" cy="292100"/>
            <a:chOff x="3657980" y="5320665"/>
            <a:chExt cx="916940" cy="292100"/>
          </a:xfrm>
        </p:grpSpPr>
        <p:sp>
          <p:nvSpPr>
            <p:cNvPr id="190" name="object 190"/>
            <p:cNvSpPr/>
            <p:nvPr/>
          </p:nvSpPr>
          <p:spPr>
            <a:xfrm>
              <a:off x="3667505" y="5330190"/>
              <a:ext cx="897890" cy="273050"/>
            </a:xfrm>
            <a:custGeom>
              <a:avLst/>
              <a:gdLst/>
              <a:ahLst/>
              <a:cxnLst/>
              <a:rect l="l" t="t" r="r" b="b"/>
              <a:pathLst>
                <a:path w="897889" h="273050">
                  <a:moveTo>
                    <a:pt x="897636" y="0"/>
                  </a:moveTo>
                  <a:lnTo>
                    <a:pt x="0" y="0"/>
                  </a:lnTo>
                  <a:lnTo>
                    <a:pt x="0" y="272796"/>
                  </a:lnTo>
                  <a:lnTo>
                    <a:pt x="897636" y="272796"/>
                  </a:lnTo>
                  <a:lnTo>
                    <a:pt x="897636" y="0"/>
                  </a:lnTo>
                  <a:close/>
                </a:path>
              </a:pathLst>
            </a:custGeom>
            <a:solidFill>
              <a:srgbClr val="D2DA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1" name="object 191"/>
            <p:cNvSpPr/>
            <p:nvPr/>
          </p:nvSpPr>
          <p:spPr>
            <a:xfrm>
              <a:off x="3667505" y="5330190"/>
              <a:ext cx="897890" cy="273050"/>
            </a:xfrm>
            <a:custGeom>
              <a:avLst/>
              <a:gdLst/>
              <a:ahLst/>
              <a:cxnLst/>
              <a:rect l="l" t="t" r="r" b="b"/>
              <a:pathLst>
                <a:path w="897889" h="273050">
                  <a:moveTo>
                    <a:pt x="0" y="272796"/>
                  </a:moveTo>
                  <a:lnTo>
                    <a:pt x="897636" y="272796"/>
                  </a:lnTo>
                  <a:lnTo>
                    <a:pt x="897636" y="0"/>
                  </a:lnTo>
                  <a:lnTo>
                    <a:pt x="0" y="0"/>
                  </a:lnTo>
                  <a:lnTo>
                    <a:pt x="0" y="272796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2" name="object 192"/>
          <p:cNvSpPr txBox="1"/>
          <p:nvPr/>
        </p:nvSpPr>
        <p:spPr>
          <a:xfrm>
            <a:off x="3667505" y="5330190"/>
            <a:ext cx="897890" cy="273050"/>
          </a:xfrm>
          <a:prstGeom prst="rect">
            <a:avLst/>
          </a:prstGeom>
        </p:spPr>
        <p:txBody>
          <a:bodyPr vert="horz" wrap="square" lIns="0" tIns="7239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70"/>
              </a:spcBef>
            </a:pPr>
            <a:r>
              <a:rPr sz="700" spc="-20" dirty="0">
                <a:latin typeface="Consolas"/>
                <a:cs typeface="Consolas"/>
              </a:rPr>
              <a:t>Line</a:t>
            </a:r>
            <a:endParaRPr sz="700">
              <a:latin typeface="Consolas"/>
              <a:cs typeface="Consolas"/>
            </a:endParaRPr>
          </a:p>
        </p:txBody>
      </p:sp>
      <p:grpSp>
        <p:nvGrpSpPr>
          <p:cNvPr id="193" name="object 193"/>
          <p:cNvGrpSpPr/>
          <p:nvPr/>
        </p:nvGrpSpPr>
        <p:grpSpPr>
          <a:xfrm>
            <a:off x="3657980" y="5706236"/>
            <a:ext cx="916940" cy="292100"/>
            <a:chOff x="3657980" y="5706236"/>
            <a:chExt cx="916940" cy="292100"/>
          </a:xfrm>
        </p:grpSpPr>
        <p:sp>
          <p:nvSpPr>
            <p:cNvPr id="194" name="object 194"/>
            <p:cNvSpPr/>
            <p:nvPr/>
          </p:nvSpPr>
          <p:spPr>
            <a:xfrm>
              <a:off x="3667505" y="5715761"/>
              <a:ext cx="897890" cy="273050"/>
            </a:xfrm>
            <a:custGeom>
              <a:avLst/>
              <a:gdLst/>
              <a:ahLst/>
              <a:cxnLst/>
              <a:rect l="l" t="t" r="r" b="b"/>
              <a:pathLst>
                <a:path w="897889" h="273050">
                  <a:moveTo>
                    <a:pt x="897636" y="0"/>
                  </a:moveTo>
                  <a:lnTo>
                    <a:pt x="0" y="0"/>
                  </a:lnTo>
                  <a:lnTo>
                    <a:pt x="0" y="272796"/>
                  </a:lnTo>
                  <a:lnTo>
                    <a:pt x="897636" y="272796"/>
                  </a:lnTo>
                  <a:lnTo>
                    <a:pt x="897636" y="0"/>
                  </a:lnTo>
                  <a:close/>
                </a:path>
              </a:pathLst>
            </a:custGeom>
            <a:solidFill>
              <a:srgbClr val="D2DA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5" name="object 195"/>
            <p:cNvSpPr/>
            <p:nvPr/>
          </p:nvSpPr>
          <p:spPr>
            <a:xfrm>
              <a:off x="3667505" y="5715761"/>
              <a:ext cx="897890" cy="273050"/>
            </a:xfrm>
            <a:custGeom>
              <a:avLst/>
              <a:gdLst/>
              <a:ahLst/>
              <a:cxnLst/>
              <a:rect l="l" t="t" r="r" b="b"/>
              <a:pathLst>
                <a:path w="897889" h="273050">
                  <a:moveTo>
                    <a:pt x="0" y="272796"/>
                  </a:moveTo>
                  <a:lnTo>
                    <a:pt x="897636" y="272796"/>
                  </a:lnTo>
                  <a:lnTo>
                    <a:pt x="897636" y="0"/>
                  </a:lnTo>
                  <a:lnTo>
                    <a:pt x="0" y="0"/>
                  </a:lnTo>
                  <a:lnTo>
                    <a:pt x="0" y="272796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6" name="object 196"/>
          <p:cNvSpPr txBox="1"/>
          <p:nvPr/>
        </p:nvSpPr>
        <p:spPr>
          <a:xfrm>
            <a:off x="3667505" y="5715761"/>
            <a:ext cx="897890" cy="273050"/>
          </a:xfrm>
          <a:prstGeom prst="rect">
            <a:avLst/>
          </a:prstGeom>
        </p:spPr>
        <p:txBody>
          <a:bodyPr vert="horz" wrap="square" lIns="0" tIns="72390" rIns="0" bIns="0" rtlCol="0">
            <a:spAutoFit/>
          </a:bodyPr>
          <a:lstStyle/>
          <a:p>
            <a:pPr marL="277495">
              <a:lnSpc>
                <a:spcPct val="100000"/>
              </a:lnSpc>
              <a:spcBef>
                <a:spcPts val="570"/>
              </a:spcBef>
            </a:pPr>
            <a:r>
              <a:rPr sz="700" spc="-10" dirty="0">
                <a:latin typeface="Consolas"/>
                <a:cs typeface="Consolas"/>
              </a:rPr>
              <a:t>Polygon</a:t>
            </a:r>
            <a:endParaRPr sz="700">
              <a:latin typeface="Consolas"/>
              <a:cs typeface="Consolas"/>
            </a:endParaRPr>
          </a:p>
        </p:txBody>
      </p:sp>
      <p:grpSp>
        <p:nvGrpSpPr>
          <p:cNvPr id="197" name="object 197"/>
          <p:cNvGrpSpPr/>
          <p:nvPr/>
        </p:nvGrpSpPr>
        <p:grpSpPr>
          <a:xfrm>
            <a:off x="4668392" y="5320665"/>
            <a:ext cx="916940" cy="292100"/>
            <a:chOff x="4668392" y="5320665"/>
            <a:chExt cx="916940" cy="292100"/>
          </a:xfrm>
        </p:grpSpPr>
        <p:sp>
          <p:nvSpPr>
            <p:cNvPr id="198" name="object 198"/>
            <p:cNvSpPr/>
            <p:nvPr/>
          </p:nvSpPr>
          <p:spPr>
            <a:xfrm>
              <a:off x="4677917" y="5330190"/>
              <a:ext cx="897890" cy="273050"/>
            </a:xfrm>
            <a:custGeom>
              <a:avLst/>
              <a:gdLst/>
              <a:ahLst/>
              <a:cxnLst/>
              <a:rect l="l" t="t" r="r" b="b"/>
              <a:pathLst>
                <a:path w="897889" h="273050">
                  <a:moveTo>
                    <a:pt x="897636" y="0"/>
                  </a:moveTo>
                  <a:lnTo>
                    <a:pt x="0" y="0"/>
                  </a:lnTo>
                  <a:lnTo>
                    <a:pt x="0" y="272796"/>
                  </a:lnTo>
                  <a:lnTo>
                    <a:pt x="897636" y="272796"/>
                  </a:lnTo>
                  <a:lnTo>
                    <a:pt x="897636" y="0"/>
                  </a:lnTo>
                  <a:close/>
                </a:path>
              </a:pathLst>
            </a:custGeom>
            <a:solidFill>
              <a:srgbClr val="D2DA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9" name="object 199"/>
            <p:cNvSpPr/>
            <p:nvPr/>
          </p:nvSpPr>
          <p:spPr>
            <a:xfrm>
              <a:off x="4677917" y="5330190"/>
              <a:ext cx="897890" cy="273050"/>
            </a:xfrm>
            <a:custGeom>
              <a:avLst/>
              <a:gdLst/>
              <a:ahLst/>
              <a:cxnLst/>
              <a:rect l="l" t="t" r="r" b="b"/>
              <a:pathLst>
                <a:path w="897889" h="273050">
                  <a:moveTo>
                    <a:pt x="0" y="272796"/>
                  </a:moveTo>
                  <a:lnTo>
                    <a:pt x="897636" y="272796"/>
                  </a:lnTo>
                  <a:lnTo>
                    <a:pt x="897636" y="0"/>
                  </a:lnTo>
                  <a:lnTo>
                    <a:pt x="0" y="0"/>
                  </a:lnTo>
                  <a:lnTo>
                    <a:pt x="0" y="272796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0" name="object 200"/>
          <p:cNvSpPr txBox="1"/>
          <p:nvPr/>
        </p:nvSpPr>
        <p:spPr>
          <a:xfrm>
            <a:off x="4677917" y="5330190"/>
            <a:ext cx="897890" cy="273050"/>
          </a:xfrm>
          <a:prstGeom prst="rect">
            <a:avLst/>
          </a:prstGeom>
        </p:spPr>
        <p:txBody>
          <a:bodyPr vert="horz" wrap="square" lIns="0" tIns="72390" rIns="0" bIns="0" rtlCol="0">
            <a:spAutoFit/>
          </a:bodyPr>
          <a:lstStyle/>
          <a:p>
            <a:pPr marL="252095">
              <a:lnSpc>
                <a:spcPct val="100000"/>
              </a:lnSpc>
              <a:spcBef>
                <a:spcPts val="570"/>
              </a:spcBef>
            </a:pPr>
            <a:r>
              <a:rPr sz="700" spc="-10" dirty="0">
                <a:latin typeface="Consolas"/>
                <a:cs typeface="Consolas"/>
              </a:rPr>
              <a:t>Polyline</a:t>
            </a:r>
            <a:endParaRPr sz="700">
              <a:latin typeface="Consolas"/>
              <a:cs typeface="Consolas"/>
            </a:endParaRPr>
          </a:p>
        </p:txBody>
      </p:sp>
      <p:grpSp>
        <p:nvGrpSpPr>
          <p:cNvPr id="201" name="object 201"/>
          <p:cNvGrpSpPr/>
          <p:nvPr/>
        </p:nvGrpSpPr>
        <p:grpSpPr>
          <a:xfrm>
            <a:off x="4668392" y="5706236"/>
            <a:ext cx="916940" cy="292100"/>
            <a:chOff x="4668392" y="5706236"/>
            <a:chExt cx="916940" cy="292100"/>
          </a:xfrm>
        </p:grpSpPr>
        <p:sp>
          <p:nvSpPr>
            <p:cNvPr id="202" name="object 202"/>
            <p:cNvSpPr/>
            <p:nvPr/>
          </p:nvSpPr>
          <p:spPr>
            <a:xfrm>
              <a:off x="4677917" y="5715761"/>
              <a:ext cx="897890" cy="273050"/>
            </a:xfrm>
            <a:custGeom>
              <a:avLst/>
              <a:gdLst/>
              <a:ahLst/>
              <a:cxnLst/>
              <a:rect l="l" t="t" r="r" b="b"/>
              <a:pathLst>
                <a:path w="897889" h="273050">
                  <a:moveTo>
                    <a:pt x="897636" y="0"/>
                  </a:moveTo>
                  <a:lnTo>
                    <a:pt x="0" y="0"/>
                  </a:lnTo>
                  <a:lnTo>
                    <a:pt x="0" y="272796"/>
                  </a:lnTo>
                  <a:lnTo>
                    <a:pt x="897636" y="272796"/>
                  </a:lnTo>
                  <a:lnTo>
                    <a:pt x="897636" y="0"/>
                  </a:lnTo>
                  <a:close/>
                </a:path>
              </a:pathLst>
            </a:custGeom>
            <a:solidFill>
              <a:srgbClr val="D2DA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3" name="object 203"/>
            <p:cNvSpPr/>
            <p:nvPr/>
          </p:nvSpPr>
          <p:spPr>
            <a:xfrm>
              <a:off x="4677917" y="5715761"/>
              <a:ext cx="897890" cy="273050"/>
            </a:xfrm>
            <a:custGeom>
              <a:avLst/>
              <a:gdLst/>
              <a:ahLst/>
              <a:cxnLst/>
              <a:rect l="l" t="t" r="r" b="b"/>
              <a:pathLst>
                <a:path w="897889" h="273050">
                  <a:moveTo>
                    <a:pt x="0" y="272796"/>
                  </a:moveTo>
                  <a:lnTo>
                    <a:pt x="897636" y="272796"/>
                  </a:lnTo>
                  <a:lnTo>
                    <a:pt x="897636" y="0"/>
                  </a:lnTo>
                  <a:lnTo>
                    <a:pt x="0" y="0"/>
                  </a:lnTo>
                  <a:lnTo>
                    <a:pt x="0" y="272796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4" name="object 204"/>
          <p:cNvSpPr txBox="1"/>
          <p:nvPr/>
        </p:nvSpPr>
        <p:spPr>
          <a:xfrm>
            <a:off x="4677917" y="5715761"/>
            <a:ext cx="897890" cy="273050"/>
          </a:xfrm>
          <a:prstGeom prst="rect">
            <a:avLst/>
          </a:prstGeom>
        </p:spPr>
        <p:txBody>
          <a:bodyPr vert="horz" wrap="square" lIns="0" tIns="72390" rIns="0" bIns="0" rtlCol="0">
            <a:spAutoFit/>
          </a:bodyPr>
          <a:lstStyle/>
          <a:p>
            <a:pPr marL="227965">
              <a:lnSpc>
                <a:spcPct val="100000"/>
              </a:lnSpc>
              <a:spcBef>
                <a:spcPts val="570"/>
              </a:spcBef>
            </a:pPr>
            <a:r>
              <a:rPr sz="700" spc="-10" dirty="0">
                <a:latin typeface="Consolas"/>
                <a:cs typeface="Consolas"/>
              </a:rPr>
              <a:t>Rectangle</a:t>
            </a:r>
            <a:endParaRPr sz="700">
              <a:latin typeface="Consolas"/>
              <a:cs typeface="Consolas"/>
            </a:endParaRPr>
          </a:p>
        </p:txBody>
      </p:sp>
      <p:grpSp>
        <p:nvGrpSpPr>
          <p:cNvPr id="205" name="object 205"/>
          <p:cNvGrpSpPr/>
          <p:nvPr/>
        </p:nvGrpSpPr>
        <p:grpSpPr>
          <a:xfrm>
            <a:off x="5677280" y="5320665"/>
            <a:ext cx="916940" cy="292100"/>
            <a:chOff x="5677280" y="5320665"/>
            <a:chExt cx="916940" cy="292100"/>
          </a:xfrm>
        </p:grpSpPr>
        <p:sp>
          <p:nvSpPr>
            <p:cNvPr id="206" name="object 206"/>
            <p:cNvSpPr/>
            <p:nvPr/>
          </p:nvSpPr>
          <p:spPr>
            <a:xfrm>
              <a:off x="5686805" y="5330190"/>
              <a:ext cx="897890" cy="273050"/>
            </a:xfrm>
            <a:custGeom>
              <a:avLst/>
              <a:gdLst/>
              <a:ahLst/>
              <a:cxnLst/>
              <a:rect l="l" t="t" r="r" b="b"/>
              <a:pathLst>
                <a:path w="897890" h="273050">
                  <a:moveTo>
                    <a:pt x="897636" y="0"/>
                  </a:moveTo>
                  <a:lnTo>
                    <a:pt x="0" y="0"/>
                  </a:lnTo>
                  <a:lnTo>
                    <a:pt x="0" y="272796"/>
                  </a:lnTo>
                  <a:lnTo>
                    <a:pt x="897636" y="272796"/>
                  </a:lnTo>
                  <a:lnTo>
                    <a:pt x="897636" y="0"/>
                  </a:lnTo>
                  <a:close/>
                </a:path>
              </a:pathLst>
            </a:custGeom>
            <a:solidFill>
              <a:srgbClr val="D2DA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7" name="object 207"/>
            <p:cNvSpPr/>
            <p:nvPr/>
          </p:nvSpPr>
          <p:spPr>
            <a:xfrm>
              <a:off x="5686805" y="5330190"/>
              <a:ext cx="897890" cy="273050"/>
            </a:xfrm>
            <a:custGeom>
              <a:avLst/>
              <a:gdLst/>
              <a:ahLst/>
              <a:cxnLst/>
              <a:rect l="l" t="t" r="r" b="b"/>
              <a:pathLst>
                <a:path w="897890" h="273050">
                  <a:moveTo>
                    <a:pt x="0" y="272796"/>
                  </a:moveTo>
                  <a:lnTo>
                    <a:pt x="897636" y="272796"/>
                  </a:lnTo>
                  <a:lnTo>
                    <a:pt x="897636" y="0"/>
                  </a:lnTo>
                  <a:lnTo>
                    <a:pt x="0" y="0"/>
                  </a:lnTo>
                  <a:lnTo>
                    <a:pt x="0" y="272796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8" name="object 208"/>
          <p:cNvSpPr txBox="1"/>
          <p:nvPr/>
        </p:nvSpPr>
        <p:spPr>
          <a:xfrm>
            <a:off x="5686805" y="5330190"/>
            <a:ext cx="897890" cy="273050"/>
          </a:xfrm>
          <a:prstGeom prst="rect">
            <a:avLst/>
          </a:prstGeom>
        </p:spPr>
        <p:txBody>
          <a:bodyPr vert="horz" wrap="square" lIns="0" tIns="7239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70"/>
              </a:spcBef>
            </a:pPr>
            <a:r>
              <a:rPr sz="700" spc="-20" dirty="0">
                <a:latin typeface="Consolas"/>
                <a:cs typeface="Consolas"/>
              </a:rPr>
              <a:t>Text</a:t>
            </a:r>
            <a:endParaRPr sz="700">
              <a:latin typeface="Consolas"/>
              <a:cs typeface="Consolas"/>
            </a:endParaRPr>
          </a:p>
        </p:txBody>
      </p:sp>
      <p:grpSp>
        <p:nvGrpSpPr>
          <p:cNvPr id="209" name="object 209"/>
          <p:cNvGrpSpPr/>
          <p:nvPr/>
        </p:nvGrpSpPr>
        <p:grpSpPr>
          <a:xfrm>
            <a:off x="1571625" y="5898260"/>
            <a:ext cx="916940" cy="293370"/>
            <a:chOff x="1571625" y="5898260"/>
            <a:chExt cx="916940" cy="293370"/>
          </a:xfrm>
        </p:grpSpPr>
        <p:sp>
          <p:nvSpPr>
            <p:cNvPr id="210" name="object 210"/>
            <p:cNvSpPr/>
            <p:nvPr/>
          </p:nvSpPr>
          <p:spPr>
            <a:xfrm>
              <a:off x="1581150" y="5907785"/>
              <a:ext cx="897890" cy="274320"/>
            </a:xfrm>
            <a:custGeom>
              <a:avLst/>
              <a:gdLst/>
              <a:ahLst/>
              <a:cxnLst/>
              <a:rect l="l" t="t" r="r" b="b"/>
              <a:pathLst>
                <a:path w="897889" h="274320">
                  <a:moveTo>
                    <a:pt x="897636" y="0"/>
                  </a:moveTo>
                  <a:lnTo>
                    <a:pt x="0" y="0"/>
                  </a:lnTo>
                  <a:lnTo>
                    <a:pt x="0" y="274319"/>
                  </a:lnTo>
                  <a:lnTo>
                    <a:pt x="897636" y="274319"/>
                  </a:lnTo>
                  <a:lnTo>
                    <a:pt x="897636" y="0"/>
                  </a:lnTo>
                  <a:close/>
                </a:path>
              </a:pathLst>
            </a:custGeom>
            <a:solidFill>
              <a:srgbClr val="9FB8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1" name="object 211"/>
            <p:cNvSpPr/>
            <p:nvPr/>
          </p:nvSpPr>
          <p:spPr>
            <a:xfrm>
              <a:off x="1581150" y="5907785"/>
              <a:ext cx="897890" cy="274320"/>
            </a:xfrm>
            <a:custGeom>
              <a:avLst/>
              <a:gdLst/>
              <a:ahLst/>
              <a:cxnLst/>
              <a:rect l="l" t="t" r="r" b="b"/>
              <a:pathLst>
                <a:path w="897889" h="274320">
                  <a:moveTo>
                    <a:pt x="0" y="274319"/>
                  </a:moveTo>
                  <a:lnTo>
                    <a:pt x="897636" y="274319"/>
                  </a:lnTo>
                  <a:lnTo>
                    <a:pt x="897636" y="0"/>
                  </a:lnTo>
                  <a:lnTo>
                    <a:pt x="0" y="0"/>
                  </a:lnTo>
                  <a:lnTo>
                    <a:pt x="0" y="274319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2" name="object 212"/>
          <p:cNvSpPr txBox="1"/>
          <p:nvPr/>
        </p:nvSpPr>
        <p:spPr>
          <a:xfrm>
            <a:off x="1581150" y="5907785"/>
            <a:ext cx="897890" cy="27432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80"/>
              </a:spcBef>
            </a:pPr>
            <a:r>
              <a:rPr sz="700" spc="-10" dirty="0">
                <a:latin typeface="Consolas"/>
                <a:cs typeface="Consolas"/>
              </a:rPr>
              <a:t>Canvas</a:t>
            </a:r>
            <a:endParaRPr sz="700">
              <a:latin typeface="Consolas"/>
              <a:cs typeface="Consolas"/>
            </a:endParaRPr>
          </a:p>
        </p:txBody>
      </p:sp>
      <p:grpSp>
        <p:nvGrpSpPr>
          <p:cNvPr id="213" name="object 213"/>
          <p:cNvGrpSpPr/>
          <p:nvPr/>
        </p:nvGrpSpPr>
        <p:grpSpPr>
          <a:xfrm>
            <a:off x="1571625" y="6285357"/>
            <a:ext cx="916940" cy="292100"/>
            <a:chOff x="1571625" y="6285357"/>
            <a:chExt cx="916940" cy="292100"/>
          </a:xfrm>
        </p:grpSpPr>
        <p:sp>
          <p:nvSpPr>
            <p:cNvPr id="214" name="object 214"/>
            <p:cNvSpPr/>
            <p:nvPr/>
          </p:nvSpPr>
          <p:spPr>
            <a:xfrm>
              <a:off x="1581150" y="6294882"/>
              <a:ext cx="897890" cy="273050"/>
            </a:xfrm>
            <a:custGeom>
              <a:avLst/>
              <a:gdLst/>
              <a:ahLst/>
              <a:cxnLst/>
              <a:rect l="l" t="t" r="r" b="b"/>
              <a:pathLst>
                <a:path w="897889" h="273050">
                  <a:moveTo>
                    <a:pt x="897636" y="0"/>
                  </a:moveTo>
                  <a:lnTo>
                    <a:pt x="0" y="0"/>
                  </a:lnTo>
                  <a:lnTo>
                    <a:pt x="0" y="272796"/>
                  </a:lnTo>
                  <a:lnTo>
                    <a:pt x="897636" y="272796"/>
                  </a:lnTo>
                  <a:lnTo>
                    <a:pt x="897636" y="0"/>
                  </a:lnTo>
                  <a:close/>
                </a:path>
              </a:pathLst>
            </a:custGeom>
            <a:solidFill>
              <a:srgbClr val="9FB8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5" name="object 215"/>
            <p:cNvSpPr/>
            <p:nvPr/>
          </p:nvSpPr>
          <p:spPr>
            <a:xfrm>
              <a:off x="1581150" y="6294882"/>
              <a:ext cx="897890" cy="273050"/>
            </a:xfrm>
            <a:custGeom>
              <a:avLst/>
              <a:gdLst/>
              <a:ahLst/>
              <a:cxnLst/>
              <a:rect l="l" t="t" r="r" b="b"/>
              <a:pathLst>
                <a:path w="897889" h="273050">
                  <a:moveTo>
                    <a:pt x="0" y="272796"/>
                  </a:moveTo>
                  <a:lnTo>
                    <a:pt x="897636" y="272796"/>
                  </a:lnTo>
                  <a:lnTo>
                    <a:pt x="897636" y="0"/>
                  </a:lnTo>
                  <a:lnTo>
                    <a:pt x="0" y="0"/>
                  </a:lnTo>
                  <a:lnTo>
                    <a:pt x="0" y="272796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6" name="object 216"/>
          <p:cNvSpPr txBox="1"/>
          <p:nvPr/>
        </p:nvSpPr>
        <p:spPr>
          <a:xfrm>
            <a:off x="1581150" y="6294882"/>
            <a:ext cx="897890" cy="273050"/>
          </a:xfrm>
          <a:prstGeom prst="rect">
            <a:avLst/>
          </a:prstGeom>
        </p:spPr>
        <p:txBody>
          <a:bodyPr vert="horz" wrap="square" lIns="0" tIns="72390" rIns="0" bIns="0" rtlCol="0">
            <a:spAutoFit/>
          </a:bodyPr>
          <a:lstStyle/>
          <a:p>
            <a:pPr marL="227965">
              <a:lnSpc>
                <a:spcPct val="100000"/>
              </a:lnSpc>
              <a:spcBef>
                <a:spcPts val="570"/>
              </a:spcBef>
            </a:pPr>
            <a:r>
              <a:rPr sz="700" spc="-10" dirty="0">
                <a:latin typeface="Consolas"/>
                <a:cs typeface="Consolas"/>
              </a:rPr>
              <a:t>Imageview</a:t>
            </a:r>
            <a:endParaRPr sz="700">
              <a:latin typeface="Consolas"/>
              <a:cs typeface="Consolas"/>
            </a:endParaRPr>
          </a:p>
        </p:txBody>
      </p:sp>
      <p:grpSp>
        <p:nvGrpSpPr>
          <p:cNvPr id="217" name="object 217"/>
          <p:cNvGrpSpPr/>
          <p:nvPr/>
        </p:nvGrpSpPr>
        <p:grpSpPr>
          <a:xfrm>
            <a:off x="7540561" y="127825"/>
            <a:ext cx="1449705" cy="1737995"/>
            <a:chOff x="7540561" y="127825"/>
            <a:chExt cx="1449705" cy="1737995"/>
          </a:xfrm>
        </p:grpSpPr>
        <p:pic>
          <p:nvPicPr>
            <p:cNvPr id="218" name="object 2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35366" y="1680718"/>
              <a:ext cx="89915" cy="90043"/>
            </a:xfrm>
            <a:prstGeom prst="rect">
              <a:avLst/>
            </a:prstGeom>
          </p:spPr>
        </p:pic>
        <p:sp>
          <p:nvSpPr>
            <p:cNvPr id="219" name="object 219"/>
            <p:cNvSpPr/>
            <p:nvPr/>
          </p:nvSpPr>
          <p:spPr>
            <a:xfrm>
              <a:off x="7545323" y="132587"/>
              <a:ext cx="1440180" cy="1728470"/>
            </a:xfrm>
            <a:custGeom>
              <a:avLst/>
              <a:gdLst/>
              <a:ahLst/>
              <a:cxnLst/>
              <a:rect l="l" t="t" r="r" b="b"/>
              <a:pathLst>
                <a:path w="1440179" h="1728470">
                  <a:moveTo>
                    <a:pt x="1170177" y="1728215"/>
                  </a:moveTo>
                  <a:lnTo>
                    <a:pt x="90043" y="1728215"/>
                  </a:lnTo>
                  <a:lnTo>
                    <a:pt x="54971" y="1721147"/>
                  </a:lnTo>
                  <a:lnTo>
                    <a:pt x="26352" y="1701863"/>
                  </a:lnTo>
                  <a:lnTo>
                    <a:pt x="7068" y="1673244"/>
                  </a:lnTo>
                  <a:lnTo>
                    <a:pt x="0" y="1638172"/>
                  </a:lnTo>
                  <a:lnTo>
                    <a:pt x="7068" y="1603154"/>
                  </a:lnTo>
                  <a:lnTo>
                    <a:pt x="26352" y="1574530"/>
                  </a:lnTo>
                  <a:lnTo>
                    <a:pt x="54971" y="1555216"/>
                  </a:lnTo>
                  <a:lnTo>
                    <a:pt x="89775" y="1548183"/>
                  </a:lnTo>
                  <a:lnTo>
                    <a:pt x="90042" y="1548184"/>
                  </a:lnTo>
                  <a:lnTo>
                    <a:pt x="179958" y="1548256"/>
                  </a:lnTo>
                  <a:lnTo>
                    <a:pt x="179958" y="90042"/>
                  </a:lnTo>
                  <a:lnTo>
                    <a:pt x="206359" y="26352"/>
                  </a:lnTo>
                  <a:lnTo>
                    <a:pt x="270001" y="0"/>
                  </a:lnTo>
                  <a:lnTo>
                    <a:pt x="1350137" y="0"/>
                  </a:lnTo>
                </a:path>
                <a:path w="1440179" h="1728470">
                  <a:moveTo>
                    <a:pt x="90043" y="1548129"/>
                  </a:moveTo>
                  <a:lnTo>
                    <a:pt x="90669" y="1548256"/>
                  </a:lnTo>
                </a:path>
                <a:path w="1440179" h="1728470">
                  <a:moveTo>
                    <a:pt x="179958" y="1548256"/>
                  </a:moveTo>
                  <a:lnTo>
                    <a:pt x="179958" y="1548129"/>
                  </a:lnTo>
                </a:path>
                <a:path w="1440179" h="1728470">
                  <a:moveTo>
                    <a:pt x="1350136" y="0"/>
                  </a:moveTo>
                  <a:lnTo>
                    <a:pt x="1385208" y="7068"/>
                  </a:lnTo>
                  <a:lnTo>
                    <a:pt x="1413827" y="26352"/>
                  </a:lnTo>
                  <a:lnTo>
                    <a:pt x="1433111" y="54971"/>
                  </a:lnTo>
                  <a:lnTo>
                    <a:pt x="1440179" y="90043"/>
                  </a:lnTo>
                  <a:lnTo>
                    <a:pt x="1433111" y="125041"/>
                  </a:lnTo>
                  <a:lnTo>
                    <a:pt x="1413827" y="153622"/>
                  </a:lnTo>
                  <a:lnTo>
                    <a:pt x="1385208" y="172892"/>
                  </a:lnTo>
                  <a:lnTo>
                    <a:pt x="1350136" y="179958"/>
                  </a:lnTo>
                  <a:lnTo>
                    <a:pt x="1260094" y="179958"/>
                  </a:lnTo>
                  <a:lnTo>
                    <a:pt x="1260094" y="1638172"/>
                  </a:lnTo>
                  <a:lnTo>
                    <a:pt x="1253027" y="1673244"/>
                  </a:lnTo>
                  <a:lnTo>
                    <a:pt x="1233757" y="1701863"/>
                  </a:lnTo>
                  <a:lnTo>
                    <a:pt x="1205176" y="1721147"/>
                  </a:lnTo>
                  <a:lnTo>
                    <a:pt x="1170177" y="1728215"/>
                  </a:lnTo>
                </a:path>
                <a:path w="1440179" h="1728470">
                  <a:moveTo>
                    <a:pt x="107556" y="1634598"/>
                  </a:moveTo>
                  <a:lnTo>
                    <a:pt x="90043" y="1638172"/>
                  </a:lnTo>
                </a:path>
                <a:path w="1440179" h="1728470">
                  <a:moveTo>
                    <a:pt x="135000" y="1593214"/>
                  </a:moveTo>
                  <a:lnTo>
                    <a:pt x="131454" y="1610734"/>
                  </a:lnTo>
                </a:path>
                <a:path w="1440179" h="1728470">
                  <a:moveTo>
                    <a:pt x="131441" y="1575672"/>
                  </a:moveTo>
                  <a:lnTo>
                    <a:pt x="135000" y="1593214"/>
                  </a:lnTo>
                </a:path>
              </a:pathLst>
            </a:custGeom>
            <a:ln w="9525">
              <a:solidFill>
                <a:srgbClr val="F9DA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0" name="object 2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545323" y="132587"/>
              <a:ext cx="1440179" cy="1728215"/>
            </a:xfrm>
            <a:prstGeom prst="rect">
              <a:avLst/>
            </a:prstGeom>
          </p:spPr>
        </p:pic>
        <p:sp>
          <p:nvSpPr>
            <p:cNvPr id="221" name="object 221"/>
            <p:cNvSpPr/>
            <p:nvPr/>
          </p:nvSpPr>
          <p:spPr>
            <a:xfrm>
              <a:off x="7545323" y="132587"/>
              <a:ext cx="1440180" cy="1728470"/>
            </a:xfrm>
            <a:custGeom>
              <a:avLst/>
              <a:gdLst/>
              <a:ahLst/>
              <a:cxnLst/>
              <a:rect l="l" t="t" r="r" b="b"/>
              <a:pathLst>
                <a:path w="1440179" h="1728470">
                  <a:moveTo>
                    <a:pt x="179958" y="1548129"/>
                  </a:moveTo>
                  <a:lnTo>
                    <a:pt x="179958" y="90042"/>
                  </a:lnTo>
                  <a:lnTo>
                    <a:pt x="187045" y="54971"/>
                  </a:lnTo>
                  <a:lnTo>
                    <a:pt x="206359" y="26352"/>
                  </a:lnTo>
                  <a:lnTo>
                    <a:pt x="234983" y="7068"/>
                  </a:lnTo>
                  <a:lnTo>
                    <a:pt x="270001" y="0"/>
                  </a:lnTo>
                  <a:lnTo>
                    <a:pt x="1350136" y="0"/>
                  </a:lnTo>
                  <a:lnTo>
                    <a:pt x="1385208" y="7068"/>
                  </a:lnTo>
                  <a:lnTo>
                    <a:pt x="1413827" y="26352"/>
                  </a:lnTo>
                  <a:lnTo>
                    <a:pt x="1433111" y="54971"/>
                  </a:lnTo>
                  <a:lnTo>
                    <a:pt x="1440179" y="90042"/>
                  </a:lnTo>
                  <a:lnTo>
                    <a:pt x="1433111" y="125041"/>
                  </a:lnTo>
                  <a:lnTo>
                    <a:pt x="1413827" y="153622"/>
                  </a:lnTo>
                  <a:lnTo>
                    <a:pt x="1385208" y="172892"/>
                  </a:lnTo>
                  <a:lnTo>
                    <a:pt x="1350136" y="179958"/>
                  </a:lnTo>
                  <a:lnTo>
                    <a:pt x="1260094" y="179958"/>
                  </a:lnTo>
                  <a:lnTo>
                    <a:pt x="1260094" y="1638172"/>
                  </a:lnTo>
                  <a:lnTo>
                    <a:pt x="1253027" y="1673244"/>
                  </a:lnTo>
                  <a:lnTo>
                    <a:pt x="1233757" y="1701863"/>
                  </a:lnTo>
                  <a:lnTo>
                    <a:pt x="1205176" y="1721147"/>
                  </a:lnTo>
                  <a:lnTo>
                    <a:pt x="1170177" y="1728215"/>
                  </a:lnTo>
                  <a:lnTo>
                    <a:pt x="90043" y="1728215"/>
                  </a:lnTo>
                  <a:lnTo>
                    <a:pt x="54971" y="1721147"/>
                  </a:lnTo>
                  <a:lnTo>
                    <a:pt x="26352" y="1701863"/>
                  </a:lnTo>
                  <a:lnTo>
                    <a:pt x="7068" y="1673244"/>
                  </a:lnTo>
                  <a:lnTo>
                    <a:pt x="0" y="1638172"/>
                  </a:lnTo>
                  <a:lnTo>
                    <a:pt x="7068" y="1603154"/>
                  </a:lnTo>
                  <a:lnTo>
                    <a:pt x="26352" y="1574530"/>
                  </a:lnTo>
                  <a:lnTo>
                    <a:pt x="54971" y="1555216"/>
                  </a:lnTo>
                  <a:lnTo>
                    <a:pt x="90043" y="1548129"/>
                  </a:lnTo>
                  <a:lnTo>
                    <a:pt x="179958" y="1548129"/>
                  </a:lnTo>
                  <a:close/>
                </a:path>
              </a:pathLst>
            </a:custGeom>
            <a:ln w="9525">
              <a:solidFill>
                <a:srgbClr val="F9DA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2" name="object 22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65605" y="127825"/>
              <a:ext cx="144525" cy="189483"/>
            </a:xfrm>
            <a:prstGeom prst="rect">
              <a:avLst/>
            </a:prstGeom>
          </p:spPr>
        </p:pic>
        <p:sp>
          <p:nvSpPr>
            <p:cNvPr id="223" name="object 223"/>
            <p:cNvSpPr/>
            <p:nvPr/>
          </p:nvSpPr>
          <p:spPr>
            <a:xfrm>
              <a:off x="7815325" y="312546"/>
              <a:ext cx="990600" cy="0"/>
            </a:xfrm>
            <a:custGeom>
              <a:avLst/>
              <a:gdLst/>
              <a:ahLst/>
              <a:cxnLst/>
              <a:rect l="l" t="t" r="r" b="b"/>
              <a:pathLst>
                <a:path w="990600">
                  <a:moveTo>
                    <a:pt x="990092" y="0"/>
                  </a:moveTo>
                  <a:lnTo>
                    <a:pt x="0" y="0"/>
                  </a:lnTo>
                </a:path>
              </a:pathLst>
            </a:custGeom>
            <a:ln w="9525">
              <a:solidFill>
                <a:srgbClr val="F9DA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4" name="object 22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630604" y="1675955"/>
              <a:ext cx="99440" cy="189611"/>
            </a:xfrm>
            <a:prstGeom prst="rect">
              <a:avLst/>
            </a:prstGeom>
          </p:spPr>
        </p:pic>
      </p:grpSp>
      <p:sp>
        <p:nvSpPr>
          <p:cNvPr id="225" name="object 225"/>
          <p:cNvSpPr txBox="1"/>
          <p:nvPr/>
        </p:nvSpPr>
        <p:spPr>
          <a:xfrm>
            <a:off x="7835900" y="471296"/>
            <a:ext cx="85979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1800" spc="-75" dirty="0">
                <a:latin typeface="Trebuchet MS"/>
                <a:cs typeface="Trebuchet MS"/>
              </a:rPr>
              <a:t>Focus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spc="-35" dirty="0">
                <a:latin typeface="Trebuchet MS"/>
                <a:cs typeface="Trebuchet MS"/>
              </a:rPr>
              <a:t>on </a:t>
            </a:r>
            <a:r>
              <a:rPr sz="1800" spc="-10" dirty="0">
                <a:latin typeface="Trebuchet MS"/>
                <a:cs typeface="Trebuchet MS"/>
              </a:rPr>
              <a:t>Panes </a:t>
            </a:r>
            <a:r>
              <a:rPr sz="1800" spc="-25" dirty="0">
                <a:latin typeface="Trebuchet MS"/>
                <a:cs typeface="Trebuchet MS"/>
              </a:rPr>
              <a:t>and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26" name="object 226"/>
          <p:cNvSpPr txBox="1"/>
          <p:nvPr/>
        </p:nvSpPr>
        <p:spPr>
          <a:xfrm>
            <a:off x="7840471" y="1294638"/>
            <a:ext cx="85216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Trebuchet MS"/>
                <a:cs typeface="Trebuchet MS"/>
              </a:rPr>
              <a:t>Controls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215" dirty="0"/>
              <a:t>Essential</a:t>
            </a:r>
            <a:r>
              <a:rPr spc="335" dirty="0"/>
              <a:t> </a:t>
            </a:r>
            <a:r>
              <a:rPr spc="135" dirty="0"/>
              <a:t>Reference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142515"/>
            <a:ext cx="3792220" cy="1203325"/>
          </a:xfrm>
          <a:prstGeom prst="rect">
            <a:avLst/>
          </a:prstGeom>
        </p:spPr>
        <p:txBody>
          <a:bodyPr vert="horz" wrap="square" lIns="0" tIns="1092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60"/>
              </a:spcBef>
              <a:tabLst>
                <a:tab pos="286385" algn="l"/>
              </a:tabLst>
            </a:pPr>
            <a:r>
              <a:rPr sz="1950" spc="-50" dirty="0">
                <a:solidFill>
                  <a:srgbClr val="717BA2"/>
                </a:solidFill>
                <a:latin typeface="Segoe UI Symbol"/>
                <a:cs typeface="Segoe UI Symbol"/>
              </a:rPr>
              <a:t>🞂</a:t>
            </a:r>
            <a:r>
              <a:rPr sz="1950" dirty="0">
                <a:solidFill>
                  <a:srgbClr val="717BA2"/>
                </a:solidFill>
                <a:latin typeface="Segoe UI Symbol"/>
                <a:cs typeface="Segoe UI Symbol"/>
              </a:rPr>
              <a:t>​	</a:t>
            </a:r>
            <a:r>
              <a:rPr sz="2600" spc="-195" dirty="0">
                <a:latin typeface="Trebuchet MS"/>
                <a:cs typeface="Trebuchet MS"/>
              </a:rPr>
              <a:t>JavaFX</a:t>
            </a:r>
            <a:r>
              <a:rPr sz="2600" spc="-5" dirty="0">
                <a:latin typeface="Trebuchet MS"/>
                <a:cs typeface="Trebuchet MS"/>
              </a:rPr>
              <a:t> </a:t>
            </a:r>
            <a:r>
              <a:rPr sz="2600" spc="-165" dirty="0">
                <a:latin typeface="Trebuchet MS"/>
                <a:cs typeface="Trebuchet MS"/>
              </a:rPr>
              <a:t>JavaDoc</a:t>
            </a:r>
            <a:r>
              <a:rPr sz="2600" spc="-285" dirty="0">
                <a:latin typeface="Trebuchet MS"/>
                <a:cs typeface="Trebuchet MS"/>
              </a:rPr>
              <a:t> </a:t>
            </a:r>
            <a:r>
              <a:rPr sz="2600" spc="-25" dirty="0">
                <a:latin typeface="Trebuchet MS"/>
                <a:cs typeface="Trebuchet MS"/>
              </a:rPr>
              <a:t>API</a:t>
            </a:r>
            <a:endParaRPr sz="26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90"/>
              </a:spcBef>
              <a:tabLst>
                <a:tab pos="286385" algn="l"/>
              </a:tabLst>
            </a:pPr>
            <a:r>
              <a:rPr sz="1500" spc="-50" dirty="0">
                <a:solidFill>
                  <a:srgbClr val="717BA2"/>
                </a:solidFill>
                <a:latin typeface="Segoe UI Symbol"/>
                <a:cs typeface="Segoe UI Symbol"/>
                <a:hlinkClick r:id="rId2"/>
              </a:rPr>
              <a:t>🞂</a:t>
            </a:r>
            <a:r>
              <a:rPr sz="1500" dirty="0">
                <a:solidFill>
                  <a:srgbClr val="717BA2"/>
                </a:solidFill>
                <a:latin typeface="Segoe UI Symbol"/>
                <a:cs typeface="Segoe UI Symbol"/>
                <a:hlinkClick r:id="rId2"/>
              </a:rPr>
              <a:t>​	</a:t>
            </a:r>
            <a:r>
              <a:rPr sz="2000" u="sng" spc="-10" dirty="0">
                <a:solidFill>
                  <a:srgbClr val="B192C9"/>
                </a:solidFill>
                <a:uFill>
                  <a:solidFill>
                    <a:srgbClr val="B192C9"/>
                  </a:solidFill>
                </a:uFill>
                <a:latin typeface="Consolas"/>
                <a:cs typeface="Consolas"/>
                <a:hlinkClick r:id="rId2"/>
              </a:rPr>
              <a:t>https://openjfx.io/javado</a:t>
            </a:r>
            <a:endParaRPr sz="2000">
              <a:latin typeface="Consolas"/>
              <a:cs typeface="Consolas"/>
            </a:endParaRPr>
          </a:p>
          <a:p>
            <a:pPr marL="286385">
              <a:lnSpc>
                <a:spcPct val="100000"/>
              </a:lnSpc>
            </a:pPr>
            <a:r>
              <a:rPr sz="2000" u="sng" spc="-10" dirty="0">
                <a:solidFill>
                  <a:srgbClr val="B192C9"/>
                </a:solidFill>
                <a:uFill>
                  <a:solidFill>
                    <a:srgbClr val="B192C9"/>
                  </a:solidFill>
                </a:uFill>
                <a:latin typeface="Consolas"/>
                <a:cs typeface="Consolas"/>
                <a:hlinkClick r:id="rId2"/>
              </a:rPr>
              <a:t>c/11/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11700" y="1139467"/>
            <a:ext cx="3792220" cy="1203325"/>
          </a:xfrm>
          <a:prstGeom prst="rect">
            <a:avLst/>
          </a:prstGeom>
        </p:spPr>
        <p:txBody>
          <a:bodyPr vert="horz" wrap="square" lIns="0" tIns="1092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60"/>
              </a:spcBef>
              <a:tabLst>
                <a:tab pos="286385" algn="l"/>
              </a:tabLst>
            </a:pPr>
            <a:r>
              <a:rPr sz="1950" spc="-50" dirty="0">
                <a:solidFill>
                  <a:srgbClr val="717BA2"/>
                </a:solidFill>
                <a:latin typeface="Segoe UI Symbol"/>
                <a:cs typeface="Segoe UI Symbol"/>
              </a:rPr>
              <a:t>🞂</a:t>
            </a:r>
            <a:r>
              <a:rPr sz="1950" dirty="0">
                <a:solidFill>
                  <a:srgbClr val="717BA2"/>
                </a:solidFill>
                <a:latin typeface="Segoe UI Symbol"/>
                <a:cs typeface="Segoe UI Symbol"/>
              </a:rPr>
              <a:t>​	</a:t>
            </a:r>
            <a:r>
              <a:rPr sz="2600" spc="-195" dirty="0">
                <a:latin typeface="Trebuchet MS"/>
                <a:cs typeface="Trebuchet MS"/>
              </a:rPr>
              <a:t>JavaFX</a:t>
            </a:r>
            <a:r>
              <a:rPr sz="2600" spc="-65" dirty="0">
                <a:latin typeface="Trebuchet MS"/>
                <a:cs typeface="Trebuchet MS"/>
              </a:rPr>
              <a:t> </a:t>
            </a:r>
            <a:r>
              <a:rPr sz="2600" spc="-50" dirty="0">
                <a:latin typeface="Trebuchet MS"/>
                <a:cs typeface="Trebuchet MS"/>
              </a:rPr>
              <a:t>Class</a:t>
            </a:r>
            <a:r>
              <a:rPr sz="2600" spc="-60" dirty="0">
                <a:latin typeface="Trebuchet MS"/>
                <a:cs typeface="Trebuchet MS"/>
              </a:rPr>
              <a:t> </a:t>
            </a:r>
            <a:r>
              <a:rPr sz="2600" spc="-10" dirty="0">
                <a:latin typeface="Trebuchet MS"/>
                <a:cs typeface="Trebuchet MS"/>
              </a:rPr>
              <a:t>Diagrams</a:t>
            </a:r>
            <a:endParaRPr sz="26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90"/>
              </a:spcBef>
              <a:tabLst>
                <a:tab pos="286385" algn="l"/>
              </a:tabLst>
            </a:pPr>
            <a:r>
              <a:rPr sz="1500" spc="-50" dirty="0">
                <a:solidFill>
                  <a:srgbClr val="717BA2"/>
                </a:solidFill>
                <a:latin typeface="Segoe UI Symbol"/>
                <a:cs typeface="Segoe UI Symbol"/>
                <a:hlinkClick r:id="rId3"/>
              </a:rPr>
              <a:t>🞂</a:t>
            </a:r>
            <a:r>
              <a:rPr sz="1500" dirty="0">
                <a:solidFill>
                  <a:srgbClr val="717BA2"/>
                </a:solidFill>
                <a:latin typeface="Segoe UI Symbol"/>
                <a:cs typeface="Segoe UI Symbol"/>
                <a:hlinkClick r:id="rId3"/>
              </a:rPr>
              <a:t>​	</a:t>
            </a:r>
            <a:r>
              <a:rPr sz="2000" u="sng" spc="-10" dirty="0">
                <a:solidFill>
                  <a:srgbClr val="B192C9"/>
                </a:solidFill>
                <a:uFill>
                  <a:solidFill>
                    <a:srgbClr val="B192C9"/>
                  </a:solidFill>
                </a:uFill>
                <a:latin typeface="Consolas"/>
                <a:cs typeface="Consolas"/>
                <a:hlinkClick r:id="rId3"/>
              </a:rPr>
              <a:t>http://falkhausen.de/Java</a:t>
            </a:r>
            <a:endParaRPr sz="2000">
              <a:latin typeface="Consolas"/>
              <a:cs typeface="Consolas"/>
            </a:endParaRPr>
          </a:p>
          <a:p>
            <a:pPr marL="287020">
              <a:lnSpc>
                <a:spcPct val="100000"/>
              </a:lnSpc>
            </a:pPr>
            <a:r>
              <a:rPr sz="2000" u="sng" dirty="0">
                <a:solidFill>
                  <a:srgbClr val="B192C9"/>
                </a:solidFill>
                <a:uFill>
                  <a:solidFill>
                    <a:srgbClr val="B192C9"/>
                  </a:solidFill>
                </a:uFill>
                <a:latin typeface="Consolas"/>
                <a:cs typeface="Consolas"/>
                <a:hlinkClick r:id="rId3"/>
              </a:rPr>
              <a:t>FX-</a:t>
            </a:r>
            <a:r>
              <a:rPr sz="2000" u="sng" spc="-10" dirty="0">
                <a:solidFill>
                  <a:srgbClr val="B192C9"/>
                </a:solidFill>
                <a:uFill>
                  <a:solidFill>
                    <a:srgbClr val="B192C9"/>
                  </a:solidFill>
                </a:uFill>
                <a:latin typeface="Consolas"/>
                <a:cs typeface="Consolas"/>
                <a:hlinkClick r:id="rId3"/>
              </a:rPr>
              <a:t>10/index.html</a:t>
            </a:r>
            <a:endParaRPr sz="2000">
              <a:latin typeface="Consolas"/>
              <a:cs typeface="Consolas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745735" y="2924555"/>
            <a:ext cx="4061460" cy="273405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10311" y="2929127"/>
            <a:ext cx="4468368" cy="2009541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xfrm>
            <a:off x="4229227" y="6395259"/>
            <a:ext cx="2094864" cy="21608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it-IT" spc="-95" dirty="0" err="1"/>
              <a:t>JavaFX</a:t>
            </a:r>
            <a:endParaRPr spc="-6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4151" y="6432803"/>
            <a:ext cx="120650" cy="190500"/>
          </a:xfrm>
          <a:custGeom>
            <a:avLst/>
            <a:gdLst/>
            <a:ahLst/>
            <a:cxnLst/>
            <a:rect l="l" t="t" r="r" b="b"/>
            <a:pathLst>
              <a:path w="120650" h="190500">
                <a:moveTo>
                  <a:pt x="0" y="0"/>
                </a:moveTo>
                <a:lnTo>
                  <a:pt x="0" y="190500"/>
                </a:lnTo>
                <a:lnTo>
                  <a:pt x="120396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9FB8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225" dirty="0"/>
              <a:t>General</a:t>
            </a:r>
            <a:r>
              <a:rPr spc="335" dirty="0"/>
              <a:t> </a:t>
            </a:r>
            <a:r>
              <a:rPr spc="175" dirty="0"/>
              <a:t>rules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xfrm>
            <a:off x="4229227" y="6395259"/>
            <a:ext cx="2094864" cy="21608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it-IT" spc="-95" dirty="0" err="1"/>
              <a:t>JavaFX</a:t>
            </a:r>
            <a:endParaRPr spc="-65" dirty="0"/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3095"/>
              </a:lnSpc>
              <a:spcBef>
                <a:spcPts val="105"/>
              </a:spcBef>
              <a:tabLst>
                <a:tab pos="286385" algn="l"/>
              </a:tabLst>
            </a:pPr>
            <a:r>
              <a:rPr sz="1950" spc="-50" dirty="0">
                <a:solidFill>
                  <a:srgbClr val="717BA2"/>
                </a:solidFill>
                <a:latin typeface="Segoe UI Symbol"/>
                <a:cs typeface="Segoe UI Symbol"/>
              </a:rPr>
              <a:t>🞂</a:t>
            </a:r>
            <a:r>
              <a:rPr sz="1950" dirty="0">
                <a:solidFill>
                  <a:srgbClr val="717BA2"/>
                </a:solidFill>
                <a:latin typeface="Segoe UI Symbol"/>
                <a:cs typeface="Segoe UI Symbol"/>
              </a:rPr>
              <a:t>​	</a:t>
            </a:r>
            <a:r>
              <a:rPr spc="180" dirty="0"/>
              <a:t>A</a:t>
            </a:r>
            <a:r>
              <a:rPr spc="-10" dirty="0"/>
              <a:t> </a:t>
            </a:r>
            <a:r>
              <a:rPr spc="-195" dirty="0"/>
              <a:t>JavaFX</a:t>
            </a:r>
            <a:r>
              <a:rPr dirty="0"/>
              <a:t> </a:t>
            </a:r>
            <a:r>
              <a:rPr spc="-170" dirty="0"/>
              <a:t>application</a:t>
            </a:r>
            <a:r>
              <a:rPr spc="-20" dirty="0"/>
              <a:t> </a:t>
            </a:r>
            <a:r>
              <a:rPr spc="-10" dirty="0"/>
              <a:t>extends</a:t>
            </a:r>
            <a:endParaRPr sz="1950">
              <a:latin typeface="Segoe UI Symbol"/>
              <a:cs typeface="Segoe UI Symbol"/>
            </a:endParaRPr>
          </a:p>
          <a:p>
            <a:pPr marL="286385">
              <a:lnSpc>
                <a:spcPts val="3095"/>
              </a:lnSpc>
            </a:pPr>
            <a:r>
              <a:rPr spc="-10" dirty="0">
                <a:latin typeface="Consolas"/>
                <a:cs typeface="Consolas"/>
              </a:rPr>
              <a:t>javafx.application.Application</a:t>
            </a:r>
          </a:p>
          <a:p>
            <a:pPr marL="12700">
              <a:lnSpc>
                <a:spcPct val="100000"/>
              </a:lnSpc>
              <a:spcBef>
                <a:spcPts val="650"/>
              </a:spcBef>
              <a:tabLst>
                <a:tab pos="286385" algn="l"/>
              </a:tabLst>
            </a:pPr>
            <a:r>
              <a:rPr sz="1950" spc="-50" dirty="0">
                <a:solidFill>
                  <a:srgbClr val="717BA2"/>
                </a:solidFill>
                <a:latin typeface="Segoe UI Symbol"/>
                <a:cs typeface="Segoe UI Symbol"/>
              </a:rPr>
              <a:t>🞂</a:t>
            </a:r>
            <a:r>
              <a:rPr sz="1950" dirty="0">
                <a:solidFill>
                  <a:srgbClr val="717BA2"/>
                </a:solidFill>
                <a:latin typeface="Segoe UI Symbol"/>
                <a:cs typeface="Segoe UI Symbol"/>
              </a:rPr>
              <a:t>​	</a:t>
            </a:r>
            <a:r>
              <a:rPr spc="-60" dirty="0"/>
              <a:t>The</a:t>
            </a:r>
            <a:r>
              <a:rPr spc="-50" dirty="0"/>
              <a:t> </a:t>
            </a:r>
            <a:r>
              <a:rPr spc="-170" dirty="0"/>
              <a:t>main()</a:t>
            </a:r>
            <a:r>
              <a:rPr spc="-70" dirty="0"/>
              <a:t> </a:t>
            </a:r>
            <a:r>
              <a:rPr spc="-125" dirty="0"/>
              <a:t>method</a:t>
            </a:r>
            <a:r>
              <a:rPr spc="-75" dirty="0"/>
              <a:t> </a:t>
            </a:r>
            <a:r>
              <a:rPr spc="-100" dirty="0"/>
              <a:t>should</a:t>
            </a:r>
            <a:r>
              <a:rPr spc="-60" dirty="0"/>
              <a:t> </a:t>
            </a:r>
            <a:r>
              <a:rPr spc="-210" dirty="0"/>
              <a:t>call</a:t>
            </a:r>
            <a:r>
              <a:rPr spc="-320" dirty="0"/>
              <a:t> </a:t>
            </a:r>
            <a:r>
              <a:rPr spc="-95" dirty="0"/>
              <a:t>Application.launch()</a:t>
            </a:r>
            <a:endParaRPr sz="1950">
              <a:latin typeface="Segoe UI Symbol"/>
              <a:cs typeface="Segoe UI Symbol"/>
            </a:endParaRPr>
          </a:p>
          <a:p>
            <a:pPr marL="286385" marR="36830" indent="-274320">
              <a:lnSpc>
                <a:spcPct val="100000"/>
              </a:lnSpc>
              <a:spcBef>
                <a:spcPts val="600"/>
              </a:spcBef>
              <a:tabLst>
                <a:tab pos="286385" algn="l"/>
              </a:tabLst>
            </a:pPr>
            <a:r>
              <a:rPr sz="1950" spc="-50" dirty="0">
                <a:solidFill>
                  <a:srgbClr val="717BA2"/>
                </a:solidFill>
                <a:latin typeface="Segoe UI Symbol"/>
                <a:cs typeface="Segoe UI Symbol"/>
              </a:rPr>
              <a:t>🞂</a:t>
            </a:r>
            <a:r>
              <a:rPr sz="1950" dirty="0">
                <a:solidFill>
                  <a:srgbClr val="717BA2"/>
                </a:solidFill>
                <a:latin typeface="Segoe UI Symbol"/>
                <a:cs typeface="Segoe UI Symbol"/>
              </a:rPr>
              <a:t>​	</a:t>
            </a:r>
            <a:r>
              <a:rPr spc="-60" dirty="0"/>
              <a:t>The </a:t>
            </a:r>
            <a:r>
              <a:rPr spc="-120" dirty="0"/>
              <a:t>start()</a:t>
            </a:r>
            <a:r>
              <a:rPr spc="-80" dirty="0"/>
              <a:t> </a:t>
            </a:r>
            <a:r>
              <a:rPr spc="-125" dirty="0"/>
              <a:t>method</a:t>
            </a:r>
            <a:r>
              <a:rPr spc="-85" dirty="0"/>
              <a:t> </a:t>
            </a:r>
            <a:r>
              <a:rPr spc="-100" dirty="0"/>
              <a:t>is</a:t>
            </a:r>
            <a:r>
              <a:rPr spc="-60" dirty="0"/>
              <a:t> </a:t>
            </a:r>
            <a:r>
              <a:rPr spc="-160" dirty="0"/>
              <a:t>the</a:t>
            </a:r>
            <a:r>
              <a:rPr spc="-60" dirty="0"/>
              <a:t> </a:t>
            </a:r>
            <a:r>
              <a:rPr spc="-190" dirty="0"/>
              <a:t>main</a:t>
            </a:r>
            <a:r>
              <a:rPr spc="-70" dirty="0"/>
              <a:t> </a:t>
            </a:r>
            <a:r>
              <a:rPr spc="-105" dirty="0"/>
              <a:t>entry</a:t>
            </a:r>
            <a:r>
              <a:rPr spc="-75" dirty="0"/>
              <a:t> </a:t>
            </a:r>
            <a:r>
              <a:rPr spc="-114" dirty="0"/>
              <a:t>point</a:t>
            </a:r>
            <a:r>
              <a:rPr spc="-80" dirty="0"/>
              <a:t> </a:t>
            </a:r>
            <a:r>
              <a:rPr spc="-90" dirty="0"/>
              <a:t>for</a:t>
            </a:r>
            <a:r>
              <a:rPr spc="-60" dirty="0"/>
              <a:t> </a:t>
            </a:r>
            <a:r>
              <a:rPr spc="-220" dirty="0"/>
              <a:t>all</a:t>
            </a:r>
            <a:r>
              <a:rPr spc="-35" dirty="0"/>
              <a:t> </a:t>
            </a:r>
            <a:r>
              <a:rPr spc="-150" dirty="0"/>
              <a:t>JavaFX </a:t>
            </a:r>
            <a:r>
              <a:rPr spc="-75" dirty="0"/>
              <a:t>applications</a:t>
            </a:r>
            <a:endParaRPr sz="1950">
              <a:latin typeface="Segoe UI Symbol"/>
              <a:cs typeface="Segoe UI Symbol"/>
            </a:endParaRPr>
          </a:p>
          <a:p>
            <a:pPr marL="286385">
              <a:lnSpc>
                <a:spcPct val="100000"/>
              </a:lnSpc>
              <a:spcBef>
                <a:spcPts val="515"/>
              </a:spcBef>
              <a:tabLst>
                <a:tab pos="561340" algn="l"/>
              </a:tabLst>
            </a:pPr>
            <a:r>
              <a:rPr sz="1750" spc="-50" dirty="0">
                <a:solidFill>
                  <a:srgbClr val="9FB8CD"/>
                </a:solidFill>
                <a:latin typeface="Segoe UI Symbol"/>
                <a:cs typeface="Segoe UI Symbol"/>
              </a:rPr>
              <a:t>🞂</a:t>
            </a:r>
            <a:r>
              <a:rPr sz="1750" dirty="0">
                <a:solidFill>
                  <a:srgbClr val="9FB8CD"/>
                </a:solidFill>
                <a:latin typeface="Segoe UI Symbol"/>
                <a:cs typeface="Segoe UI Symbol"/>
              </a:rPr>
              <a:t>​	</a:t>
            </a:r>
            <a:r>
              <a:rPr sz="2300" spc="-100" dirty="0">
                <a:solidFill>
                  <a:srgbClr val="464652"/>
                </a:solidFill>
              </a:rPr>
              <a:t>Called</a:t>
            </a:r>
            <a:r>
              <a:rPr sz="2300" spc="-60" dirty="0">
                <a:solidFill>
                  <a:srgbClr val="464652"/>
                </a:solidFill>
              </a:rPr>
              <a:t> </a:t>
            </a:r>
            <a:r>
              <a:rPr sz="2300" spc="-120" dirty="0">
                <a:solidFill>
                  <a:srgbClr val="464652"/>
                </a:solidFill>
              </a:rPr>
              <a:t>with</a:t>
            </a:r>
            <a:r>
              <a:rPr sz="2300" spc="-75" dirty="0">
                <a:solidFill>
                  <a:srgbClr val="464652"/>
                </a:solidFill>
              </a:rPr>
              <a:t> </a:t>
            </a:r>
            <a:r>
              <a:rPr sz="2300" spc="-240" dirty="0">
                <a:solidFill>
                  <a:srgbClr val="464652"/>
                </a:solidFill>
              </a:rPr>
              <a:t>a</a:t>
            </a:r>
            <a:r>
              <a:rPr sz="2300" spc="-35" dirty="0">
                <a:solidFill>
                  <a:srgbClr val="464652"/>
                </a:solidFill>
              </a:rPr>
              <a:t> </a:t>
            </a:r>
            <a:r>
              <a:rPr sz="2300" spc="-155" dirty="0">
                <a:solidFill>
                  <a:srgbClr val="464652"/>
                </a:solidFill>
              </a:rPr>
              <a:t>Stage</a:t>
            </a:r>
            <a:r>
              <a:rPr sz="2300" spc="-55" dirty="0">
                <a:solidFill>
                  <a:srgbClr val="464652"/>
                </a:solidFill>
              </a:rPr>
              <a:t> </a:t>
            </a:r>
            <a:r>
              <a:rPr sz="2300" spc="-125" dirty="0">
                <a:solidFill>
                  <a:srgbClr val="464652"/>
                </a:solidFill>
              </a:rPr>
              <a:t>connected</a:t>
            </a:r>
            <a:r>
              <a:rPr sz="2300" spc="-35" dirty="0">
                <a:solidFill>
                  <a:srgbClr val="464652"/>
                </a:solidFill>
              </a:rPr>
              <a:t> </a:t>
            </a:r>
            <a:r>
              <a:rPr sz="2300" spc="-20" dirty="0">
                <a:solidFill>
                  <a:srgbClr val="464652"/>
                </a:solidFill>
              </a:rPr>
              <a:t>to</a:t>
            </a:r>
            <a:r>
              <a:rPr sz="2300" spc="-45" dirty="0">
                <a:solidFill>
                  <a:srgbClr val="464652"/>
                </a:solidFill>
              </a:rPr>
              <a:t> </a:t>
            </a:r>
            <a:r>
              <a:rPr sz="2300" spc="-145" dirty="0">
                <a:solidFill>
                  <a:srgbClr val="464652"/>
                </a:solidFill>
              </a:rPr>
              <a:t>the</a:t>
            </a:r>
            <a:r>
              <a:rPr sz="2300" spc="-60" dirty="0">
                <a:solidFill>
                  <a:srgbClr val="464652"/>
                </a:solidFill>
              </a:rPr>
              <a:t> </a:t>
            </a:r>
            <a:r>
              <a:rPr sz="2300" spc="-95" dirty="0">
                <a:solidFill>
                  <a:srgbClr val="464652"/>
                </a:solidFill>
              </a:rPr>
              <a:t>Operating</a:t>
            </a:r>
            <a:r>
              <a:rPr sz="2300" spc="-50" dirty="0">
                <a:solidFill>
                  <a:srgbClr val="464652"/>
                </a:solidFill>
              </a:rPr>
              <a:t> </a:t>
            </a:r>
            <a:r>
              <a:rPr sz="2300" spc="-20" dirty="0">
                <a:solidFill>
                  <a:srgbClr val="464652"/>
                </a:solidFill>
              </a:rPr>
              <a:t>System’s</a:t>
            </a:r>
            <a:endParaRPr sz="2300">
              <a:latin typeface="Segoe UI Symbol"/>
              <a:cs typeface="Segoe UI Symbol"/>
            </a:endParaRPr>
          </a:p>
          <a:p>
            <a:pPr marL="561340">
              <a:lnSpc>
                <a:spcPct val="100000"/>
              </a:lnSpc>
            </a:pPr>
            <a:r>
              <a:rPr sz="2300" spc="-10" dirty="0">
                <a:solidFill>
                  <a:srgbClr val="464652"/>
                </a:solidFill>
              </a:rPr>
              <a:t>window</a:t>
            </a:r>
            <a:endParaRPr sz="2300"/>
          </a:p>
          <a:p>
            <a:pPr marL="286385" marR="5080" indent="-274320">
              <a:lnSpc>
                <a:spcPct val="100000"/>
              </a:lnSpc>
              <a:spcBef>
                <a:spcPts val="590"/>
              </a:spcBef>
              <a:tabLst>
                <a:tab pos="286385" algn="l"/>
              </a:tabLst>
            </a:pPr>
            <a:r>
              <a:rPr sz="1950" spc="-50" dirty="0">
                <a:solidFill>
                  <a:srgbClr val="717BA2"/>
                </a:solidFill>
                <a:latin typeface="Segoe UI Symbol"/>
                <a:cs typeface="Segoe UI Symbol"/>
              </a:rPr>
              <a:t>🞂</a:t>
            </a:r>
            <a:r>
              <a:rPr sz="1950" dirty="0">
                <a:solidFill>
                  <a:srgbClr val="717BA2"/>
                </a:solidFill>
                <a:latin typeface="Segoe UI Symbol"/>
                <a:cs typeface="Segoe UI Symbol"/>
              </a:rPr>
              <a:t>​	</a:t>
            </a:r>
            <a:r>
              <a:rPr spc="-60" dirty="0"/>
              <a:t>The</a:t>
            </a:r>
            <a:r>
              <a:rPr spc="-55" dirty="0"/>
              <a:t> </a:t>
            </a:r>
            <a:r>
              <a:rPr spc="-135" dirty="0"/>
              <a:t>content</a:t>
            </a:r>
            <a:r>
              <a:rPr spc="-65" dirty="0"/>
              <a:t> </a:t>
            </a:r>
            <a:r>
              <a:rPr spc="-145" dirty="0"/>
              <a:t>of</a:t>
            </a:r>
            <a:r>
              <a:rPr spc="-55" dirty="0"/>
              <a:t> </a:t>
            </a:r>
            <a:r>
              <a:rPr spc="-160" dirty="0"/>
              <a:t>the</a:t>
            </a:r>
            <a:r>
              <a:rPr spc="-55" dirty="0"/>
              <a:t> </a:t>
            </a:r>
            <a:r>
              <a:rPr spc="-135" dirty="0"/>
              <a:t>scene</a:t>
            </a:r>
            <a:r>
              <a:rPr spc="-60" dirty="0"/>
              <a:t> </a:t>
            </a:r>
            <a:r>
              <a:rPr spc="-90" dirty="0"/>
              <a:t>is</a:t>
            </a:r>
            <a:r>
              <a:rPr spc="-55" dirty="0"/>
              <a:t> </a:t>
            </a:r>
            <a:r>
              <a:rPr spc="-135" dirty="0"/>
              <a:t>represented</a:t>
            </a:r>
            <a:r>
              <a:rPr spc="-95" dirty="0"/>
              <a:t> </a:t>
            </a:r>
            <a:r>
              <a:rPr spc="-160" dirty="0"/>
              <a:t>as</a:t>
            </a:r>
            <a:r>
              <a:rPr spc="-55" dirty="0"/>
              <a:t> </a:t>
            </a:r>
            <a:r>
              <a:rPr spc="-260" dirty="0"/>
              <a:t>a</a:t>
            </a:r>
            <a:r>
              <a:rPr spc="-50" dirty="0"/>
              <a:t> </a:t>
            </a:r>
            <a:r>
              <a:rPr spc="-135" dirty="0"/>
              <a:t>hierarchical </a:t>
            </a:r>
            <a:r>
              <a:rPr spc="-140" dirty="0"/>
              <a:t>scene</a:t>
            </a:r>
            <a:r>
              <a:rPr spc="-35" dirty="0"/>
              <a:t> </a:t>
            </a:r>
            <a:r>
              <a:rPr spc="-155" dirty="0"/>
              <a:t>graph</a:t>
            </a:r>
            <a:r>
              <a:rPr spc="-60" dirty="0"/>
              <a:t> </a:t>
            </a:r>
            <a:r>
              <a:rPr spc="-145" dirty="0"/>
              <a:t>of</a:t>
            </a:r>
            <a:r>
              <a:rPr spc="-35" dirty="0"/>
              <a:t> </a:t>
            </a:r>
            <a:r>
              <a:rPr spc="-10" dirty="0"/>
              <a:t>Nodes</a:t>
            </a:r>
            <a:endParaRPr sz="1950">
              <a:latin typeface="Segoe UI Symbol"/>
              <a:cs typeface="Segoe UI Symbol"/>
            </a:endParaRPr>
          </a:p>
          <a:p>
            <a:pPr marL="286385">
              <a:lnSpc>
                <a:spcPct val="100000"/>
              </a:lnSpc>
              <a:spcBef>
                <a:spcPts val="515"/>
              </a:spcBef>
              <a:tabLst>
                <a:tab pos="561340" algn="l"/>
              </a:tabLst>
            </a:pPr>
            <a:r>
              <a:rPr sz="1750" spc="-50" dirty="0">
                <a:solidFill>
                  <a:srgbClr val="9FB8CD"/>
                </a:solidFill>
                <a:latin typeface="Segoe UI Symbol"/>
                <a:cs typeface="Segoe UI Symbol"/>
              </a:rPr>
              <a:t>🞂</a:t>
            </a:r>
            <a:r>
              <a:rPr sz="1750" dirty="0">
                <a:solidFill>
                  <a:srgbClr val="9FB8CD"/>
                </a:solidFill>
                <a:latin typeface="Segoe UI Symbol"/>
                <a:cs typeface="Segoe UI Symbol"/>
              </a:rPr>
              <a:t>​	</a:t>
            </a:r>
            <a:r>
              <a:rPr sz="2300" spc="-155" dirty="0">
                <a:solidFill>
                  <a:srgbClr val="464652"/>
                </a:solidFill>
              </a:rPr>
              <a:t>Stage</a:t>
            </a:r>
            <a:r>
              <a:rPr sz="2300" spc="-45" dirty="0">
                <a:solidFill>
                  <a:srgbClr val="464652"/>
                </a:solidFill>
              </a:rPr>
              <a:t> </a:t>
            </a:r>
            <a:r>
              <a:rPr sz="2300" spc="-80" dirty="0">
                <a:solidFill>
                  <a:srgbClr val="464652"/>
                </a:solidFill>
              </a:rPr>
              <a:t>is</a:t>
            </a:r>
            <a:r>
              <a:rPr sz="2300" spc="-25" dirty="0">
                <a:solidFill>
                  <a:srgbClr val="464652"/>
                </a:solidFill>
              </a:rPr>
              <a:t> </a:t>
            </a:r>
            <a:r>
              <a:rPr sz="2300" spc="-150" dirty="0">
                <a:solidFill>
                  <a:srgbClr val="464652"/>
                </a:solidFill>
              </a:rPr>
              <a:t>the</a:t>
            </a:r>
            <a:r>
              <a:rPr sz="2300" spc="-45" dirty="0">
                <a:solidFill>
                  <a:srgbClr val="464652"/>
                </a:solidFill>
              </a:rPr>
              <a:t> </a:t>
            </a:r>
            <a:r>
              <a:rPr sz="2300" spc="-105" dirty="0">
                <a:solidFill>
                  <a:srgbClr val="464652"/>
                </a:solidFill>
              </a:rPr>
              <a:t>top-</a:t>
            </a:r>
            <a:r>
              <a:rPr sz="2300" spc="-180" dirty="0">
                <a:solidFill>
                  <a:srgbClr val="464652"/>
                </a:solidFill>
              </a:rPr>
              <a:t>level</a:t>
            </a:r>
            <a:r>
              <a:rPr sz="2300" spc="-40" dirty="0">
                <a:solidFill>
                  <a:srgbClr val="464652"/>
                </a:solidFill>
              </a:rPr>
              <a:t> </a:t>
            </a:r>
            <a:r>
              <a:rPr sz="2300" spc="-175" dirty="0">
                <a:solidFill>
                  <a:srgbClr val="464652"/>
                </a:solidFill>
              </a:rPr>
              <a:t>JavaFX</a:t>
            </a:r>
            <a:r>
              <a:rPr sz="2300" spc="-35" dirty="0">
                <a:solidFill>
                  <a:srgbClr val="464652"/>
                </a:solidFill>
              </a:rPr>
              <a:t> </a:t>
            </a:r>
            <a:r>
              <a:rPr sz="2300" spc="-10" dirty="0">
                <a:solidFill>
                  <a:srgbClr val="464652"/>
                </a:solidFill>
              </a:rPr>
              <a:t>container</a:t>
            </a:r>
            <a:endParaRPr sz="2300">
              <a:latin typeface="Segoe UI Symbol"/>
              <a:cs typeface="Segoe UI Symbol"/>
            </a:endParaRPr>
          </a:p>
          <a:p>
            <a:pPr marL="286385">
              <a:lnSpc>
                <a:spcPct val="100000"/>
              </a:lnSpc>
              <a:spcBef>
                <a:spcPts val="495"/>
              </a:spcBef>
              <a:tabLst>
                <a:tab pos="561340" algn="l"/>
              </a:tabLst>
            </a:pPr>
            <a:r>
              <a:rPr sz="1750" spc="-50" dirty="0">
                <a:solidFill>
                  <a:srgbClr val="9FB8CD"/>
                </a:solidFill>
                <a:latin typeface="Segoe UI Symbol"/>
                <a:cs typeface="Segoe UI Symbol"/>
              </a:rPr>
              <a:t>🞂</a:t>
            </a:r>
            <a:r>
              <a:rPr sz="1750" dirty="0">
                <a:solidFill>
                  <a:srgbClr val="9FB8CD"/>
                </a:solidFill>
                <a:latin typeface="Segoe UI Symbol"/>
                <a:cs typeface="Segoe UI Symbol"/>
              </a:rPr>
              <a:t>​	</a:t>
            </a:r>
            <a:r>
              <a:rPr sz="2300" spc="-125" dirty="0">
                <a:solidFill>
                  <a:srgbClr val="464652"/>
                </a:solidFill>
              </a:rPr>
              <a:t>Scene</a:t>
            </a:r>
            <a:r>
              <a:rPr sz="2300" spc="-60" dirty="0">
                <a:solidFill>
                  <a:srgbClr val="464652"/>
                </a:solidFill>
              </a:rPr>
              <a:t> </a:t>
            </a:r>
            <a:r>
              <a:rPr sz="2300" spc="-80" dirty="0">
                <a:solidFill>
                  <a:srgbClr val="464652"/>
                </a:solidFill>
              </a:rPr>
              <a:t>is</a:t>
            </a:r>
            <a:r>
              <a:rPr sz="2300" spc="-40" dirty="0">
                <a:solidFill>
                  <a:srgbClr val="464652"/>
                </a:solidFill>
              </a:rPr>
              <a:t> </a:t>
            </a:r>
            <a:r>
              <a:rPr sz="2300" spc="-145" dirty="0">
                <a:solidFill>
                  <a:srgbClr val="464652"/>
                </a:solidFill>
              </a:rPr>
              <a:t>the</a:t>
            </a:r>
            <a:r>
              <a:rPr sz="2300" spc="-65" dirty="0">
                <a:solidFill>
                  <a:srgbClr val="464652"/>
                </a:solidFill>
              </a:rPr>
              <a:t> </a:t>
            </a:r>
            <a:r>
              <a:rPr sz="2300" spc="-114" dirty="0">
                <a:solidFill>
                  <a:srgbClr val="464652"/>
                </a:solidFill>
              </a:rPr>
              <a:t>container</a:t>
            </a:r>
            <a:r>
              <a:rPr sz="2300" spc="-40" dirty="0">
                <a:solidFill>
                  <a:srgbClr val="464652"/>
                </a:solidFill>
              </a:rPr>
              <a:t> </a:t>
            </a:r>
            <a:r>
              <a:rPr sz="2300" spc="-85" dirty="0">
                <a:solidFill>
                  <a:srgbClr val="464652"/>
                </a:solidFill>
              </a:rPr>
              <a:t>for</a:t>
            </a:r>
            <a:r>
              <a:rPr sz="2300" spc="-45" dirty="0">
                <a:solidFill>
                  <a:srgbClr val="464652"/>
                </a:solidFill>
              </a:rPr>
              <a:t> </a:t>
            </a:r>
            <a:r>
              <a:rPr sz="2300" spc="-204" dirty="0">
                <a:solidFill>
                  <a:srgbClr val="464652"/>
                </a:solidFill>
              </a:rPr>
              <a:t>all</a:t>
            </a:r>
            <a:r>
              <a:rPr sz="2300" spc="-50" dirty="0">
                <a:solidFill>
                  <a:srgbClr val="464652"/>
                </a:solidFill>
              </a:rPr>
              <a:t> </a:t>
            </a:r>
            <a:r>
              <a:rPr sz="2300" spc="-10" dirty="0">
                <a:solidFill>
                  <a:srgbClr val="464652"/>
                </a:solidFill>
              </a:rPr>
              <a:t>content</a:t>
            </a:r>
            <a:endParaRPr sz="2300">
              <a:latin typeface="Segoe UI Symbol"/>
              <a:cs typeface="Segoe UI Symbo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4151" y="6432803"/>
            <a:ext cx="120650" cy="190500"/>
          </a:xfrm>
          <a:custGeom>
            <a:avLst/>
            <a:gdLst/>
            <a:ahLst/>
            <a:cxnLst/>
            <a:rect l="l" t="t" r="r" b="b"/>
            <a:pathLst>
              <a:path w="120650" h="190500">
                <a:moveTo>
                  <a:pt x="0" y="0"/>
                </a:moveTo>
                <a:lnTo>
                  <a:pt x="0" y="190500"/>
                </a:lnTo>
                <a:lnTo>
                  <a:pt x="120396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9FB8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50" dirty="0"/>
              <a:t>Nodes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xfrm>
            <a:off x="4229227" y="6395259"/>
            <a:ext cx="2094864" cy="21608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it-IT" spc="-95" dirty="0" err="1"/>
              <a:t>JavaFX</a:t>
            </a:r>
            <a:endParaRPr spc="-65" dirty="0"/>
          </a:p>
        </p:txBody>
      </p:sp>
      <p:sp>
        <p:nvSpPr>
          <p:cNvPr id="4" name="object 4"/>
          <p:cNvSpPr txBox="1"/>
          <p:nvPr/>
        </p:nvSpPr>
        <p:spPr>
          <a:xfrm>
            <a:off x="535940" y="1165374"/>
            <a:ext cx="6303645" cy="4788535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70"/>
              </a:spcBef>
              <a:tabLst>
                <a:tab pos="286385" algn="l"/>
              </a:tabLst>
            </a:pPr>
            <a:r>
              <a:rPr sz="1950" spc="-50" dirty="0">
                <a:solidFill>
                  <a:srgbClr val="717BA2"/>
                </a:solidFill>
                <a:latin typeface="Segoe UI Symbol"/>
                <a:cs typeface="Segoe UI Symbol"/>
              </a:rPr>
              <a:t>🞂</a:t>
            </a:r>
            <a:r>
              <a:rPr sz="1950" dirty="0">
                <a:solidFill>
                  <a:srgbClr val="717BA2"/>
                </a:solidFill>
                <a:latin typeface="Segoe UI Symbol"/>
                <a:cs typeface="Segoe UI Symbol"/>
              </a:rPr>
              <a:t>​	</a:t>
            </a:r>
            <a:r>
              <a:rPr sz="2600" spc="-60" dirty="0">
                <a:latin typeface="Trebuchet MS"/>
                <a:cs typeface="Trebuchet MS"/>
              </a:rPr>
              <a:t>The</a:t>
            </a:r>
            <a:r>
              <a:rPr sz="2600" spc="-55" dirty="0">
                <a:latin typeface="Trebuchet MS"/>
                <a:cs typeface="Trebuchet MS"/>
              </a:rPr>
              <a:t> </a:t>
            </a:r>
            <a:r>
              <a:rPr sz="2600" spc="-145" dirty="0">
                <a:latin typeface="Trebuchet MS"/>
                <a:cs typeface="Trebuchet MS"/>
              </a:rPr>
              <a:t>Scene</a:t>
            </a:r>
            <a:r>
              <a:rPr sz="2600" spc="-60" dirty="0">
                <a:latin typeface="Trebuchet MS"/>
                <a:cs typeface="Trebuchet MS"/>
              </a:rPr>
              <a:t> </a:t>
            </a:r>
            <a:r>
              <a:rPr sz="2600" spc="-90" dirty="0">
                <a:latin typeface="Trebuchet MS"/>
                <a:cs typeface="Trebuchet MS"/>
              </a:rPr>
              <a:t>is</a:t>
            </a:r>
            <a:r>
              <a:rPr sz="2600" spc="-60" dirty="0">
                <a:latin typeface="Trebuchet MS"/>
                <a:cs typeface="Trebuchet MS"/>
              </a:rPr>
              <a:t> </a:t>
            </a:r>
            <a:r>
              <a:rPr sz="2600" spc="-150" dirty="0">
                <a:latin typeface="Trebuchet MS"/>
                <a:cs typeface="Trebuchet MS"/>
              </a:rPr>
              <a:t>populated</a:t>
            </a:r>
            <a:r>
              <a:rPr sz="2600" spc="-100" dirty="0">
                <a:latin typeface="Trebuchet MS"/>
                <a:cs typeface="Trebuchet MS"/>
              </a:rPr>
              <a:t> </a:t>
            </a:r>
            <a:r>
              <a:rPr sz="2600" spc="-135" dirty="0">
                <a:latin typeface="Trebuchet MS"/>
                <a:cs typeface="Trebuchet MS"/>
              </a:rPr>
              <a:t>with</a:t>
            </a:r>
            <a:r>
              <a:rPr sz="2600" spc="-60" dirty="0">
                <a:latin typeface="Trebuchet MS"/>
                <a:cs typeface="Trebuchet MS"/>
              </a:rPr>
              <a:t> </a:t>
            </a:r>
            <a:r>
              <a:rPr sz="2600" spc="-260" dirty="0">
                <a:latin typeface="Trebuchet MS"/>
                <a:cs typeface="Trebuchet MS"/>
              </a:rPr>
              <a:t>a</a:t>
            </a:r>
            <a:r>
              <a:rPr sz="2600" spc="-55" dirty="0">
                <a:latin typeface="Trebuchet MS"/>
                <a:cs typeface="Trebuchet MS"/>
              </a:rPr>
              <a:t> </a:t>
            </a:r>
            <a:r>
              <a:rPr sz="2600" spc="-140" dirty="0">
                <a:latin typeface="Trebuchet MS"/>
                <a:cs typeface="Trebuchet MS"/>
              </a:rPr>
              <a:t>tree</a:t>
            </a:r>
            <a:r>
              <a:rPr sz="2600" spc="-60" dirty="0">
                <a:latin typeface="Trebuchet MS"/>
                <a:cs typeface="Trebuchet MS"/>
              </a:rPr>
              <a:t> </a:t>
            </a:r>
            <a:r>
              <a:rPr sz="2600" spc="-145" dirty="0">
                <a:latin typeface="Trebuchet MS"/>
                <a:cs typeface="Trebuchet MS"/>
              </a:rPr>
              <a:t>of</a:t>
            </a:r>
            <a:r>
              <a:rPr sz="2600" spc="-60" dirty="0">
                <a:latin typeface="Trebuchet MS"/>
                <a:cs typeface="Trebuchet MS"/>
              </a:rPr>
              <a:t> </a:t>
            </a:r>
            <a:r>
              <a:rPr sz="2600" spc="-10" dirty="0">
                <a:latin typeface="Trebuchet MS"/>
                <a:cs typeface="Trebuchet MS"/>
              </a:rPr>
              <a:t>Nodes</a:t>
            </a:r>
            <a:endParaRPr sz="2600">
              <a:latin typeface="Trebuchet MS"/>
              <a:cs typeface="Trebuchet MS"/>
            </a:endParaRPr>
          </a:p>
          <a:p>
            <a:pPr marL="286385">
              <a:lnSpc>
                <a:spcPct val="100000"/>
              </a:lnSpc>
              <a:spcBef>
                <a:spcPts val="240"/>
              </a:spcBef>
              <a:tabLst>
                <a:tab pos="561340" algn="l"/>
              </a:tabLst>
            </a:pPr>
            <a:r>
              <a:rPr sz="1750" spc="-50" dirty="0">
                <a:solidFill>
                  <a:srgbClr val="9FB8CD"/>
                </a:solidFill>
                <a:latin typeface="Segoe UI Symbol"/>
                <a:cs typeface="Segoe UI Symbol"/>
              </a:rPr>
              <a:t>🞂</a:t>
            </a:r>
            <a:r>
              <a:rPr sz="1750" dirty="0">
                <a:solidFill>
                  <a:srgbClr val="9FB8CD"/>
                </a:solidFill>
                <a:latin typeface="Segoe UI Symbol"/>
                <a:cs typeface="Segoe UI Symbol"/>
              </a:rPr>
              <a:t>​	</a:t>
            </a:r>
            <a:r>
              <a:rPr sz="2300" spc="-140" dirty="0">
                <a:solidFill>
                  <a:srgbClr val="464652"/>
                </a:solidFill>
                <a:latin typeface="Trebuchet MS"/>
                <a:cs typeface="Trebuchet MS"/>
              </a:rPr>
              <a:t>Layout</a:t>
            </a:r>
            <a:r>
              <a:rPr sz="2300" spc="-10" dirty="0">
                <a:solidFill>
                  <a:srgbClr val="464652"/>
                </a:solidFill>
                <a:latin typeface="Trebuchet MS"/>
                <a:cs typeface="Trebuchet MS"/>
              </a:rPr>
              <a:t> </a:t>
            </a:r>
            <a:r>
              <a:rPr sz="2300" spc="-105" dirty="0">
                <a:solidFill>
                  <a:srgbClr val="464652"/>
                </a:solidFill>
                <a:latin typeface="Trebuchet MS"/>
                <a:cs typeface="Trebuchet MS"/>
              </a:rPr>
              <a:t>components</a:t>
            </a:r>
            <a:r>
              <a:rPr sz="2300" spc="-25" dirty="0">
                <a:solidFill>
                  <a:srgbClr val="464652"/>
                </a:solidFill>
                <a:latin typeface="Trebuchet MS"/>
                <a:cs typeface="Trebuchet MS"/>
              </a:rPr>
              <a:t> </a:t>
            </a:r>
            <a:r>
              <a:rPr sz="2300" spc="-10" dirty="0">
                <a:solidFill>
                  <a:srgbClr val="464652"/>
                </a:solidFill>
                <a:latin typeface="Trebuchet MS"/>
                <a:cs typeface="Trebuchet MS"/>
              </a:rPr>
              <a:t>(Panes)</a:t>
            </a:r>
            <a:endParaRPr sz="2300">
              <a:latin typeface="Trebuchet MS"/>
              <a:cs typeface="Trebuchet MS"/>
            </a:endParaRPr>
          </a:p>
          <a:p>
            <a:pPr marL="286385">
              <a:lnSpc>
                <a:spcPct val="100000"/>
              </a:lnSpc>
              <a:spcBef>
                <a:spcPts val="229"/>
              </a:spcBef>
              <a:tabLst>
                <a:tab pos="561340" algn="l"/>
              </a:tabLst>
            </a:pPr>
            <a:r>
              <a:rPr sz="1750" spc="-50" dirty="0">
                <a:solidFill>
                  <a:srgbClr val="9FB8CD"/>
                </a:solidFill>
                <a:latin typeface="Segoe UI Symbol"/>
                <a:cs typeface="Segoe UI Symbol"/>
              </a:rPr>
              <a:t>🞂</a:t>
            </a:r>
            <a:r>
              <a:rPr sz="1750" dirty="0">
                <a:solidFill>
                  <a:srgbClr val="9FB8CD"/>
                </a:solidFill>
                <a:latin typeface="Segoe UI Symbol"/>
                <a:cs typeface="Segoe UI Symbol"/>
              </a:rPr>
              <a:t>​	</a:t>
            </a:r>
            <a:r>
              <a:rPr sz="2300" dirty="0">
                <a:solidFill>
                  <a:srgbClr val="464652"/>
                </a:solidFill>
                <a:latin typeface="Trebuchet MS"/>
                <a:cs typeface="Trebuchet MS"/>
              </a:rPr>
              <a:t>UI</a:t>
            </a:r>
            <a:r>
              <a:rPr sz="2300" spc="-10" dirty="0">
                <a:solidFill>
                  <a:srgbClr val="464652"/>
                </a:solidFill>
                <a:latin typeface="Trebuchet MS"/>
                <a:cs typeface="Trebuchet MS"/>
              </a:rPr>
              <a:t> Controls</a:t>
            </a:r>
            <a:endParaRPr sz="2300">
              <a:latin typeface="Trebuchet MS"/>
              <a:cs typeface="Trebuchet MS"/>
            </a:endParaRPr>
          </a:p>
          <a:p>
            <a:pPr marL="286385">
              <a:lnSpc>
                <a:spcPct val="100000"/>
              </a:lnSpc>
              <a:spcBef>
                <a:spcPts val="215"/>
              </a:spcBef>
              <a:tabLst>
                <a:tab pos="561340" algn="l"/>
              </a:tabLst>
            </a:pPr>
            <a:r>
              <a:rPr sz="1750" spc="-50" dirty="0">
                <a:solidFill>
                  <a:srgbClr val="9FB8CD"/>
                </a:solidFill>
                <a:latin typeface="Segoe UI Symbol"/>
                <a:cs typeface="Segoe UI Symbol"/>
              </a:rPr>
              <a:t>🞂</a:t>
            </a:r>
            <a:r>
              <a:rPr sz="1750" dirty="0">
                <a:solidFill>
                  <a:srgbClr val="9FB8CD"/>
                </a:solidFill>
                <a:latin typeface="Segoe UI Symbol"/>
                <a:cs typeface="Segoe UI Symbol"/>
              </a:rPr>
              <a:t>​	</a:t>
            </a:r>
            <a:r>
              <a:rPr sz="2300" spc="-10" dirty="0">
                <a:solidFill>
                  <a:srgbClr val="464652"/>
                </a:solidFill>
                <a:latin typeface="Trebuchet MS"/>
                <a:cs typeface="Trebuchet MS"/>
              </a:rPr>
              <a:t>Charts</a:t>
            </a:r>
            <a:endParaRPr sz="2300">
              <a:latin typeface="Trebuchet MS"/>
              <a:cs typeface="Trebuchet MS"/>
            </a:endParaRPr>
          </a:p>
          <a:p>
            <a:pPr marL="286385">
              <a:lnSpc>
                <a:spcPct val="100000"/>
              </a:lnSpc>
              <a:spcBef>
                <a:spcPts val="229"/>
              </a:spcBef>
              <a:tabLst>
                <a:tab pos="561340" algn="l"/>
              </a:tabLst>
            </a:pPr>
            <a:r>
              <a:rPr sz="1750" spc="-50" dirty="0">
                <a:solidFill>
                  <a:srgbClr val="9FB8CD"/>
                </a:solidFill>
                <a:latin typeface="Segoe UI Symbol"/>
                <a:cs typeface="Segoe UI Symbol"/>
              </a:rPr>
              <a:t>🞂</a:t>
            </a:r>
            <a:r>
              <a:rPr sz="1750" dirty="0">
                <a:solidFill>
                  <a:srgbClr val="9FB8CD"/>
                </a:solidFill>
                <a:latin typeface="Segoe UI Symbol"/>
                <a:cs typeface="Segoe UI Symbol"/>
              </a:rPr>
              <a:t>​	</a:t>
            </a:r>
            <a:r>
              <a:rPr sz="2300" spc="-10" dirty="0">
                <a:solidFill>
                  <a:srgbClr val="464652"/>
                </a:solidFill>
                <a:latin typeface="Trebuchet MS"/>
                <a:cs typeface="Trebuchet MS"/>
              </a:rPr>
              <a:t>Shapes</a:t>
            </a:r>
            <a:endParaRPr sz="23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75"/>
              </a:spcBef>
              <a:tabLst>
                <a:tab pos="286385" algn="l"/>
              </a:tabLst>
            </a:pPr>
            <a:r>
              <a:rPr sz="1950" spc="-50" dirty="0">
                <a:solidFill>
                  <a:srgbClr val="717BA2"/>
                </a:solidFill>
                <a:latin typeface="Segoe UI Symbol"/>
                <a:cs typeface="Segoe UI Symbol"/>
              </a:rPr>
              <a:t>🞂</a:t>
            </a:r>
            <a:r>
              <a:rPr sz="1950" dirty="0">
                <a:solidFill>
                  <a:srgbClr val="717BA2"/>
                </a:solidFill>
                <a:latin typeface="Segoe UI Symbol"/>
                <a:cs typeface="Segoe UI Symbol"/>
              </a:rPr>
              <a:t>​	</a:t>
            </a:r>
            <a:r>
              <a:rPr sz="2600" dirty="0">
                <a:latin typeface="Trebuchet MS"/>
                <a:cs typeface="Trebuchet MS"/>
              </a:rPr>
              <a:t>Nodes</a:t>
            </a:r>
            <a:r>
              <a:rPr sz="2600" spc="-10" dirty="0">
                <a:latin typeface="Trebuchet MS"/>
                <a:cs typeface="Trebuchet MS"/>
              </a:rPr>
              <a:t> </a:t>
            </a:r>
            <a:r>
              <a:rPr sz="2600" spc="-220" dirty="0">
                <a:latin typeface="Trebuchet MS"/>
                <a:cs typeface="Trebuchet MS"/>
              </a:rPr>
              <a:t>have</a:t>
            </a:r>
            <a:r>
              <a:rPr sz="2600" spc="-25" dirty="0">
                <a:latin typeface="Trebuchet MS"/>
                <a:cs typeface="Trebuchet MS"/>
              </a:rPr>
              <a:t> </a:t>
            </a:r>
            <a:r>
              <a:rPr sz="2600" spc="-10" dirty="0">
                <a:latin typeface="Trebuchet MS"/>
                <a:cs typeface="Trebuchet MS"/>
              </a:rPr>
              <a:t>Properties</a:t>
            </a:r>
            <a:endParaRPr sz="2600">
              <a:latin typeface="Trebuchet MS"/>
              <a:cs typeface="Trebuchet MS"/>
            </a:endParaRPr>
          </a:p>
          <a:p>
            <a:pPr marL="286385">
              <a:lnSpc>
                <a:spcPct val="100000"/>
              </a:lnSpc>
              <a:spcBef>
                <a:spcPts val="240"/>
              </a:spcBef>
              <a:tabLst>
                <a:tab pos="561340" algn="l"/>
              </a:tabLst>
            </a:pPr>
            <a:r>
              <a:rPr sz="1750" spc="-50" dirty="0">
                <a:solidFill>
                  <a:srgbClr val="9FB8CD"/>
                </a:solidFill>
                <a:latin typeface="Segoe UI Symbol"/>
                <a:cs typeface="Segoe UI Symbol"/>
              </a:rPr>
              <a:t>🞂</a:t>
            </a:r>
            <a:r>
              <a:rPr sz="1750" dirty="0">
                <a:solidFill>
                  <a:srgbClr val="9FB8CD"/>
                </a:solidFill>
                <a:latin typeface="Segoe UI Symbol"/>
                <a:cs typeface="Segoe UI Symbol"/>
              </a:rPr>
              <a:t>​	</a:t>
            </a:r>
            <a:r>
              <a:rPr sz="2300" spc="-120" dirty="0">
                <a:solidFill>
                  <a:srgbClr val="464652"/>
                </a:solidFill>
                <a:latin typeface="Trebuchet MS"/>
                <a:cs typeface="Trebuchet MS"/>
              </a:rPr>
              <a:t>Visual</a:t>
            </a:r>
            <a:r>
              <a:rPr sz="2300" spc="-5" dirty="0">
                <a:solidFill>
                  <a:srgbClr val="464652"/>
                </a:solidFill>
                <a:latin typeface="Trebuchet MS"/>
                <a:cs typeface="Trebuchet MS"/>
              </a:rPr>
              <a:t> </a:t>
            </a:r>
            <a:r>
              <a:rPr sz="2300" spc="-155" dirty="0">
                <a:solidFill>
                  <a:srgbClr val="464652"/>
                </a:solidFill>
                <a:latin typeface="Trebuchet MS"/>
                <a:cs typeface="Trebuchet MS"/>
              </a:rPr>
              <a:t>(size,</a:t>
            </a:r>
            <a:r>
              <a:rPr sz="2300" spc="-260" dirty="0">
                <a:solidFill>
                  <a:srgbClr val="464652"/>
                </a:solidFill>
                <a:latin typeface="Trebuchet MS"/>
                <a:cs typeface="Trebuchet MS"/>
              </a:rPr>
              <a:t> </a:t>
            </a:r>
            <a:r>
              <a:rPr sz="2300" spc="-130" dirty="0">
                <a:solidFill>
                  <a:srgbClr val="464652"/>
                </a:solidFill>
                <a:latin typeface="Trebuchet MS"/>
                <a:cs typeface="Trebuchet MS"/>
              </a:rPr>
              <a:t>position,</a:t>
            </a:r>
            <a:r>
              <a:rPr sz="2300" spc="-265" dirty="0">
                <a:solidFill>
                  <a:srgbClr val="464652"/>
                </a:solidFill>
                <a:latin typeface="Trebuchet MS"/>
                <a:cs typeface="Trebuchet MS"/>
              </a:rPr>
              <a:t> </a:t>
            </a:r>
            <a:r>
              <a:rPr sz="2300" spc="-125" dirty="0">
                <a:solidFill>
                  <a:srgbClr val="464652"/>
                </a:solidFill>
                <a:latin typeface="Trebuchet MS"/>
                <a:cs typeface="Trebuchet MS"/>
              </a:rPr>
              <a:t>z-</a:t>
            </a:r>
            <a:r>
              <a:rPr sz="2300" spc="-150" dirty="0">
                <a:solidFill>
                  <a:srgbClr val="464652"/>
                </a:solidFill>
                <a:latin typeface="Trebuchet MS"/>
                <a:cs typeface="Trebuchet MS"/>
              </a:rPr>
              <a:t>order,</a:t>
            </a:r>
            <a:r>
              <a:rPr sz="2300" spc="-260" dirty="0">
                <a:solidFill>
                  <a:srgbClr val="464652"/>
                </a:solidFill>
                <a:latin typeface="Trebuchet MS"/>
                <a:cs typeface="Trebuchet MS"/>
              </a:rPr>
              <a:t> </a:t>
            </a:r>
            <a:r>
              <a:rPr sz="2300" spc="-145" dirty="0">
                <a:solidFill>
                  <a:srgbClr val="464652"/>
                </a:solidFill>
                <a:latin typeface="Trebuchet MS"/>
                <a:cs typeface="Trebuchet MS"/>
              </a:rPr>
              <a:t>color,</a:t>
            </a:r>
            <a:r>
              <a:rPr sz="2300" spc="-240" dirty="0">
                <a:solidFill>
                  <a:srgbClr val="464652"/>
                </a:solidFill>
                <a:latin typeface="Trebuchet MS"/>
                <a:cs typeface="Trebuchet MS"/>
              </a:rPr>
              <a:t> </a:t>
            </a:r>
            <a:r>
              <a:rPr sz="2300" spc="-315" dirty="0">
                <a:solidFill>
                  <a:srgbClr val="464652"/>
                </a:solidFill>
                <a:latin typeface="Trebuchet MS"/>
                <a:cs typeface="Trebuchet MS"/>
              </a:rPr>
              <a:t>...)</a:t>
            </a:r>
            <a:endParaRPr sz="2300">
              <a:latin typeface="Trebuchet MS"/>
              <a:cs typeface="Trebuchet MS"/>
            </a:endParaRPr>
          </a:p>
          <a:p>
            <a:pPr marL="286385">
              <a:lnSpc>
                <a:spcPct val="100000"/>
              </a:lnSpc>
              <a:spcBef>
                <a:spcPts val="215"/>
              </a:spcBef>
              <a:tabLst>
                <a:tab pos="561340" algn="l"/>
              </a:tabLst>
            </a:pPr>
            <a:r>
              <a:rPr sz="1750" spc="-50" dirty="0">
                <a:solidFill>
                  <a:srgbClr val="9FB8CD"/>
                </a:solidFill>
                <a:latin typeface="Segoe UI Symbol"/>
                <a:cs typeface="Segoe UI Symbol"/>
              </a:rPr>
              <a:t>🞂</a:t>
            </a:r>
            <a:r>
              <a:rPr sz="1750" dirty="0">
                <a:solidFill>
                  <a:srgbClr val="9FB8CD"/>
                </a:solidFill>
                <a:latin typeface="Segoe UI Symbol"/>
                <a:cs typeface="Segoe UI Symbol"/>
              </a:rPr>
              <a:t>​	</a:t>
            </a:r>
            <a:r>
              <a:rPr sz="2300" spc="-55" dirty="0">
                <a:solidFill>
                  <a:srgbClr val="464652"/>
                </a:solidFill>
                <a:latin typeface="Trebuchet MS"/>
                <a:cs typeface="Trebuchet MS"/>
              </a:rPr>
              <a:t>Contents </a:t>
            </a:r>
            <a:r>
              <a:rPr sz="2300" spc="-155" dirty="0">
                <a:solidFill>
                  <a:srgbClr val="464652"/>
                </a:solidFill>
                <a:latin typeface="Trebuchet MS"/>
                <a:cs typeface="Trebuchet MS"/>
              </a:rPr>
              <a:t>(text,</a:t>
            </a:r>
            <a:r>
              <a:rPr sz="2300" spc="-295" dirty="0">
                <a:solidFill>
                  <a:srgbClr val="464652"/>
                </a:solidFill>
                <a:latin typeface="Trebuchet MS"/>
                <a:cs typeface="Trebuchet MS"/>
              </a:rPr>
              <a:t> </a:t>
            </a:r>
            <a:r>
              <a:rPr sz="2300" spc="-190" dirty="0">
                <a:solidFill>
                  <a:srgbClr val="464652"/>
                </a:solidFill>
                <a:latin typeface="Trebuchet MS"/>
                <a:cs typeface="Trebuchet MS"/>
              </a:rPr>
              <a:t>value,</a:t>
            </a:r>
            <a:r>
              <a:rPr sz="2300" spc="-285" dirty="0">
                <a:solidFill>
                  <a:srgbClr val="464652"/>
                </a:solidFill>
                <a:latin typeface="Trebuchet MS"/>
                <a:cs typeface="Trebuchet MS"/>
              </a:rPr>
              <a:t> </a:t>
            </a:r>
            <a:r>
              <a:rPr sz="2300" spc="-185" dirty="0">
                <a:solidFill>
                  <a:srgbClr val="464652"/>
                </a:solidFill>
                <a:latin typeface="Trebuchet MS"/>
                <a:cs typeface="Trebuchet MS"/>
              </a:rPr>
              <a:t>data</a:t>
            </a:r>
            <a:r>
              <a:rPr sz="2300" spc="-20" dirty="0">
                <a:solidFill>
                  <a:srgbClr val="464652"/>
                </a:solidFill>
                <a:latin typeface="Trebuchet MS"/>
                <a:cs typeface="Trebuchet MS"/>
              </a:rPr>
              <a:t> </a:t>
            </a:r>
            <a:r>
              <a:rPr sz="2300" spc="-155" dirty="0">
                <a:solidFill>
                  <a:srgbClr val="464652"/>
                </a:solidFill>
                <a:latin typeface="Trebuchet MS"/>
                <a:cs typeface="Trebuchet MS"/>
              </a:rPr>
              <a:t>sets,</a:t>
            </a:r>
            <a:r>
              <a:rPr sz="2300" spc="-285" dirty="0">
                <a:solidFill>
                  <a:srgbClr val="464652"/>
                </a:solidFill>
                <a:latin typeface="Trebuchet MS"/>
                <a:cs typeface="Trebuchet MS"/>
              </a:rPr>
              <a:t> </a:t>
            </a:r>
            <a:r>
              <a:rPr sz="2300" spc="-310" dirty="0">
                <a:solidFill>
                  <a:srgbClr val="464652"/>
                </a:solidFill>
                <a:latin typeface="Trebuchet MS"/>
                <a:cs typeface="Trebuchet MS"/>
              </a:rPr>
              <a:t>...)</a:t>
            </a:r>
            <a:endParaRPr sz="2300">
              <a:latin typeface="Trebuchet MS"/>
              <a:cs typeface="Trebuchet MS"/>
            </a:endParaRPr>
          </a:p>
          <a:p>
            <a:pPr marL="286385">
              <a:lnSpc>
                <a:spcPct val="100000"/>
              </a:lnSpc>
              <a:spcBef>
                <a:spcPts val="229"/>
              </a:spcBef>
              <a:tabLst>
                <a:tab pos="561340" algn="l"/>
              </a:tabLst>
            </a:pPr>
            <a:r>
              <a:rPr sz="1750" spc="-50" dirty="0">
                <a:solidFill>
                  <a:srgbClr val="9FB8CD"/>
                </a:solidFill>
                <a:latin typeface="Segoe UI Symbol"/>
                <a:cs typeface="Segoe UI Symbol"/>
              </a:rPr>
              <a:t>🞂</a:t>
            </a:r>
            <a:r>
              <a:rPr sz="1750" dirty="0">
                <a:solidFill>
                  <a:srgbClr val="9FB8CD"/>
                </a:solidFill>
                <a:latin typeface="Segoe UI Symbol"/>
                <a:cs typeface="Segoe UI Symbol"/>
              </a:rPr>
              <a:t>​	</a:t>
            </a:r>
            <a:r>
              <a:rPr sz="2300" spc="-125" dirty="0">
                <a:solidFill>
                  <a:srgbClr val="464652"/>
                </a:solidFill>
                <a:latin typeface="Trebuchet MS"/>
                <a:cs typeface="Trebuchet MS"/>
              </a:rPr>
              <a:t>Programming</a:t>
            </a:r>
            <a:r>
              <a:rPr sz="2300" spc="5" dirty="0">
                <a:solidFill>
                  <a:srgbClr val="464652"/>
                </a:solidFill>
                <a:latin typeface="Trebuchet MS"/>
                <a:cs typeface="Trebuchet MS"/>
              </a:rPr>
              <a:t> </a:t>
            </a:r>
            <a:r>
              <a:rPr sz="2300" spc="-150" dirty="0">
                <a:solidFill>
                  <a:srgbClr val="464652"/>
                </a:solidFill>
                <a:latin typeface="Trebuchet MS"/>
                <a:cs typeface="Trebuchet MS"/>
              </a:rPr>
              <a:t>(event</a:t>
            </a:r>
            <a:r>
              <a:rPr sz="2300" spc="-10" dirty="0">
                <a:solidFill>
                  <a:srgbClr val="464652"/>
                </a:solidFill>
                <a:latin typeface="Trebuchet MS"/>
                <a:cs typeface="Trebuchet MS"/>
              </a:rPr>
              <a:t> </a:t>
            </a:r>
            <a:r>
              <a:rPr sz="2300" spc="-150" dirty="0">
                <a:solidFill>
                  <a:srgbClr val="464652"/>
                </a:solidFill>
                <a:latin typeface="Trebuchet MS"/>
                <a:cs typeface="Trebuchet MS"/>
              </a:rPr>
              <a:t>handlers,</a:t>
            </a:r>
            <a:r>
              <a:rPr sz="2300" spc="-265" dirty="0">
                <a:solidFill>
                  <a:srgbClr val="464652"/>
                </a:solidFill>
                <a:latin typeface="Trebuchet MS"/>
                <a:cs typeface="Trebuchet MS"/>
              </a:rPr>
              <a:t> </a:t>
            </a:r>
            <a:r>
              <a:rPr sz="2300" spc="-10" dirty="0">
                <a:solidFill>
                  <a:srgbClr val="464652"/>
                </a:solidFill>
                <a:latin typeface="Trebuchet MS"/>
                <a:cs typeface="Trebuchet MS"/>
              </a:rPr>
              <a:t>controller)</a:t>
            </a:r>
            <a:endParaRPr sz="23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75"/>
              </a:spcBef>
              <a:tabLst>
                <a:tab pos="286385" algn="l"/>
              </a:tabLst>
            </a:pPr>
            <a:r>
              <a:rPr sz="1950" spc="-50" dirty="0">
                <a:solidFill>
                  <a:srgbClr val="717BA2"/>
                </a:solidFill>
                <a:latin typeface="Segoe UI Symbol"/>
                <a:cs typeface="Segoe UI Symbol"/>
              </a:rPr>
              <a:t>🞂</a:t>
            </a:r>
            <a:r>
              <a:rPr sz="1950" dirty="0">
                <a:solidFill>
                  <a:srgbClr val="717BA2"/>
                </a:solidFill>
                <a:latin typeface="Segoe UI Symbol"/>
                <a:cs typeface="Segoe UI Symbol"/>
              </a:rPr>
              <a:t>​	</a:t>
            </a:r>
            <a:r>
              <a:rPr sz="2600" dirty="0">
                <a:latin typeface="Trebuchet MS"/>
                <a:cs typeface="Trebuchet MS"/>
              </a:rPr>
              <a:t>Nodes</a:t>
            </a:r>
            <a:r>
              <a:rPr sz="2600" spc="10" dirty="0">
                <a:latin typeface="Trebuchet MS"/>
                <a:cs typeface="Trebuchet MS"/>
              </a:rPr>
              <a:t> </a:t>
            </a:r>
            <a:r>
              <a:rPr sz="2600" spc="-170" dirty="0">
                <a:latin typeface="Trebuchet MS"/>
                <a:cs typeface="Trebuchet MS"/>
              </a:rPr>
              <a:t>generate</a:t>
            </a:r>
            <a:r>
              <a:rPr sz="2600" spc="-10" dirty="0">
                <a:latin typeface="Trebuchet MS"/>
                <a:cs typeface="Trebuchet MS"/>
              </a:rPr>
              <a:t> Events</a:t>
            </a:r>
            <a:endParaRPr sz="2600">
              <a:latin typeface="Trebuchet MS"/>
              <a:cs typeface="Trebuchet MS"/>
            </a:endParaRPr>
          </a:p>
          <a:p>
            <a:pPr marL="286385">
              <a:lnSpc>
                <a:spcPct val="100000"/>
              </a:lnSpc>
              <a:spcBef>
                <a:spcPts val="245"/>
              </a:spcBef>
              <a:tabLst>
                <a:tab pos="561340" algn="l"/>
              </a:tabLst>
            </a:pPr>
            <a:r>
              <a:rPr sz="1750" spc="-50" dirty="0">
                <a:solidFill>
                  <a:srgbClr val="9FB8CD"/>
                </a:solidFill>
                <a:latin typeface="Segoe UI Symbol"/>
                <a:cs typeface="Segoe UI Symbol"/>
              </a:rPr>
              <a:t>🞂</a:t>
            </a:r>
            <a:r>
              <a:rPr sz="1750" dirty="0">
                <a:solidFill>
                  <a:srgbClr val="9FB8CD"/>
                </a:solidFill>
                <a:latin typeface="Segoe UI Symbol"/>
                <a:cs typeface="Segoe UI Symbol"/>
              </a:rPr>
              <a:t>​	</a:t>
            </a:r>
            <a:r>
              <a:rPr sz="2300" dirty="0">
                <a:solidFill>
                  <a:srgbClr val="464652"/>
                </a:solidFill>
                <a:latin typeface="Trebuchet MS"/>
                <a:cs typeface="Trebuchet MS"/>
              </a:rPr>
              <a:t>UI</a:t>
            </a:r>
            <a:r>
              <a:rPr sz="2300" spc="-10" dirty="0">
                <a:solidFill>
                  <a:srgbClr val="464652"/>
                </a:solidFill>
                <a:latin typeface="Trebuchet MS"/>
                <a:cs typeface="Trebuchet MS"/>
              </a:rPr>
              <a:t> events</a:t>
            </a:r>
            <a:endParaRPr sz="23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75"/>
              </a:spcBef>
              <a:tabLst>
                <a:tab pos="286385" algn="l"/>
              </a:tabLst>
            </a:pPr>
            <a:r>
              <a:rPr sz="1950" spc="-50" dirty="0">
                <a:solidFill>
                  <a:srgbClr val="717BA2"/>
                </a:solidFill>
                <a:latin typeface="Segoe UI Symbol"/>
                <a:cs typeface="Segoe UI Symbol"/>
              </a:rPr>
              <a:t>🞂</a:t>
            </a:r>
            <a:r>
              <a:rPr sz="1950" dirty="0">
                <a:solidFill>
                  <a:srgbClr val="717BA2"/>
                </a:solidFill>
                <a:latin typeface="Segoe UI Symbol"/>
                <a:cs typeface="Segoe UI Symbol"/>
              </a:rPr>
              <a:t>​	</a:t>
            </a:r>
            <a:r>
              <a:rPr sz="2600" dirty="0">
                <a:latin typeface="Trebuchet MS"/>
                <a:cs typeface="Trebuchet MS"/>
              </a:rPr>
              <a:t>Nodes</a:t>
            </a:r>
            <a:r>
              <a:rPr sz="2600" spc="-40" dirty="0">
                <a:latin typeface="Trebuchet MS"/>
                <a:cs typeface="Trebuchet MS"/>
              </a:rPr>
              <a:t> </a:t>
            </a:r>
            <a:r>
              <a:rPr sz="2600" spc="-185" dirty="0">
                <a:latin typeface="Trebuchet MS"/>
                <a:cs typeface="Trebuchet MS"/>
              </a:rPr>
              <a:t>can</a:t>
            </a:r>
            <a:r>
              <a:rPr sz="2600" spc="-50" dirty="0">
                <a:latin typeface="Trebuchet MS"/>
                <a:cs typeface="Trebuchet MS"/>
              </a:rPr>
              <a:t> </a:t>
            </a:r>
            <a:r>
              <a:rPr sz="2600" spc="-160" dirty="0">
                <a:latin typeface="Trebuchet MS"/>
                <a:cs typeface="Trebuchet MS"/>
              </a:rPr>
              <a:t>be</a:t>
            </a:r>
            <a:r>
              <a:rPr sz="2600" spc="-35" dirty="0">
                <a:latin typeface="Trebuchet MS"/>
                <a:cs typeface="Trebuchet MS"/>
              </a:rPr>
              <a:t> </a:t>
            </a:r>
            <a:r>
              <a:rPr sz="2600" spc="-145" dirty="0">
                <a:latin typeface="Trebuchet MS"/>
                <a:cs typeface="Trebuchet MS"/>
              </a:rPr>
              <a:t>styled</a:t>
            </a:r>
            <a:r>
              <a:rPr sz="2600" spc="-35" dirty="0">
                <a:latin typeface="Trebuchet MS"/>
                <a:cs typeface="Trebuchet MS"/>
              </a:rPr>
              <a:t> </a:t>
            </a:r>
            <a:r>
              <a:rPr sz="2600" spc="-125" dirty="0">
                <a:latin typeface="Trebuchet MS"/>
                <a:cs typeface="Trebuchet MS"/>
              </a:rPr>
              <a:t>with</a:t>
            </a:r>
            <a:r>
              <a:rPr sz="2600" spc="-35" dirty="0">
                <a:latin typeface="Trebuchet MS"/>
                <a:cs typeface="Trebuchet MS"/>
              </a:rPr>
              <a:t> </a:t>
            </a:r>
            <a:r>
              <a:rPr sz="2600" spc="25" dirty="0">
                <a:latin typeface="Trebuchet MS"/>
                <a:cs typeface="Trebuchet MS"/>
              </a:rPr>
              <a:t>CSS</a:t>
            </a:r>
            <a:endParaRPr sz="26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4151" y="6432803"/>
            <a:ext cx="120650" cy="190500"/>
          </a:xfrm>
          <a:custGeom>
            <a:avLst/>
            <a:gdLst/>
            <a:ahLst/>
            <a:cxnLst/>
            <a:rect l="l" t="t" r="r" b="b"/>
            <a:pathLst>
              <a:path w="120650" h="190500">
                <a:moveTo>
                  <a:pt x="0" y="0"/>
                </a:moveTo>
                <a:lnTo>
                  <a:pt x="0" y="190500"/>
                </a:lnTo>
                <a:lnTo>
                  <a:pt x="120396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9FB8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210" dirty="0"/>
              <a:t>Panes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6551" y="1219200"/>
            <a:ext cx="7930896" cy="493776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867402" y="179323"/>
            <a:ext cx="33159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u="sng" spc="-110" dirty="0">
                <a:solidFill>
                  <a:srgbClr val="6B5580"/>
                </a:solidFill>
                <a:uFill>
                  <a:solidFill>
                    <a:srgbClr val="6B5580"/>
                  </a:solidFill>
                </a:uFill>
                <a:latin typeface="Trebuchet MS"/>
                <a:cs typeface="Trebuchet MS"/>
                <a:hlinkClick r:id="rId3"/>
              </a:rPr>
              <a:t>http://falkhausen.de/JavaFX-</a:t>
            </a:r>
            <a:r>
              <a:rPr sz="1200" u="sng" spc="-90" dirty="0">
                <a:solidFill>
                  <a:srgbClr val="6B5580"/>
                </a:solidFill>
                <a:uFill>
                  <a:solidFill>
                    <a:srgbClr val="6B5580"/>
                  </a:solidFill>
                </a:uFill>
                <a:latin typeface="Trebuchet MS"/>
                <a:cs typeface="Trebuchet MS"/>
                <a:hlinkClick r:id="rId3"/>
              </a:rPr>
              <a:t>10/scene.layout/Pane.html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xfrm>
            <a:off x="4229227" y="6395259"/>
            <a:ext cx="2094864" cy="21608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it-IT" spc="-95" dirty="0" err="1"/>
              <a:t>JavaFX</a:t>
            </a:r>
            <a:endParaRPr spc="-6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4151" y="6432803"/>
            <a:ext cx="120650" cy="190500"/>
          </a:xfrm>
          <a:custGeom>
            <a:avLst/>
            <a:gdLst/>
            <a:ahLst/>
            <a:cxnLst/>
            <a:rect l="l" t="t" r="r" b="b"/>
            <a:pathLst>
              <a:path w="120650" h="190500">
                <a:moveTo>
                  <a:pt x="0" y="0"/>
                </a:moveTo>
                <a:lnTo>
                  <a:pt x="0" y="190500"/>
                </a:lnTo>
                <a:lnTo>
                  <a:pt x="120396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9FB8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80" dirty="0"/>
              <a:t>Controls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14855" y="1219200"/>
            <a:ext cx="6114288" cy="493776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867402" y="179323"/>
            <a:ext cx="33381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u="sng" spc="-110" dirty="0">
                <a:solidFill>
                  <a:srgbClr val="B192C9"/>
                </a:solidFill>
                <a:uFill>
                  <a:solidFill>
                    <a:srgbClr val="B192C9"/>
                  </a:solidFill>
                </a:uFill>
                <a:latin typeface="Trebuchet MS"/>
                <a:cs typeface="Trebuchet MS"/>
                <a:hlinkClick r:id="rId3"/>
              </a:rPr>
              <a:t>http://falkhausen.de/JavaFX-</a:t>
            </a:r>
            <a:r>
              <a:rPr sz="1200" u="sng" spc="-65" dirty="0">
                <a:solidFill>
                  <a:srgbClr val="B192C9"/>
                </a:solidFill>
                <a:uFill>
                  <a:solidFill>
                    <a:srgbClr val="B192C9"/>
                  </a:solidFill>
                </a:uFill>
                <a:latin typeface="Trebuchet MS"/>
                <a:cs typeface="Trebuchet MS"/>
                <a:hlinkClick r:id="rId3"/>
              </a:rPr>
              <a:t>10/scene.control/Control-</a:t>
            </a:r>
            <a:r>
              <a:rPr sz="1200" u="sng" spc="-10" dirty="0">
                <a:solidFill>
                  <a:srgbClr val="B192C9"/>
                </a:solidFill>
                <a:uFill>
                  <a:solidFill>
                    <a:srgbClr val="B192C9"/>
                  </a:solidFill>
                </a:uFill>
                <a:latin typeface="Trebuchet MS"/>
                <a:cs typeface="Trebuchet MS"/>
                <a:hlinkClick r:id="rId3"/>
              </a:rPr>
              <a:t>Hierarchy.html</a:t>
            </a:r>
            <a:endParaRPr sz="1200" dirty="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xfrm>
            <a:off x="4229227" y="6395259"/>
            <a:ext cx="2094864" cy="21608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it-IT" spc="-95" dirty="0" err="1"/>
              <a:t>JavaFX</a:t>
            </a:r>
            <a:endParaRPr spc="-6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4151" y="6432803"/>
            <a:ext cx="120650" cy="190500"/>
          </a:xfrm>
          <a:custGeom>
            <a:avLst/>
            <a:gdLst/>
            <a:ahLst/>
            <a:cxnLst/>
            <a:rect l="l" t="t" r="r" b="b"/>
            <a:pathLst>
              <a:path w="120650" h="190500">
                <a:moveTo>
                  <a:pt x="0" y="0"/>
                </a:moveTo>
                <a:lnTo>
                  <a:pt x="0" y="190500"/>
                </a:lnTo>
                <a:lnTo>
                  <a:pt x="120396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9FB8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35940" y="577341"/>
            <a:ext cx="7007860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380" dirty="0"/>
              <a:t>JavaFX</a:t>
            </a:r>
            <a:r>
              <a:rPr spc="325" dirty="0"/>
              <a:t> </a:t>
            </a:r>
            <a:r>
              <a:rPr spc="245" dirty="0"/>
              <a:t>Scene</a:t>
            </a:r>
            <a:r>
              <a:rPr spc="310" dirty="0"/>
              <a:t> </a:t>
            </a:r>
            <a:r>
              <a:rPr spc="190" dirty="0"/>
              <a:t>Builder</a:t>
            </a:r>
            <a:r>
              <a:rPr spc="315" dirty="0"/>
              <a:t> </a:t>
            </a:r>
            <a:r>
              <a:rPr lang="it-IT" spc="165" dirty="0"/>
              <a:t>2.0 Oracle</a:t>
            </a:r>
            <a:endParaRPr spc="165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xfrm>
            <a:off x="4229227" y="6395259"/>
            <a:ext cx="2094864" cy="21608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it-IT" spc="-95" dirty="0" err="1"/>
              <a:t>JavaFX</a:t>
            </a:r>
            <a:endParaRPr spc="-65" dirty="0"/>
          </a:p>
        </p:txBody>
      </p:sp>
      <p:pic>
        <p:nvPicPr>
          <p:cNvPr id="11" name="Immagine 10" descr="Immagine che contiene testo, schermata, software, Icona del computer&#10;&#10;Il contenuto generato dall'IA potrebbe non essere corretto.">
            <a:extLst>
              <a:ext uri="{FF2B5EF4-FFF2-40B4-BE49-F238E27FC236}">
                <a16:creationId xmlns:a16="http://schemas.microsoft.com/office/drawing/2014/main" id="{2AE1F622-6B50-C1FF-016F-09DAD42605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2043" y="1122060"/>
            <a:ext cx="6530357" cy="51195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4151" y="6432803"/>
            <a:ext cx="120396" cy="190499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204" dirty="0"/>
              <a:t>Building</a:t>
            </a:r>
            <a:r>
              <a:rPr spc="305" dirty="0"/>
              <a:t> </a:t>
            </a:r>
            <a:r>
              <a:rPr spc="280" dirty="0"/>
              <a:t>a</a:t>
            </a:r>
            <a:r>
              <a:rPr spc="325" dirty="0"/>
              <a:t> </a:t>
            </a:r>
            <a:r>
              <a:rPr spc="210" dirty="0"/>
              <a:t>scene</a:t>
            </a:r>
            <a:r>
              <a:rPr spc="305" dirty="0"/>
              <a:t> </a:t>
            </a:r>
            <a:r>
              <a:rPr spc="135" dirty="0"/>
              <a:t>from</a:t>
            </a:r>
            <a:r>
              <a:rPr spc="325" dirty="0"/>
              <a:t> </a:t>
            </a:r>
            <a:r>
              <a:rPr spc="305" dirty="0"/>
              <a:t>FXML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xfrm>
            <a:off x="4229227" y="6395259"/>
            <a:ext cx="2094864" cy="21608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it-IT" spc="-95" dirty="0" err="1"/>
              <a:t>JavaFX</a:t>
            </a:r>
            <a:endParaRPr spc="-65" dirty="0"/>
          </a:p>
        </p:txBody>
      </p:sp>
      <p:sp>
        <p:nvSpPr>
          <p:cNvPr id="4" name="object 4"/>
          <p:cNvSpPr txBox="1"/>
          <p:nvPr/>
        </p:nvSpPr>
        <p:spPr>
          <a:xfrm>
            <a:off x="834339" y="1879219"/>
            <a:ext cx="7045325" cy="2220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onsolas"/>
                <a:cs typeface="Consolas"/>
              </a:rPr>
              <a:t>public</a:t>
            </a:r>
            <a:r>
              <a:rPr sz="1800" b="1" spc="-40" dirty="0">
                <a:latin typeface="Consolas"/>
                <a:cs typeface="Consolas"/>
              </a:rPr>
              <a:t> </a:t>
            </a:r>
            <a:r>
              <a:rPr sz="1800" b="1" dirty="0">
                <a:latin typeface="Consolas"/>
                <a:cs typeface="Consolas"/>
              </a:rPr>
              <a:t>void</a:t>
            </a:r>
            <a:r>
              <a:rPr sz="1800" b="1" spc="-25" dirty="0">
                <a:latin typeface="Consolas"/>
                <a:cs typeface="Consolas"/>
              </a:rPr>
              <a:t> </a:t>
            </a:r>
            <a:r>
              <a:rPr sz="1800" b="1" dirty="0">
                <a:latin typeface="Consolas"/>
                <a:cs typeface="Consolas"/>
              </a:rPr>
              <a:t>start(Stage</a:t>
            </a:r>
            <a:r>
              <a:rPr sz="1800" b="1" spc="-30" dirty="0">
                <a:latin typeface="Consolas"/>
                <a:cs typeface="Consolas"/>
              </a:rPr>
              <a:t> </a:t>
            </a:r>
            <a:r>
              <a:rPr sz="1800" b="1" dirty="0">
                <a:latin typeface="Consolas"/>
                <a:cs typeface="Consolas"/>
              </a:rPr>
              <a:t>stage)</a:t>
            </a:r>
            <a:r>
              <a:rPr sz="1800" b="1" spc="-35" dirty="0">
                <a:latin typeface="Consolas"/>
                <a:cs typeface="Consolas"/>
              </a:rPr>
              <a:t> </a:t>
            </a:r>
            <a:r>
              <a:rPr sz="1800" b="1" dirty="0">
                <a:latin typeface="Consolas"/>
                <a:cs typeface="Consolas"/>
              </a:rPr>
              <a:t>throws</a:t>
            </a:r>
            <a:r>
              <a:rPr sz="1800" b="1" spc="-40" dirty="0">
                <a:latin typeface="Consolas"/>
                <a:cs typeface="Consolas"/>
              </a:rPr>
              <a:t> </a:t>
            </a:r>
            <a:r>
              <a:rPr sz="1800" b="1" dirty="0">
                <a:latin typeface="Consolas"/>
                <a:cs typeface="Consolas"/>
              </a:rPr>
              <a:t>Exception</a:t>
            </a:r>
            <a:r>
              <a:rPr sz="1800" b="1" spc="-25" dirty="0">
                <a:latin typeface="Consolas"/>
                <a:cs typeface="Consolas"/>
              </a:rPr>
              <a:t> </a:t>
            </a:r>
            <a:r>
              <a:rPr sz="1800" b="1" spc="-50" dirty="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1517015" marR="5080" indent="-501650">
              <a:lnSpc>
                <a:spcPct val="100000"/>
              </a:lnSpc>
            </a:pPr>
            <a:r>
              <a:rPr sz="1800" dirty="0">
                <a:solidFill>
                  <a:srgbClr val="FF0000"/>
                </a:solidFill>
                <a:latin typeface="Consolas"/>
                <a:cs typeface="Consolas"/>
              </a:rPr>
              <a:t>Parent</a:t>
            </a:r>
            <a:r>
              <a:rPr sz="1800" spc="-25" dirty="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FF0000"/>
                </a:solidFill>
                <a:latin typeface="Consolas"/>
                <a:cs typeface="Consolas"/>
              </a:rPr>
              <a:t>root</a:t>
            </a:r>
            <a:r>
              <a:rPr sz="1800" spc="-15" dirty="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FF0000"/>
                </a:solidFill>
                <a:latin typeface="Consolas"/>
                <a:cs typeface="Consolas"/>
              </a:rPr>
              <a:t>=</a:t>
            </a:r>
            <a:r>
              <a:rPr sz="1800" spc="-20" dirty="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onsolas"/>
                <a:cs typeface="Consolas"/>
              </a:rPr>
              <a:t>FXMLLoader.load( getClass().getResource("/fxml/Scene.fxml"));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800">
              <a:latin typeface="Consolas"/>
              <a:cs typeface="Consolas"/>
            </a:endParaRPr>
          </a:p>
          <a:p>
            <a:pPr marL="1015365" marR="2011045">
              <a:lnSpc>
                <a:spcPct val="100000"/>
              </a:lnSpc>
            </a:pPr>
            <a:r>
              <a:rPr sz="1800" dirty="0">
                <a:latin typeface="Consolas"/>
                <a:cs typeface="Consolas"/>
              </a:rPr>
              <a:t>stage.setTitle("Circle</a:t>
            </a:r>
            <a:r>
              <a:rPr sz="1800" spc="-105" dirty="0">
                <a:latin typeface="Consolas"/>
                <a:cs typeface="Consolas"/>
              </a:rPr>
              <a:t> </a:t>
            </a:r>
            <a:r>
              <a:rPr sz="1800" spc="-10" dirty="0">
                <a:latin typeface="Consolas"/>
                <a:cs typeface="Consolas"/>
              </a:rPr>
              <a:t>Demo"); </a:t>
            </a:r>
            <a:r>
              <a:rPr sz="1800" dirty="0">
                <a:latin typeface="Consolas"/>
                <a:cs typeface="Consolas"/>
              </a:rPr>
              <a:t>stage.setScene(</a:t>
            </a:r>
            <a:r>
              <a:rPr sz="1800" b="1" dirty="0">
                <a:latin typeface="Consolas"/>
                <a:cs typeface="Consolas"/>
              </a:rPr>
              <a:t>new</a:t>
            </a:r>
            <a:r>
              <a:rPr sz="1800" b="1" spc="-120" dirty="0">
                <a:latin typeface="Consolas"/>
                <a:cs typeface="Consolas"/>
              </a:rPr>
              <a:t> </a:t>
            </a:r>
            <a:r>
              <a:rPr sz="1800" b="1" spc="-10" dirty="0">
                <a:latin typeface="Consolas"/>
                <a:cs typeface="Consolas"/>
              </a:rPr>
              <a:t>Scene(</a:t>
            </a:r>
            <a:r>
              <a:rPr sz="1800" b="1" spc="-10" dirty="0">
                <a:solidFill>
                  <a:srgbClr val="FF0000"/>
                </a:solidFill>
                <a:latin typeface="Consolas"/>
                <a:cs typeface="Consolas"/>
              </a:rPr>
              <a:t>root</a:t>
            </a:r>
            <a:r>
              <a:rPr sz="1800" b="1" spc="-10" dirty="0">
                <a:latin typeface="Consolas"/>
                <a:cs typeface="Consolas"/>
              </a:rPr>
              <a:t>)); </a:t>
            </a:r>
            <a:r>
              <a:rPr sz="1800" spc="-10" dirty="0">
                <a:latin typeface="Consolas"/>
                <a:cs typeface="Consolas"/>
              </a:rPr>
              <a:t>stage.show();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spc="-50" dirty="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4151" y="6432803"/>
            <a:ext cx="120650" cy="190500"/>
          </a:xfrm>
          <a:custGeom>
            <a:avLst/>
            <a:gdLst/>
            <a:ahLst/>
            <a:cxnLst/>
            <a:rect l="l" t="t" r="r" b="b"/>
            <a:pathLst>
              <a:path w="120650" h="190500">
                <a:moveTo>
                  <a:pt x="0" y="0"/>
                </a:moveTo>
                <a:lnTo>
                  <a:pt x="0" y="190500"/>
                </a:lnTo>
                <a:lnTo>
                  <a:pt x="120396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9FB8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50" dirty="0"/>
              <a:t>Key</a:t>
            </a:r>
            <a:r>
              <a:rPr spc="315" dirty="0"/>
              <a:t> </a:t>
            </a:r>
            <a:r>
              <a:rPr spc="190" dirty="0"/>
              <a:t>concepts</a:t>
            </a:r>
            <a:r>
              <a:rPr spc="300" dirty="0"/>
              <a:t> </a:t>
            </a:r>
            <a:r>
              <a:rPr spc="180" dirty="0"/>
              <a:t>in</a:t>
            </a:r>
            <a:r>
              <a:rPr spc="335" dirty="0"/>
              <a:t> </a:t>
            </a:r>
            <a:r>
              <a:rPr spc="370" dirty="0"/>
              <a:t>JavaFX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xfrm>
            <a:off x="4229227" y="6395259"/>
            <a:ext cx="2094864" cy="21608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it-IT" spc="-95" dirty="0" err="1"/>
              <a:t>JavaFX</a:t>
            </a:r>
            <a:endParaRPr spc="-65" dirty="0"/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86995" algn="r">
              <a:lnSpc>
                <a:spcPct val="100000"/>
              </a:lnSpc>
              <a:spcBef>
                <a:spcPts val="105"/>
              </a:spcBef>
              <a:tabLst>
                <a:tab pos="273685" algn="l"/>
              </a:tabLst>
            </a:pPr>
            <a:r>
              <a:rPr sz="1950" spc="-50" dirty="0">
                <a:solidFill>
                  <a:srgbClr val="717BA2"/>
                </a:solidFill>
                <a:latin typeface="Segoe UI Symbol"/>
                <a:cs typeface="Segoe UI Symbol"/>
              </a:rPr>
              <a:t>🞂</a:t>
            </a:r>
            <a:r>
              <a:rPr sz="1950" dirty="0">
                <a:solidFill>
                  <a:srgbClr val="717BA2"/>
                </a:solidFill>
                <a:latin typeface="Segoe UI Symbol"/>
                <a:cs typeface="Segoe UI Symbol"/>
              </a:rPr>
              <a:t>​	</a:t>
            </a:r>
            <a:r>
              <a:rPr b="1" spc="-30" dirty="0">
                <a:latin typeface="Trebuchet MS"/>
                <a:cs typeface="Trebuchet MS"/>
              </a:rPr>
              <a:t>Property</a:t>
            </a:r>
            <a:r>
              <a:rPr spc="-30" dirty="0"/>
              <a:t>:</a:t>
            </a:r>
            <a:r>
              <a:rPr spc="-325" dirty="0"/>
              <a:t> </a:t>
            </a:r>
            <a:r>
              <a:rPr spc="-155" dirty="0"/>
              <a:t>attributes</a:t>
            </a:r>
            <a:r>
              <a:rPr spc="-50" dirty="0"/>
              <a:t> </a:t>
            </a:r>
            <a:r>
              <a:rPr spc="-145" dirty="0"/>
              <a:t>of</a:t>
            </a:r>
            <a:r>
              <a:rPr spc="-15" dirty="0"/>
              <a:t> </a:t>
            </a:r>
            <a:r>
              <a:rPr spc="-155" dirty="0"/>
              <a:t>the</a:t>
            </a:r>
            <a:r>
              <a:rPr spc="-30" dirty="0"/>
              <a:t> </a:t>
            </a:r>
            <a:r>
              <a:rPr spc="-65" dirty="0"/>
              <a:t>Nodes,</a:t>
            </a:r>
            <a:r>
              <a:rPr spc="-295" dirty="0"/>
              <a:t> </a:t>
            </a:r>
            <a:r>
              <a:rPr spc="-240" dirty="0"/>
              <a:t>may</a:t>
            </a:r>
            <a:r>
              <a:rPr spc="-15" dirty="0"/>
              <a:t> </a:t>
            </a:r>
            <a:r>
              <a:rPr spc="-175" dirty="0"/>
              <a:t>specify</a:t>
            </a:r>
            <a:r>
              <a:rPr spc="-20" dirty="0"/>
              <a:t> </a:t>
            </a:r>
            <a:r>
              <a:rPr spc="-110" dirty="0"/>
              <a:t>content,</a:t>
            </a:r>
            <a:endParaRPr sz="1950">
              <a:latin typeface="Trebuchet MS"/>
              <a:cs typeface="Trebuchet MS"/>
            </a:endParaRPr>
          </a:p>
          <a:p>
            <a:pPr marR="5080" algn="r">
              <a:lnSpc>
                <a:spcPct val="100000"/>
              </a:lnSpc>
            </a:pPr>
            <a:r>
              <a:rPr spc="-185" dirty="0"/>
              <a:t>size,</a:t>
            </a:r>
            <a:r>
              <a:rPr spc="-295" dirty="0"/>
              <a:t> </a:t>
            </a:r>
            <a:r>
              <a:rPr spc="-160" dirty="0"/>
              <a:t>color,</a:t>
            </a:r>
            <a:r>
              <a:rPr spc="-310" dirty="0"/>
              <a:t> </a:t>
            </a:r>
            <a:r>
              <a:rPr spc="685" dirty="0"/>
              <a:t>…</a:t>
            </a:r>
            <a:r>
              <a:rPr spc="-45" dirty="0"/>
              <a:t> </a:t>
            </a:r>
            <a:r>
              <a:rPr dirty="0"/>
              <a:t>Can</a:t>
            </a:r>
            <a:r>
              <a:rPr spc="-75" dirty="0"/>
              <a:t> </a:t>
            </a:r>
            <a:r>
              <a:rPr spc="-160" dirty="0"/>
              <a:t>be</a:t>
            </a:r>
            <a:r>
              <a:rPr spc="-45" dirty="0"/>
              <a:t> </a:t>
            </a:r>
            <a:r>
              <a:rPr spc="-150" dirty="0"/>
              <a:t>read</a:t>
            </a:r>
            <a:r>
              <a:rPr spc="-55" dirty="0"/>
              <a:t> </a:t>
            </a:r>
            <a:r>
              <a:rPr spc="-180" dirty="0"/>
              <a:t>and</a:t>
            </a:r>
            <a:r>
              <a:rPr spc="-65" dirty="0"/>
              <a:t> </a:t>
            </a:r>
            <a:r>
              <a:rPr spc="-130" dirty="0"/>
              <a:t>written</a:t>
            </a:r>
            <a:r>
              <a:rPr spc="-60" dirty="0"/>
              <a:t> </a:t>
            </a:r>
            <a:r>
              <a:rPr spc="-175" dirty="0"/>
              <a:t>by</a:t>
            </a:r>
            <a:r>
              <a:rPr spc="-45" dirty="0"/>
              <a:t> </a:t>
            </a:r>
            <a:r>
              <a:rPr spc="-160" dirty="0"/>
              <a:t>the</a:t>
            </a:r>
            <a:r>
              <a:rPr spc="-65" dirty="0"/>
              <a:t> application</a:t>
            </a:r>
          </a:p>
          <a:p>
            <a:pPr marL="286385" marR="331470" indent="-274320">
              <a:lnSpc>
                <a:spcPct val="100000"/>
              </a:lnSpc>
              <a:spcBef>
                <a:spcPts val="600"/>
              </a:spcBef>
              <a:tabLst>
                <a:tab pos="286385" algn="l"/>
              </a:tabLst>
            </a:pPr>
            <a:r>
              <a:rPr sz="1950" spc="-50" dirty="0">
                <a:solidFill>
                  <a:srgbClr val="717BA2"/>
                </a:solidFill>
                <a:latin typeface="Segoe UI Symbol"/>
                <a:cs typeface="Segoe UI Symbol"/>
              </a:rPr>
              <a:t>🞂</a:t>
            </a:r>
            <a:r>
              <a:rPr sz="1950" dirty="0">
                <a:solidFill>
                  <a:srgbClr val="717BA2"/>
                </a:solidFill>
                <a:latin typeface="Segoe UI Symbol"/>
                <a:cs typeface="Segoe UI Symbol"/>
              </a:rPr>
              <a:t>​	</a:t>
            </a:r>
            <a:r>
              <a:rPr b="1" spc="-70" dirty="0">
                <a:latin typeface="Trebuchet MS"/>
                <a:cs typeface="Trebuchet MS"/>
              </a:rPr>
              <a:t>Event</a:t>
            </a:r>
            <a:r>
              <a:rPr spc="-70" dirty="0"/>
              <a:t>:</a:t>
            </a:r>
            <a:r>
              <a:rPr spc="-350" dirty="0"/>
              <a:t> </a:t>
            </a:r>
            <a:r>
              <a:rPr spc="-135" dirty="0"/>
              <a:t>every</a:t>
            </a:r>
            <a:r>
              <a:rPr spc="-75" dirty="0"/>
              <a:t> </a:t>
            </a:r>
            <a:r>
              <a:rPr spc="-70" dirty="0"/>
              <a:t>user</a:t>
            </a:r>
            <a:r>
              <a:rPr spc="-95" dirty="0"/>
              <a:t> </a:t>
            </a:r>
            <a:r>
              <a:rPr spc="-150" dirty="0"/>
              <a:t>action</a:t>
            </a:r>
            <a:r>
              <a:rPr spc="-65" dirty="0"/>
              <a:t> </a:t>
            </a:r>
            <a:r>
              <a:rPr dirty="0"/>
              <a:t>on</a:t>
            </a:r>
            <a:r>
              <a:rPr spc="-75" dirty="0"/>
              <a:t> </a:t>
            </a:r>
            <a:r>
              <a:rPr spc="-80" dirty="0"/>
              <a:t>one</a:t>
            </a:r>
            <a:r>
              <a:rPr spc="-65" dirty="0"/>
              <a:t> </a:t>
            </a:r>
            <a:r>
              <a:rPr spc="-170" dirty="0"/>
              <a:t>element</a:t>
            </a:r>
            <a:r>
              <a:rPr spc="-60" dirty="0"/>
              <a:t> </a:t>
            </a:r>
            <a:r>
              <a:rPr spc="-145" dirty="0"/>
              <a:t>of</a:t>
            </a:r>
            <a:r>
              <a:rPr spc="-60" dirty="0"/>
              <a:t> </a:t>
            </a:r>
            <a:r>
              <a:rPr spc="-160" dirty="0"/>
              <a:t>the</a:t>
            </a:r>
            <a:r>
              <a:rPr spc="-60" dirty="0"/>
              <a:t> </a:t>
            </a:r>
            <a:r>
              <a:rPr spc="40" dirty="0"/>
              <a:t>GUI </a:t>
            </a:r>
            <a:r>
              <a:rPr spc="-150" dirty="0"/>
              <a:t>generates</a:t>
            </a:r>
            <a:r>
              <a:rPr spc="-50" dirty="0"/>
              <a:t> </a:t>
            </a:r>
            <a:r>
              <a:rPr spc="-260" dirty="0"/>
              <a:t>a</a:t>
            </a:r>
            <a:r>
              <a:rPr spc="-25" dirty="0"/>
              <a:t> </a:t>
            </a:r>
            <a:r>
              <a:rPr spc="-190" dirty="0"/>
              <a:t>different</a:t>
            </a:r>
            <a:r>
              <a:rPr spc="-30" dirty="0"/>
              <a:t> </a:t>
            </a:r>
            <a:r>
              <a:rPr i="1" spc="-310" dirty="0">
                <a:latin typeface="Trebuchet MS"/>
                <a:cs typeface="Trebuchet MS"/>
              </a:rPr>
              <a:t>event</a:t>
            </a:r>
            <a:r>
              <a:rPr spc="-310" dirty="0"/>
              <a:t>.</a:t>
            </a:r>
            <a:r>
              <a:rPr spc="-295" dirty="0"/>
              <a:t> </a:t>
            </a:r>
            <a:r>
              <a:rPr spc="-145" dirty="0"/>
              <a:t>Events</a:t>
            </a:r>
            <a:r>
              <a:rPr spc="-45" dirty="0"/>
              <a:t> </a:t>
            </a:r>
            <a:r>
              <a:rPr spc="-185" dirty="0"/>
              <a:t>can</a:t>
            </a:r>
            <a:r>
              <a:rPr spc="-35" dirty="0"/>
              <a:t> </a:t>
            </a:r>
            <a:r>
              <a:rPr spc="-160" dirty="0"/>
              <a:t>be</a:t>
            </a:r>
            <a:r>
              <a:rPr spc="-25" dirty="0"/>
              <a:t> </a:t>
            </a:r>
            <a:r>
              <a:rPr spc="-160" dirty="0"/>
              <a:t>captured</a:t>
            </a:r>
            <a:r>
              <a:rPr spc="-35" dirty="0"/>
              <a:t> </a:t>
            </a:r>
            <a:r>
              <a:rPr spc="-75" dirty="0"/>
              <a:t>and </a:t>
            </a:r>
            <a:r>
              <a:rPr i="1" spc="-250" dirty="0">
                <a:latin typeface="Trebuchet MS"/>
                <a:cs typeface="Trebuchet MS"/>
              </a:rPr>
              <a:t>handled</a:t>
            </a:r>
            <a:r>
              <a:rPr i="1" spc="-55" dirty="0">
                <a:latin typeface="Trebuchet MS"/>
                <a:cs typeface="Trebuchet MS"/>
              </a:rPr>
              <a:t> </a:t>
            </a:r>
            <a:r>
              <a:rPr spc="-175" dirty="0"/>
              <a:t>by</a:t>
            </a:r>
            <a:r>
              <a:rPr spc="-60" dirty="0"/>
              <a:t> </a:t>
            </a:r>
            <a:r>
              <a:rPr dirty="0"/>
              <a:t>our</a:t>
            </a:r>
            <a:r>
              <a:rPr spc="-80" dirty="0"/>
              <a:t> </a:t>
            </a:r>
            <a:r>
              <a:rPr spc="-20" dirty="0"/>
              <a:t>code</a:t>
            </a:r>
            <a:endParaRPr sz="19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305"/>
              </a:spcBef>
            </a:pPr>
            <a:endParaRPr sz="1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tabLst>
                <a:tab pos="286385" algn="l"/>
              </a:tabLst>
            </a:pPr>
            <a:r>
              <a:rPr sz="1950" spc="-50" dirty="0">
                <a:solidFill>
                  <a:srgbClr val="717BA2"/>
                </a:solidFill>
                <a:latin typeface="Segoe UI Symbol"/>
                <a:cs typeface="Segoe UI Symbol"/>
              </a:rPr>
              <a:t>🞂</a:t>
            </a:r>
            <a:r>
              <a:rPr sz="1950" dirty="0">
                <a:solidFill>
                  <a:srgbClr val="717BA2"/>
                </a:solidFill>
                <a:latin typeface="Segoe UI Symbol"/>
                <a:cs typeface="Segoe UI Symbol"/>
              </a:rPr>
              <a:t>​	</a:t>
            </a:r>
            <a:r>
              <a:rPr b="1" spc="-10" dirty="0">
                <a:latin typeface="Trebuchet MS"/>
                <a:cs typeface="Trebuchet MS"/>
              </a:rPr>
              <a:t>Controller</a:t>
            </a:r>
            <a:r>
              <a:rPr spc="-10" dirty="0"/>
              <a:t>:</a:t>
            </a:r>
            <a:r>
              <a:rPr spc="-325" dirty="0"/>
              <a:t> </a:t>
            </a:r>
            <a:r>
              <a:rPr spc="-160" dirty="0"/>
              <a:t>the</a:t>
            </a:r>
            <a:r>
              <a:rPr spc="-20" dirty="0"/>
              <a:t> </a:t>
            </a:r>
            <a:r>
              <a:rPr spc="-340" dirty="0"/>
              <a:t>Java</a:t>
            </a:r>
            <a:r>
              <a:rPr spc="-15" dirty="0"/>
              <a:t> </a:t>
            </a:r>
            <a:r>
              <a:rPr spc="-150" dirty="0"/>
              <a:t>class</a:t>
            </a:r>
            <a:r>
              <a:rPr spc="-35" dirty="0"/>
              <a:t> </a:t>
            </a:r>
            <a:r>
              <a:rPr spc="-190" dirty="0"/>
              <a:t>that</a:t>
            </a:r>
            <a:r>
              <a:rPr spc="-15" dirty="0"/>
              <a:t> </a:t>
            </a:r>
            <a:r>
              <a:rPr spc="-10" dirty="0"/>
              <a:t>contains</a:t>
            </a:r>
            <a:endParaRPr sz="1950">
              <a:latin typeface="Trebuchet MS"/>
              <a:cs typeface="Trebuchet MS"/>
            </a:endParaRPr>
          </a:p>
          <a:p>
            <a:pPr marL="286385">
              <a:lnSpc>
                <a:spcPct val="100000"/>
              </a:lnSpc>
              <a:spcBef>
                <a:spcPts val="515"/>
              </a:spcBef>
              <a:tabLst>
                <a:tab pos="561340" algn="l"/>
              </a:tabLst>
            </a:pPr>
            <a:r>
              <a:rPr sz="1750" spc="-50" dirty="0">
                <a:solidFill>
                  <a:srgbClr val="9FB8CD"/>
                </a:solidFill>
                <a:latin typeface="Segoe UI Symbol"/>
                <a:cs typeface="Segoe UI Symbol"/>
              </a:rPr>
              <a:t>🞂</a:t>
            </a:r>
            <a:r>
              <a:rPr sz="1750" dirty="0">
                <a:solidFill>
                  <a:srgbClr val="9FB8CD"/>
                </a:solidFill>
                <a:latin typeface="Segoe UI Symbol"/>
                <a:cs typeface="Segoe UI Symbol"/>
              </a:rPr>
              <a:t>​	</a:t>
            </a:r>
            <a:r>
              <a:rPr sz="2300" spc="-125" dirty="0">
                <a:solidFill>
                  <a:srgbClr val="464652"/>
                </a:solidFill>
              </a:rPr>
              <a:t>References</a:t>
            </a:r>
            <a:r>
              <a:rPr sz="2300" spc="-55" dirty="0">
                <a:solidFill>
                  <a:srgbClr val="464652"/>
                </a:solidFill>
              </a:rPr>
              <a:t> </a:t>
            </a:r>
            <a:r>
              <a:rPr sz="2300" spc="-20" dirty="0">
                <a:solidFill>
                  <a:srgbClr val="464652"/>
                </a:solidFill>
              </a:rPr>
              <a:t>to</a:t>
            </a:r>
            <a:r>
              <a:rPr sz="2300" spc="-35" dirty="0">
                <a:solidFill>
                  <a:srgbClr val="464652"/>
                </a:solidFill>
              </a:rPr>
              <a:t> </a:t>
            </a:r>
            <a:r>
              <a:rPr sz="2300" spc="-135" dirty="0">
                <a:solidFill>
                  <a:srgbClr val="464652"/>
                </a:solidFill>
              </a:rPr>
              <a:t>interesting</a:t>
            </a:r>
            <a:r>
              <a:rPr sz="2300" spc="-60" dirty="0">
                <a:solidFill>
                  <a:srgbClr val="464652"/>
                </a:solidFill>
              </a:rPr>
              <a:t> </a:t>
            </a:r>
            <a:r>
              <a:rPr sz="2300" spc="-10" dirty="0">
                <a:solidFill>
                  <a:srgbClr val="464652"/>
                </a:solidFill>
              </a:rPr>
              <a:t>Nodes</a:t>
            </a:r>
            <a:endParaRPr sz="2300">
              <a:latin typeface="Segoe UI Symbol"/>
              <a:cs typeface="Segoe UI Symbol"/>
            </a:endParaRPr>
          </a:p>
          <a:p>
            <a:pPr marL="286385">
              <a:lnSpc>
                <a:spcPct val="100000"/>
              </a:lnSpc>
              <a:spcBef>
                <a:spcPts val="505"/>
              </a:spcBef>
              <a:tabLst>
                <a:tab pos="561340" algn="l"/>
              </a:tabLst>
            </a:pPr>
            <a:r>
              <a:rPr sz="1750" spc="-50" dirty="0">
                <a:solidFill>
                  <a:srgbClr val="9FB8CD"/>
                </a:solidFill>
                <a:latin typeface="Segoe UI Symbol"/>
                <a:cs typeface="Segoe UI Symbol"/>
              </a:rPr>
              <a:t>🞂</a:t>
            </a:r>
            <a:r>
              <a:rPr sz="1750" dirty="0">
                <a:solidFill>
                  <a:srgbClr val="9FB8CD"/>
                </a:solidFill>
                <a:latin typeface="Segoe UI Symbol"/>
                <a:cs typeface="Segoe UI Symbol"/>
              </a:rPr>
              <a:t>​	</a:t>
            </a:r>
            <a:r>
              <a:rPr sz="2300" spc="-140" dirty="0">
                <a:solidFill>
                  <a:srgbClr val="464652"/>
                </a:solidFill>
              </a:rPr>
              <a:t>Event</a:t>
            </a:r>
            <a:r>
              <a:rPr sz="2300" spc="-30" dirty="0">
                <a:solidFill>
                  <a:srgbClr val="464652"/>
                </a:solidFill>
              </a:rPr>
              <a:t> </a:t>
            </a:r>
            <a:r>
              <a:rPr sz="2300" spc="-10" dirty="0">
                <a:solidFill>
                  <a:srgbClr val="464652"/>
                </a:solidFill>
              </a:rPr>
              <a:t>Handlers</a:t>
            </a:r>
            <a:endParaRPr sz="2300">
              <a:latin typeface="Segoe UI Symbol"/>
              <a:cs typeface="Segoe UI Symbo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4151" y="6432803"/>
            <a:ext cx="120650" cy="190500"/>
          </a:xfrm>
          <a:custGeom>
            <a:avLst/>
            <a:gdLst/>
            <a:ahLst/>
            <a:cxnLst/>
            <a:rect l="l" t="t" r="r" b="b"/>
            <a:pathLst>
              <a:path w="120650" h="190500">
                <a:moveTo>
                  <a:pt x="0" y="0"/>
                </a:moveTo>
                <a:lnTo>
                  <a:pt x="0" y="190500"/>
                </a:lnTo>
                <a:lnTo>
                  <a:pt x="120396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9FB8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14" dirty="0"/>
              <a:t>Properties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35940" y="1165802"/>
            <a:ext cx="6697980" cy="473773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  <a:tabLst>
                <a:tab pos="286385" algn="l"/>
              </a:tabLst>
            </a:pPr>
            <a:r>
              <a:rPr sz="1950" spc="-50" dirty="0">
                <a:solidFill>
                  <a:srgbClr val="717BA2"/>
                </a:solidFill>
                <a:latin typeface="Segoe UI Symbol"/>
                <a:cs typeface="Segoe UI Symbol"/>
              </a:rPr>
              <a:t>🞂</a:t>
            </a:r>
            <a:r>
              <a:rPr sz="1950" dirty="0">
                <a:solidFill>
                  <a:srgbClr val="717BA2"/>
                </a:solidFill>
                <a:latin typeface="Segoe UI Symbol"/>
                <a:cs typeface="Segoe UI Symbol"/>
              </a:rPr>
              <a:t>​	</a:t>
            </a:r>
            <a:r>
              <a:rPr sz="2600" spc="-100" dirty="0">
                <a:latin typeface="Trebuchet MS"/>
                <a:cs typeface="Trebuchet MS"/>
              </a:rPr>
              <a:t>Extension</a:t>
            </a:r>
            <a:r>
              <a:rPr sz="2600" spc="-70" dirty="0">
                <a:latin typeface="Trebuchet MS"/>
                <a:cs typeface="Trebuchet MS"/>
              </a:rPr>
              <a:t> </a:t>
            </a:r>
            <a:r>
              <a:rPr sz="2600" spc="-145" dirty="0">
                <a:latin typeface="Trebuchet MS"/>
                <a:cs typeface="Trebuchet MS"/>
              </a:rPr>
              <a:t>of</a:t>
            </a:r>
            <a:r>
              <a:rPr sz="2600" spc="-45" dirty="0">
                <a:latin typeface="Trebuchet MS"/>
                <a:cs typeface="Trebuchet MS"/>
              </a:rPr>
              <a:t> </a:t>
            </a:r>
            <a:r>
              <a:rPr sz="2600" spc="-160" dirty="0">
                <a:latin typeface="Trebuchet MS"/>
                <a:cs typeface="Trebuchet MS"/>
              </a:rPr>
              <a:t>the</a:t>
            </a:r>
            <a:r>
              <a:rPr sz="2600" spc="-45" dirty="0">
                <a:latin typeface="Trebuchet MS"/>
                <a:cs typeface="Trebuchet MS"/>
              </a:rPr>
              <a:t> </a:t>
            </a:r>
            <a:r>
              <a:rPr sz="2600" spc="-340" dirty="0">
                <a:latin typeface="Trebuchet MS"/>
                <a:cs typeface="Trebuchet MS"/>
              </a:rPr>
              <a:t>Java</a:t>
            </a:r>
            <a:r>
              <a:rPr sz="2600" spc="-45" dirty="0">
                <a:latin typeface="Trebuchet MS"/>
                <a:cs typeface="Trebuchet MS"/>
              </a:rPr>
              <a:t> </a:t>
            </a:r>
            <a:r>
              <a:rPr sz="2600" spc="-125" dirty="0">
                <a:latin typeface="Trebuchet MS"/>
                <a:cs typeface="Trebuchet MS"/>
              </a:rPr>
              <a:t>Beans</a:t>
            </a:r>
            <a:r>
              <a:rPr sz="2600" spc="-55" dirty="0">
                <a:latin typeface="Trebuchet MS"/>
                <a:cs typeface="Trebuchet MS"/>
              </a:rPr>
              <a:t> </a:t>
            </a:r>
            <a:r>
              <a:rPr sz="2600" spc="-10" dirty="0">
                <a:latin typeface="Trebuchet MS"/>
                <a:cs typeface="Trebuchet MS"/>
              </a:rPr>
              <a:t>convention</a:t>
            </a:r>
            <a:endParaRPr sz="2600">
              <a:latin typeface="Trebuchet MS"/>
              <a:cs typeface="Trebuchet MS"/>
            </a:endParaRPr>
          </a:p>
          <a:p>
            <a:pPr marL="286385">
              <a:lnSpc>
                <a:spcPct val="100000"/>
              </a:lnSpc>
              <a:spcBef>
                <a:spcPts val="520"/>
              </a:spcBef>
              <a:tabLst>
                <a:tab pos="561340" algn="l"/>
              </a:tabLst>
            </a:pPr>
            <a:r>
              <a:rPr sz="1750" spc="-50" dirty="0">
                <a:solidFill>
                  <a:srgbClr val="9FB8CD"/>
                </a:solidFill>
                <a:latin typeface="Segoe UI Symbol"/>
                <a:cs typeface="Segoe UI Symbol"/>
              </a:rPr>
              <a:t>🞂</a:t>
            </a:r>
            <a:r>
              <a:rPr sz="1750" dirty="0">
                <a:solidFill>
                  <a:srgbClr val="9FB8CD"/>
                </a:solidFill>
                <a:latin typeface="Segoe UI Symbol"/>
                <a:cs typeface="Segoe UI Symbol"/>
              </a:rPr>
              <a:t>​	</a:t>
            </a:r>
            <a:r>
              <a:rPr sz="2300" spc="-110" dirty="0">
                <a:solidFill>
                  <a:srgbClr val="464652"/>
                </a:solidFill>
                <a:latin typeface="Trebuchet MS"/>
                <a:cs typeface="Trebuchet MS"/>
              </a:rPr>
              <a:t>May</a:t>
            </a:r>
            <a:r>
              <a:rPr sz="2300" spc="-40" dirty="0">
                <a:solidFill>
                  <a:srgbClr val="464652"/>
                </a:solidFill>
                <a:latin typeface="Trebuchet MS"/>
                <a:cs typeface="Trebuchet MS"/>
              </a:rPr>
              <a:t> </a:t>
            </a:r>
            <a:r>
              <a:rPr sz="2300" spc="-160" dirty="0">
                <a:solidFill>
                  <a:srgbClr val="464652"/>
                </a:solidFill>
                <a:latin typeface="Trebuchet MS"/>
                <a:cs typeface="Trebuchet MS"/>
              </a:rPr>
              <a:t>be</a:t>
            </a:r>
            <a:r>
              <a:rPr sz="2300" spc="-40" dirty="0">
                <a:solidFill>
                  <a:srgbClr val="464652"/>
                </a:solidFill>
                <a:latin typeface="Trebuchet MS"/>
                <a:cs typeface="Trebuchet MS"/>
              </a:rPr>
              <a:t> </a:t>
            </a:r>
            <a:r>
              <a:rPr sz="2300" spc="-110" dirty="0">
                <a:solidFill>
                  <a:srgbClr val="464652"/>
                </a:solidFill>
                <a:latin typeface="Trebuchet MS"/>
                <a:cs typeface="Trebuchet MS"/>
              </a:rPr>
              <a:t>used</a:t>
            </a:r>
            <a:r>
              <a:rPr sz="2300" spc="-60" dirty="0">
                <a:solidFill>
                  <a:srgbClr val="464652"/>
                </a:solidFill>
                <a:latin typeface="Trebuchet MS"/>
                <a:cs typeface="Trebuchet MS"/>
              </a:rPr>
              <a:t> </a:t>
            </a:r>
            <a:r>
              <a:rPr sz="2300" spc="-105" dirty="0">
                <a:solidFill>
                  <a:srgbClr val="464652"/>
                </a:solidFill>
                <a:latin typeface="Trebuchet MS"/>
                <a:cs typeface="Trebuchet MS"/>
              </a:rPr>
              <a:t>also</a:t>
            </a:r>
            <a:r>
              <a:rPr sz="2300" spc="-40" dirty="0">
                <a:solidFill>
                  <a:srgbClr val="464652"/>
                </a:solidFill>
                <a:latin typeface="Trebuchet MS"/>
                <a:cs typeface="Trebuchet MS"/>
              </a:rPr>
              <a:t> </a:t>
            </a:r>
            <a:r>
              <a:rPr sz="2300" spc="-100" dirty="0">
                <a:solidFill>
                  <a:srgbClr val="464652"/>
                </a:solidFill>
                <a:latin typeface="Trebuchet MS"/>
                <a:cs typeface="Trebuchet MS"/>
              </a:rPr>
              <a:t>outside</a:t>
            </a:r>
            <a:r>
              <a:rPr sz="2300" spc="-60" dirty="0">
                <a:solidFill>
                  <a:srgbClr val="464652"/>
                </a:solidFill>
                <a:latin typeface="Trebuchet MS"/>
                <a:cs typeface="Trebuchet MS"/>
              </a:rPr>
              <a:t> </a:t>
            </a:r>
            <a:r>
              <a:rPr sz="2300" spc="-10" dirty="0">
                <a:solidFill>
                  <a:srgbClr val="464652"/>
                </a:solidFill>
                <a:latin typeface="Trebuchet MS"/>
                <a:cs typeface="Trebuchet MS"/>
              </a:rPr>
              <a:t>JavaFX</a:t>
            </a:r>
            <a:endParaRPr sz="23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90"/>
              </a:spcBef>
              <a:tabLst>
                <a:tab pos="286385" algn="l"/>
              </a:tabLst>
            </a:pPr>
            <a:r>
              <a:rPr sz="1950" spc="-50" dirty="0">
                <a:solidFill>
                  <a:srgbClr val="717BA2"/>
                </a:solidFill>
                <a:latin typeface="Segoe UI Symbol"/>
                <a:cs typeface="Segoe UI Symbol"/>
              </a:rPr>
              <a:t>🞂</a:t>
            </a:r>
            <a:r>
              <a:rPr sz="1950" dirty="0">
                <a:solidFill>
                  <a:srgbClr val="717BA2"/>
                </a:solidFill>
                <a:latin typeface="Segoe UI Symbol"/>
                <a:cs typeface="Segoe UI Symbol"/>
              </a:rPr>
              <a:t>​	</a:t>
            </a:r>
            <a:r>
              <a:rPr sz="2600" spc="-170" dirty="0">
                <a:latin typeface="Trebuchet MS"/>
                <a:cs typeface="Trebuchet MS"/>
              </a:rPr>
              <a:t>Encapsulate</a:t>
            </a:r>
            <a:r>
              <a:rPr sz="2600" spc="-65" dirty="0">
                <a:latin typeface="Trebuchet MS"/>
                <a:cs typeface="Trebuchet MS"/>
              </a:rPr>
              <a:t> </a:t>
            </a:r>
            <a:r>
              <a:rPr sz="2600" spc="-105" dirty="0">
                <a:latin typeface="Trebuchet MS"/>
                <a:cs typeface="Trebuchet MS"/>
              </a:rPr>
              <a:t>properties</a:t>
            </a:r>
            <a:r>
              <a:rPr sz="2600" spc="-50" dirty="0">
                <a:latin typeface="Trebuchet MS"/>
                <a:cs typeface="Trebuchet MS"/>
              </a:rPr>
              <a:t> </a:t>
            </a:r>
            <a:r>
              <a:rPr sz="2600" spc="-145" dirty="0">
                <a:latin typeface="Trebuchet MS"/>
                <a:cs typeface="Trebuchet MS"/>
              </a:rPr>
              <a:t>of</a:t>
            </a:r>
            <a:r>
              <a:rPr sz="2600" spc="-20" dirty="0">
                <a:latin typeface="Trebuchet MS"/>
                <a:cs typeface="Trebuchet MS"/>
              </a:rPr>
              <a:t> </a:t>
            </a:r>
            <a:r>
              <a:rPr sz="2600" spc="-195" dirty="0">
                <a:latin typeface="Trebuchet MS"/>
                <a:cs typeface="Trebuchet MS"/>
              </a:rPr>
              <a:t>an</a:t>
            </a:r>
            <a:r>
              <a:rPr sz="2600" spc="-30" dirty="0">
                <a:latin typeface="Trebuchet MS"/>
                <a:cs typeface="Trebuchet MS"/>
              </a:rPr>
              <a:t> </a:t>
            </a:r>
            <a:r>
              <a:rPr sz="2600" spc="-10" dirty="0">
                <a:latin typeface="Trebuchet MS"/>
                <a:cs typeface="Trebuchet MS"/>
              </a:rPr>
              <a:t>object</a:t>
            </a:r>
            <a:endParaRPr sz="2600">
              <a:latin typeface="Trebuchet MS"/>
              <a:cs typeface="Trebuchet MS"/>
            </a:endParaRPr>
          </a:p>
          <a:p>
            <a:pPr marL="286385">
              <a:lnSpc>
                <a:spcPct val="100000"/>
              </a:lnSpc>
              <a:spcBef>
                <a:spcPts val="515"/>
              </a:spcBef>
              <a:tabLst>
                <a:tab pos="561340" algn="l"/>
              </a:tabLst>
            </a:pPr>
            <a:r>
              <a:rPr sz="1750" spc="-50" dirty="0">
                <a:solidFill>
                  <a:srgbClr val="9FB8CD"/>
                </a:solidFill>
                <a:latin typeface="Segoe UI Symbol"/>
                <a:cs typeface="Segoe UI Symbol"/>
              </a:rPr>
              <a:t>🞂</a:t>
            </a:r>
            <a:r>
              <a:rPr sz="1750" dirty="0">
                <a:solidFill>
                  <a:srgbClr val="9FB8CD"/>
                </a:solidFill>
                <a:latin typeface="Segoe UI Symbol"/>
                <a:cs typeface="Segoe UI Symbol"/>
              </a:rPr>
              <a:t>​	</a:t>
            </a:r>
            <a:r>
              <a:rPr sz="2300" spc="-125" dirty="0">
                <a:solidFill>
                  <a:srgbClr val="464652"/>
                </a:solidFill>
                <a:latin typeface="Trebuchet MS"/>
                <a:cs typeface="Trebuchet MS"/>
              </a:rPr>
              <a:t>Different</a:t>
            </a:r>
            <a:r>
              <a:rPr sz="2300" spc="-15" dirty="0">
                <a:solidFill>
                  <a:srgbClr val="464652"/>
                </a:solidFill>
                <a:latin typeface="Trebuchet MS"/>
                <a:cs typeface="Trebuchet MS"/>
              </a:rPr>
              <a:t> </a:t>
            </a:r>
            <a:r>
              <a:rPr sz="2300" spc="-125" dirty="0">
                <a:solidFill>
                  <a:srgbClr val="464652"/>
                </a:solidFill>
                <a:latin typeface="Trebuchet MS"/>
                <a:cs typeface="Trebuchet MS"/>
              </a:rPr>
              <a:t>types</a:t>
            </a:r>
            <a:r>
              <a:rPr sz="2300" spc="20" dirty="0">
                <a:solidFill>
                  <a:srgbClr val="464652"/>
                </a:solidFill>
                <a:latin typeface="Trebuchet MS"/>
                <a:cs typeface="Trebuchet MS"/>
              </a:rPr>
              <a:t> </a:t>
            </a:r>
            <a:r>
              <a:rPr sz="2300" spc="-145" dirty="0">
                <a:solidFill>
                  <a:srgbClr val="464652"/>
                </a:solidFill>
                <a:latin typeface="Trebuchet MS"/>
                <a:cs typeface="Trebuchet MS"/>
              </a:rPr>
              <a:t>(string,</a:t>
            </a:r>
            <a:r>
              <a:rPr sz="2300" spc="-270" dirty="0">
                <a:solidFill>
                  <a:srgbClr val="464652"/>
                </a:solidFill>
                <a:latin typeface="Trebuchet MS"/>
                <a:cs typeface="Trebuchet MS"/>
              </a:rPr>
              <a:t> </a:t>
            </a:r>
            <a:r>
              <a:rPr sz="2300" spc="-190" dirty="0">
                <a:solidFill>
                  <a:srgbClr val="464652"/>
                </a:solidFill>
                <a:latin typeface="Trebuchet MS"/>
                <a:cs typeface="Trebuchet MS"/>
              </a:rPr>
              <a:t>number,</a:t>
            </a:r>
            <a:r>
              <a:rPr sz="2300" spc="-250" dirty="0">
                <a:solidFill>
                  <a:srgbClr val="464652"/>
                </a:solidFill>
                <a:latin typeface="Trebuchet MS"/>
                <a:cs typeface="Trebuchet MS"/>
              </a:rPr>
              <a:t> </a:t>
            </a:r>
            <a:r>
              <a:rPr sz="2300" spc="-185" dirty="0">
                <a:solidFill>
                  <a:srgbClr val="464652"/>
                </a:solidFill>
                <a:latin typeface="Trebuchet MS"/>
                <a:cs typeface="Trebuchet MS"/>
              </a:rPr>
              <a:t>object,</a:t>
            </a:r>
            <a:r>
              <a:rPr sz="2300" spc="-254" dirty="0">
                <a:solidFill>
                  <a:srgbClr val="464652"/>
                </a:solidFill>
                <a:latin typeface="Trebuchet MS"/>
                <a:cs typeface="Trebuchet MS"/>
              </a:rPr>
              <a:t> </a:t>
            </a:r>
            <a:r>
              <a:rPr sz="2300" spc="-140" dirty="0">
                <a:solidFill>
                  <a:srgbClr val="464652"/>
                </a:solidFill>
                <a:latin typeface="Trebuchet MS"/>
                <a:cs typeface="Trebuchet MS"/>
              </a:rPr>
              <a:t>collection,</a:t>
            </a:r>
            <a:r>
              <a:rPr sz="2300" spc="-254" dirty="0">
                <a:solidFill>
                  <a:srgbClr val="464652"/>
                </a:solidFill>
                <a:latin typeface="Trebuchet MS"/>
                <a:cs typeface="Trebuchet MS"/>
              </a:rPr>
              <a:t> </a:t>
            </a:r>
            <a:r>
              <a:rPr sz="2300" spc="-315" dirty="0">
                <a:solidFill>
                  <a:srgbClr val="464652"/>
                </a:solidFill>
                <a:latin typeface="Trebuchet MS"/>
                <a:cs typeface="Trebuchet MS"/>
              </a:rPr>
              <a:t>...)</a:t>
            </a:r>
            <a:endParaRPr sz="2300">
              <a:latin typeface="Trebuchet MS"/>
              <a:cs typeface="Trebuchet MS"/>
            </a:endParaRPr>
          </a:p>
          <a:p>
            <a:pPr marL="286385">
              <a:lnSpc>
                <a:spcPct val="100000"/>
              </a:lnSpc>
              <a:spcBef>
                <a:spcPts val="490"/>
              </a:spcBef>
              <a:tabLst>
                <a:tab pos="561340" algn="l"/>
              </a:tabLst>
            </a:pPr>
            <a:r>
              <a:rPr sz="1750" spc="-50" dirty="0">
                <a:solidFill>
                  <a:srgbClr val="9FB8CD"/>
                </a:solidFill>
                <a:latin typeface="Segoe UI Symbol"/>
                <a:cs typeface="Segoe UI Symbol"/>
              </a:rPr>
              <a:t>🞂</a:t>
            </a:r>
            <a:r>
              <a:rPr sz="1750" dirty="0">
                <a:solidFill>
                  <a:srgbClr val="9FB8CD"/>
                </a:solidFill>
                <a:latin typeface="Segoe UI Symbol"/>
                <a:cs typeface="Segoe UI Symbol"/>
              </a:rPr>
              <a:t>​	</a:t>
            </a:r>
            <a:r>
              <a:rPr sz="2300" spc="-20" dirty="0">
                <a:solidFill>
                  <a:srgbClr val="464652"/>
                </a:solidFill>
                <a:latin typeface="Trebuchet MS"/>
                <a:cs typeface="Trebuchet MS"/>
              </a:rPr>
              <a:t>Set/Get</a:t>
            </a:r>
            <a:endParaRPr sz="2300">
              <a:latin typeface="Trebuchet MS"/>
              <a:cs typeface="Trebuchet MS"/>
            </a:endParaRPr>
          </a:p>
          <a:p>
            <a:pPr marL="286385">
              <a:lnSpc>
                <a:spcPct val="100000"/>
              </a:lnSpc>
              <a:spcBef>
                <a:spcPts val="505"/>
              </a:spcBef>
              <a:tabLst>
                <a:tab pos="561340" algn="l"/>
              </a:tabLst>
            </a:pPr>
            <a:r>
              <a:rPr sz="1750" spc="-50" dirty="0">
                <a:solidFill>
                  <a:srgbClr val="9FB8CD"/>
                </a:solidFill>
                <a:latin typeface="Segoe UI Symbol"/>
                <a:cs typeface="Segoe UI Symbol"/>
              </a:rPr>
              <a:t>🞂</a:t>
            </a:r>
            <a:r>
              <a:rPr sz="1750" dirty="0">
                <a:solidFill>
                  <a:srgbClr val="9FB8CD"/>
                </a:solidFill>
                <a:latin typeface="Segoe UI Symbol"/>
                <a:cs typeface="Segoe UI Symbol"/>
              </a:rPr>
              <a:t>​	</a:t>
            </a:r>
            <a:r>
              <a:rPr sz="2300" spc="-30" dirty="0">
                <a:solidFill>
                  <a:srgbClr val="464652"/>
                </a:solidFill>
                <a:latin typeface="Trebuchet MS"/>
                <a:cs typeface="Trebuchet MS"/>
              </a:rPr>
              <a:t>Observe</a:t>
            </a:r>
            <a:r>
              <a:rPr sz="2300" spc="-135" dirty="0">
                <a:solidFill>
                  <a:srgbClr val="464652"/>
                </a:solidFill>
                <a:latin typeface="Trebuchet MS"/>
                <a:cs typeface="Trebuchet MS"/>
              </a:rPr>
              <a:t> </a:t>
            </a:r>
            <a:r>
              <a:rPr sz="2300" spc="-10" dirty="0">
                <a:solidFill>
                  <a:srgbClr val="464652"/>
                </a:solidFill>
                <a:latin typeface="Trebuchet MS"/>
                <a:cs typeface="Trebuchet MS"/>
              </a:rPr>
              <a:t>changes</a:t>
            </a:r>
            <a:endParaRPr sz="2300">
              <a:latin typeface="Trebuchet MS"/>
              <a:cs typeface="Trebuchet MS"/>
            </a:endParaRPr>
          </a:p>
          <a:p>
            <a:pPr marL="286385">
              <a:lnSpc>
                <a:spcPct val="100000"/>
              </a:lnSpc>
              <a:spcBef>
                <a:spcPts val="505"/>
              </a:spcBef>
              <a:tabLst>
                <a:tab pos="561340" algn="l"/>
              </a:tabLst>
            </a:pPr>
            <a:r>
              <a:rPr sz="1750" spc="-50" dirty="0">
                <a:solidFill>
                  <a:srgbClr val="9FB8CD"/>
                </a:solidFill>
                <a:latin typeface="Segoe UI Symbol"/>
                <a:cs typeface="Segoe UI Symbol"/>
              </a:rPr>
              <a:t>🞂</a:t>
            </a:r>
            <a:r>
              <a:rPr sz="1750" dirty="0">
                <a:solidFill>
                  <a:srgbClr val="9FB8CD"/>
                </a:solidFill>
                <a:latin typeface="Segoe UI Symbol"/>
                <a:cs typeface="Segoe UI Symbol"/>
              </a:rPr>
              <a:t>​	</a:t>
            </a:r>
            <a:r>
              <a:rPr sz="2300" spc="-80" dirty="0">
                <a:solidFill>
                  <a:srgbClr val="464652"/>
                </a:solidFill>
                <a:latin typeface="Trebuchet MS"/>
                <a:cs typeface="Trebuchet MS"/>
              </a:rPr>
              <a:t>Support</a:t>
            </a:r>
            <a:r>
              <a:rPr sz="2300" spc="-45" dirty="0">
                <a:solidFill>
                  <a:srgbClr val="464652"/>
                </a:solidFill>
                <a:latin typeface="Trebuchet MS"/>
                <a:cs typeface="Trebuchet MS"/>
              </a:rPr>
              <a:t> </a:t>
            </a:r>
            <a:r>
              <a:rPr sz="2300" spc="-170" dirty="0">
                <a:solidFill>
                  <a:srgbClr val="464652"/>
                </a:solidFill>
                <a:latin typeface="Trebuchet MS"/>
                <a:cs typeface="Trebuchet MS"/>
              </a:rPr>
              <a:t>lazy</a:t>
            </a:r>
            <a:r>
              <a:rPr sz="2300" spc="-25" dirty="0">
                <a:solidFill>
                  <a:srgbClr val="464652"/>
                </a:solidFill>
                <a:latin typeface="Trebuchet MS"/>
                <a:cs typeface="Trebuchet MS"/>
              </a:rPr>
              <a:t> </a:t>
            </a:r>
            <a:r>
              <a:rPr sz="2300" spc="-50" dirty="0">
                <a:solidFill>
                  <a:srgbClr val="464652"/>
                </a:solidFill>
                <a:latin typeface="Trebuchet MS"/>
                <a:cs typeface="Trebuchet MS"/>
              </a:rPr>
              <a:t>evaluation</a:t>
            </a:r>
            <a:endParaRPr sz="23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90"/>
              </a:spcBef>
              <a:tabLst>
                <a:tab pos="286385" algn="l"/>
              </a:tabLst>
            </a:pPr>
            <a:r>
              <a:rPr sz="1950" spc="-50" dirty="0">
                <a:solidFill>
                  <a:srgbClr val="717BA2"/>
                </a:solidFill>
                <a:latin typeface="Segoe UI Symbol"/>
                <a:cs typeface="Segoe UI Symbol"/>
              </a:rPr>
              <a:t>🞂</a:t>
            </a:r>
            <a:r>
              <a:rPr sz="1950" dirty="0">
                <a:solidFill>
                  <a:srgbClr val="717BA2"/>
                </a:solidFill>
                <a:latin typeface="Segoe UI Symbol"/>
                <a:cs typeface="Segoe UI Symbol"/>
              </a:rPr>
              <a:t>​	</a:t>
            </a:r>
            <a:r>
              <a:rPr sz="2600" spc="-160" dirty="0">
                <a:latin typeface="Trebuchet MS"/>
                <a:cs typeface="Trebuchet MS"/>
              </a:rPr>
              <a:t>Each</a:t>
            </a:r>
            <a:r>
              <a:rPr sz="2600" spc="-20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Node</a:t>
            </a:r>
            <a:r>
              <a:rPr sz="2600" spc="-20" dirty="0">
                <a:latin typeface="Trebuchet MS"/>
                <a:cs typeface="Trebuchet MS"/>
              </a:rPr>
              <a:t> </a:t>
            </a:r>
            <a:r>
              <a:rPr sz="2600" spc="-155" dirty="0">
                <a:latin typeface="Trebuchet MS"/>
                <a:cs typeface="Trebuchet MS"/>
              </a:rPr>
              <a:t>has</a:t>
            </a:r>
            <a:r>
              <a:rPr sz="2600" spc="-15" dirty="0">
                <a:latin typeface="Trebuchet MS"/>
                <a:cs typeface="Trebuchet MS"/>
              </a:rPr>
              <a:t> </a:t>
            </a:r>
            <a:r>
              <a:rPr sz="2600" spc="-310" dirty="0">
                <a:latin typeface="Trebuchet MS"/>
                <a:cs typeface="Trebuchet MS"/>
              </a:rPr>
              <a:t>a</a:t>
            </a:r>
            <a:endParaRPr sz="2600">
              <a:latin typeface="Trebuchet MS"/>
              <a:cs typeface="Trebuchet MS"/>
            </a:endParaRPr>
          </a:p>
          <a:p>
            <a:pPr marL="286385">
              <a:lnSpc>
                <a:spcPct val="100000"/>
              </a:lnSpc>
            </a:pPr>
            <a:r>
              <a:rPr sz="2600" spc="-160" dirty="0">
                <a:latin typeface="Trebuchet MS"/>
                <a:cs typeface="Trebuchet MS"/>
              </a:rPr>
              <a:t>large</a:t>
            </a:r>
            <a:r>
              <a:rPr sz="2600" spc="-60" dirty="0">
                <a:latin typeface="Trebuchet MS"/>
                <a:cs typeface="Trebuchet MS"/>
              </a:rPr>
              <a:t> </a:t>
            </a:r>
            <a:r>
              <a:rPr sz="2600" spc="-130" dirty="0">
                <a:latin typeface="Trebuchet MS"/>
                <a:cs typeface="Trebuchet MS"/>
              </a:rPr>
              <a:t>set</a:t>
            </a:r>
            <a:r>
              <a:rPr sz="2600" spc="-55" dirty="0">
                <a:latin typeface="Trebuchet MS"/>
                <a:cs typeface="Trebuchet MS"/>
              </a:rPr>
              <a:t> </a:t>
            </a:r>
            <a:r>
              <a:rPr sz="2600" spc="-145" dirty="0">
                <a:latin typeface="Trebuchet MS"/>
                <a:cs typeface="Trebuchet MS"/>
              </a:rPr>
              <a:t>of</a:t>
            </a:r>
            <a:r>
              <a:rPr sz="2600" spc="-35" dirty="0">
                <a:latin typeface="Trebuchet MS"/>
                <a:cs typeface="Trebuchet MS"/>
              </a:rPr>
              <a:t> </a:t>
            </a:r>
            <a:r>
              <a:rPr sz="2600" spc="-10" dirty="0">
                <a:latin typeface="Trebuchet MS"/>
                <a:cs typeface="Trebuchet MS"/>
              </a:rPr>
              <a:t>Properties</a:t>
            </a:r>
            <a:endParaRPr sz="2600">
              <a:latin typeface="Trebuchet MS"/>
              <a:cs typeface="Trebuchet MS"/>
            </a:endParaRPr>
          </a:p>
          <a:p>
            <a:pPr marL="286385">
              <a:lnSpc>
                <a:spcPct val="100000"/>
              </a:lnSpc>
              <a:spcBef>
                <a:spcPts val="505"/>
              </a:spcBef>
              <a:tabLst>
                <a:tab pos="561340" algn="l"/>
              </a:tabLst>
            </a:pPr>
            <a:r>
              <a:rPr sz="1750" spc="-50" dirty="0">
                <a:solidFill>
                  <a:srgbClr val="9FB8CD"/>
                </a:solidFill>
                <a:latin typeface="Segoe UI Symbol"/>
                <a:cs typeface="Segoe UI Symbol"/>
              </a:rPr>
              <a:t>🞂</a:t>
            </a:r>
            <a:r>
              <a:rPr sz="1750" dirty="0">
                <a:solidFill>
                  <a:srgbClr val="9FB8CD"/>
                </a:solidFill>
                <a:latin typeface="Segoe UI Symbol"/>
                <a:cs typeface="Segoe UI Symbol"/>
              </a:rPr>
              <a:t>​	</a:t>
            </a:r>
            <a:r>
              <a:rPr sz="2300" dirty="0">
                <a:solidFill>
                  <a:srgbClr val="464652"/>
                </a:solidFill>
                <a:latin typeface="Trebuchet MS"/>
                <a:cs typeface="Trebuchet MS"/>
              </a:rPr>
              <a:t>Can</a:t>
            </a:r>
            <a:r>
              <a:rPr sz="2300" spc="-155" dirty="0">
                <a:solidFill>
                  <a:srgbClr val="464652"/>
                </a:solidFill>
                <a:latin typeface="Trebuchet MS"/>
                <a:cs typeface="Trebuchet MS"/>
              </a:rPr>
              <a:t> </a:t>
            </a:r>
            <a:r>
              <a:rPr sz="2300" spc="-160" dirty="0">
                <a:solidFill>
                  <a:srgbClr val="464652"/>
                </a:solidFill>
                <a:latin typeface="Trebuchet MS"/>
                <a:cs typeface="Trebuchet MS"/>
              </a:rPr>
              <a:t>be</a:t>
            </a:r>
            <a:r>
              <a:rPr sz="2300" spc="-75" dirty="0">
                <a:solidFill>
                  <a:srgbClr val="464652"/>
                </a:solidFill>
                <a:latin typeface="Trebuchet MS"/>
                <a:cs typeface="Trebuchet MS"/>
              </a:rPr>
              <a:t> </a:t>
            </a:r>
            <a:r>
              <a:rPr sz="2300" spc="-70" dirty="0">
                <a:solidFill>
                  <a:srgbClr val="464652"/>
                </a:solidFill>
                <a:latin typeface="Trebuchet MS"/>
                <a:cs typeface="Trebuchet MS"/>
              </a:rPr>
              <a:t>manipulated</a:t>
            </a:r>
            <a:endParaRPr sz="2300">
              <a:latin typeface="Trebuchet MS"/>
              <a:cs typeface="Trebuchet MS"/>
            </a:endParaRPr>
          </a:p>
          <a:p>
            <a:pPr marL="286385">
              <a:lnSpc>
                <a:spcPct val="100000"/>
              </a:lnSpc>
              <a:spcBef>
                <a:spcPts val="505"/>
              </a:spcBef>
              <a:tabLst>
                <a:tab pos="561340" algn="l"/>
              </a:tabLst>
            </a:pPr>
            <a:r>
              <a:rPr sz="1750" spc="-50" dirty="0">
                <a:solidFill>
                  <a:srgbClr val="9FB8CD"/>
                </a:solidFill>
                <a:latin typeface="Segoe UI Symbol"/>
                <a:cs typeface="Segoe UI Symbol"/>
              </a:rPr>
              <a:t>🞂</a:t>
            </a:r>
            <a:r>
              <a:rPr sz="1750" dirty="0">
                <a:solidFill>
                  <a:srgbClr val="9FB8CD"/>
                </a:solidFill>
                <a:latin typeface="Segoe UI Symbol"/>
                <a:cs typeface="Segoe UI Symbol"/>
              </a:rPr>
              <a:t>​	</a:t>
            </a:r>
            <a:r>
              <a:rPr sz="2300" spc="-65" dirty="0">
                <a:solidFill>
                  <a:srgbClr val="464652"/>
                </a:solidFill>
                <a:latin typeface="Trebuchet MS"/>
                <a:cs typeface="Trebuchet MS"/>
              </a:rPr>
              <a:t>The</a:t>
            </a:r>
            <a:r>
              <a:rPr sz="2300" spc="-90" dirty="0">
                <a:solidFill>
                  <a:srgbClr val="464652"/>
                </a:solidFill>
                <a:latin typeface="Trebuchet MS"/>
                <a:cs typeface="Trebuchet MS"/>
              </a:rPr>
              <a:t> </a:t>
            </a:r>
            <a:r>
              <a:rPr sz="2300" spc="-120" dirty="0">
                <a:solidFill>
                  <a:srgbClr val="464652"/>
                </a:solidFill>
                <a:latin typeface="Trebuchet MS"/>
                <a:cs typeface="Trebuchet MS"/>
              </a:rPr>
              <a:t>scene</a:t>
            </a:r>
            <a:r>
              <a:rPr sz="2300" spc="-60" dirty="0">
                <a:solidFill>
                  <a:srgbClr val="464652"/>
                </a:solidFill>
                <a:latin typeface="Trebuchet MS"/>
                <a:cs typeface="Trebuchet MS"/>
              </a:rPr>
              <a:t> </a:t>
            </a:r>
            <a:r>
              <a:rPr sz="2300" spc="-10" dirty="0">
                <a:solidFill>
                  <a:srgbClr val="464652"/>
                </a:solidFill>
                <a:latin typeface="Trebuchet MS"/>
                <a:cs typeface="Trebuchet MS"/>
              </a:rPr>
              <a:t>updates</a:t>
            </a:r>
            <a:endParaRPr sz="2300"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53558" y="3057640"/>
            <a:ext cx="3941065" cy="2634558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xfrm>
            <a:off x="4229227" y="6395259"/>
            <a:ext cx="2094864" cy="21608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it-IT" spc="-95" dirty="0" err="1"/>
              <a:t>JavaFX</a:t>
            </a:r>
            <a:endParaRPr spc="-6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4151" y="6432803"/>
            <a:ext cx="120650" cy="190500"/>
          </a:xfrm>
          <a:custGeom>
            <a:avLst/>
            <a:gdLst/>
            <a:ahLst/>
            <a:cxnLst/>
            <a:rect l="l" t="t" r="r" b="b"/>
            <a:pathLst>
              <a:path w="120650" h="190500">
                <a:moveTo>
                  <a:pt x="0" y="0"/>
                </a:moveTo>
                <a:lnTo>
                  <a:pt x="0" y="190500"/>
                </a:lnTo>
                <a:lnTo>
                  <a:pt x="120396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9FB8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200" dirty="0"/>
              <a:t>Events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xfrm>
            <a:off x="4229227" y="6395259"/>
            <a:ext cx="2094864" cy="21608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it-IT" spc="-95" dirty="0" err="1"/>
              <a:t>JavaFX</a:t>
            </a:r>
            <a:endParaRPr spc="-65" dirty="0"/>
          </a:p>
        </p:txBody>
      </p:sp>
      <p:sp>
        <p:nvSpPr>
          <p:cNvPr id="4" name="object 4"/>
          <p:cNvSpPr txBox="1"/>
          <p:nvPr/>
        </p:nvSpPr>
        <p:spPr>
          <a:xfrm>
            <a:off x="535940" y="1165802"/>
            <a:ext cx="7144384" cy="315531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  <a:tabLst>
                <a:tab pos="286385" algn="l"/>
              </a:tabLst>
            </a:pPr>
            <a:r>
              <a:rPr sz="1950" spc="-50" dirty="0">
                <a:solidFill>
                  <a:srgbClr val="717BA2"/>
                </a:solidFill>
                <a:latin typeface="Segoe UI Symbol"/>
                <a:cs typeface="Segoe UI Symbol"/>
              </a:rPr>
              <a:t>🞂</a:t>
            </a:r>
            <a:r>
              <a:rPr sz="1950" dirty="0">
                <a:solidFill>
                  <a:srgbClr val="717BA2"/>
                </a:solidFill>
                <a:latin typeface="Segoe UI Symbol"/>
                <a:cs typeface="Segoe UI Symbol"/>
              </a:rPr>
              <a:t>​	</a:t>
            </a:r>
            <a:r>
              <a:rPr sz="2600" spc="110" dirty="0">
                <a:latin typeface="Trebuchet MS"/>
                <a:cs typeface="Trebuchet MS"/>
              </a:rPr>
              <a:t>FX</a:t>
            </a:r>
            <a:r>
              <a:rPr sz="2600" spc="-30" dirty="0">
                <a:latin typeface="Trebuchet MS"/>
                <a:cs typeface="Trebuchet MS"/>
              </a:rPr>
              <a:t> </a:t>
            </a:r>
            <a:r>
              <a:rPr sz="2600" spc="-160" dirty="0">
                <a:latin typeface="Trebuchet MS"/>
                <a:cs typeface="Trebuchet MS"/>
              </a:rPr>
              <a:t>Event</a:t>
            </a:r>
            <a:r>
              <a:rPr sz="2600" spc="-60" dirty="0">
                <a:latin typeface="Trebuchet MS"/>
                <a:cs typeface="Trebuchet MS"/>
              </a:rPr>
              <a:t> </a:t>
            </a:r>
            <a:r>
              <a:rPr sz="2600" spc="-170" dirty="0">
                <a:latin typeface="Trebuchet MS"/>
                <a:cs typeface="Trebuchet MS"/>
              </a:rPr>
              <a:t>(javafx.event.Event):</a:t>
            </a:r>
            <a:endParaRPr sz="2600">
              <a:latin typeface="Trebuchet MS"/>
              <a:cs typeface="Trebuchet MS"/>
            </a:endParaRPr>
          </a:p>
          <a:p>
            <a:pPr marL="286385">
              <a:lnSpc>
                <a:spcPct val="100000"/>
              </a:lnSpc>
              <a:spcBef>
                <a:spcPts val="520"/>
              </a:spcBef>
              <a:tabLst>
                <a:tab pos="561340" algn="l"/>
              </a:tabLst>
            </a:pPr>
            <a:r>
              <a:rPr sz="1750" spc="-50" dirty="0">
                <a:solidFill>
                  <a:srgbClr val="9FB8CD"/>
                </a:solidFill>
                <a:latin typeface="Segoe UI Symbol"/>
                <a:cs typeface="Segoe UI Symbol"/>
              </a:rPr>
              <a:t>🞂</a:t>
            </a:r>
            <a:r>
              <a:rPr sz="1750" dirty="0">
                <a:solidFill>
                  <a:srgbClr val="9FB8CD"/>
                </a:solidFill>
                <a:latin typeface="Segoe UI Symbol"/>
                <a:cs typeface="Segoe UI Symbol"/>
              </a:rPr>
              <a:t>​	</a:t>
            </a:r>
            <a:r>
              <a:rPr sz="2300" spc="-145" dirty="0">
                <a:solidFill>
                  <a:srgbClr val="464652"/>
                </a:solidFill>
                <a:latin typeface="Trebuchet MS"/>
                <a:cs typeface="Trebuchet MS"/>
              </a:rPr>
              <a:t>Event</a:t>
            </a:r>
            <a:r>
              <a:rPr sz="2300" spc="-50" dirty="0">
                <a:solidFill>
                  <a:srgbClr val="464652"/>
                </a:solidFill>
                <a:latin typeface="Trebuchet MS"/>
                <a:cs typeface="Trebuchet MS"/>
              </a:rPr>
              <a:t> </a:t>
            </a:r>
            <a:r>
              <a:rPr sz="2300" spc="-80" dirty="0">
                <a:solidFill>
                  <a:srgbClr val="464652"/>
                </a:solidFill>
                <a:latin typeface="Trebuchet MS"/>
                <a:cs typeface="Trebuchet MS"/>
              </a:rPr>
              <a:t>Source</a:t>
            </a:r>
            <a:r>
              <a:rPr sz="2300" spc="-50" dirty="0">
                <a:solidFill>
                  <a:srgbClr val="464652"/>
                </a:solidFill>
                <a:latin typeface="Trebuchet MS"/>
                <a:cs typeface="Trebuchet MS"/>
              </a:rPr>
              <a:t> </a:t>
            </a:r>
            <a:r>
              <a:rPr sz="2300" spc="140" dirty="0">
                <a:solidFill>
                  <a:srgbClr val="464652"/>
                </a:solidFill>
                <a:latin typeface="Trebuchet MS"/>
                <a:cs typeface="Trebuchet MS"/>
              </a:rPr>
              <a:t>=&gt;</a:t>
            </a:r>
            <a:r>
              <a:rPr sz="2300" spc="-60" dirty="0">
                <a:solidFill>
                  <a:srgbClr val="464652"/>
                </a:solidFill>
                <a:latin typeface="Trebuchet MS"/>
                <a:cs typeface="Trebuchet MS"/>
              </a:rPr>
              <a:t> </a:t>
            </a:r>
            <a:r>
              <a:rPr sz="2300" spc="-240" dirty="0">
                <a:solidFill>
                  <a:srgbClr val="464652"/>
                </a:solidFill>
                <a:latin typeface="Trebuchet MS"/>
                <a:cs typeface="Trebuchet MS"/>
              </a:rPr>
              <a:t>a</a:t>
            </a:r>
            <a:r>
              <a:rPr sz="2300" spc="-40" dirty="0">
                <a:solidFill>
                  <a:srgbClr val="464652"/>
                </a:solidFill>
                <a:latin typeface="Trebuchet MS"/>
                <a:cs typeface="Trebuchet MS"/>
              </a:rPr>
              <a:t> </a:t>
            </a:r>
            <a:r>
              <a:rPr sz="2300" spc="-20" dirty="0">
                <a:solidFill>
                  <a:srgbClr val="464652"/>
                </a:solidFill>
                <a:latin typeface="Trebuchet MS"/>
                <a:cs typeface="Trebuchet MS"/>
              </a:rPr>
              <a:t>Node</a:t>
            </a:r>
            <a:endParaRPr sz="2300">
              <a:latin typeface="Trebuchet MS"/>
              <a:cs typeface="Trebuchet MS"/>
            </a:endParaRPr>
          </a:p>
          <a:p>
            <a:pPr marL="286385">
              <a:lnSpc>
                <a:spcPct val="100000"/>
              </a:lnSpc>
              <a:spcBef>
                <a:spcPts val="505"/>
              </a:spcBef>
              <a:tabLst>
                <a:tab pos="561340" algn="l"/>
              </a:tabLst>
            </a:pPr>
            <a:r>
              <a:rPr sz="1750" spc="-50" dirty="0">
                <a:solidFill>
                  <a:srgbClr val="9FB8CD"/>
                </a:solidFill>
                <a:latin typeface="Segoe UI Symbol"/>
                <a:cs typeface="Segoe UI Symbol"/>
              </a:rPr>
              <a:t>🞂</a:t>
            </a:r>
            <a:r>
              <a:rPr sz="1750" dirty="0">
                <a:solidFill>
                  <a:srgbClr val="9FB8CD"/>
                </a:solidFill>
                <a:latin typeface="Segoe UI Symbol"/>
                <a:cs typeface="Segoe UI Symbol"/>
              </a:rPr>
              <a:t>​	</a:t>
            </a:r>
            <a:r>
              <a:rPr sz="2300" spc="-140" dirty="0">
                <a:solidFill>
                  <a:srgbClr val="464652"/>
                </a:solidFill>
                <a:latin typeface="Trebuchet MS"/>
                <a:cs typeface="Trebuchet MS"/>
              </a:rPr>
              <a:t>Event</a:t>
            </a:r>
            <a:r>
              <a:rPr sz="2300" spc="-320" dirty="0">
                <a:solidFill>
                  <a:srgbClr val="464652"/>
                </a:solidFill>
                <a:latin typeface="Trebuchet MS"/>
                <a:cs typeface="Trebuchet MS"/>
              </a:rPr>
              <a:t> </a:t>
            </a:r>
            <a:r>
              <a:rPr sz="2300" spc="-10" dirty="0">
                <a:solidFill>
                  <a:srgbClr val="464652"/>
                </a:solidFill>
                <a:latin typeface="Trebuchet MS"/>
                <a:cs typeface="Trebuchet MS"/>
              </a:rPr>
              <a:t>Target</a:t>
            </a:r>
            <a:endParaRPr sz="2300">
              <a:latin typeface="Trebuchet MS"/>
              <a:cs typeface="Trebuchet MS"/>
            </a:endParaRPr>
          </a:p>
          <a:p>
            <a:pPr marL="286385">
              <a:lnSpc>
                <a:spcPct val="100000"/>
              </a:lnSpc>
              <a:spcBef>
                <a:spcPts val="490"/>
              </a:spcBef>
              <a:tabLst>
                <a:tab pos="561340" algn="l"/>
              </a:tabLst>
            </a:pPr>
            <a:r>
              <a:rPr sz="1750" spc="-50" dirty="0">
                <a:solidFill>
                  <a:srgbClr val="9FB8CD"/>
                </a:solidFill>
                <a:latin typeface="Segoe UI Symbol"/>
                <a:cs typeface="Segoe UI Symbol"/>
              </a:rPr>
              <a:t>🞂</a:t>
            </a:r>
            <a:r>
              <a:rPr sz="1750" dirty="0">
                <a:solidFill>
                  <a:srgbClr val="9FB8CD"/>
                </a:solidFill>
                <a:latin typeface="Segoe UI Symbol"/>
                <a:cs typeface="Segoe UI Symbol"/>
              </a:rPr>
              <a:t>​	</a:t>
            </a:r>
            <a:r>
              <a:rPr sz="2300" spc="-140" dirty="0">
                <a:solidFill>
                  <a:srgbClr val="464652"/>
                </a:solidFill>
                <a:latin typeface="Trebuchet MS"/>
                <a:cs typeface="Trebuchet MS"/>
              </a:rPr>
              <a:t>Event</a:t>
            </a:r>
            <a:r>
              <a:rPr sz="2300" spc="-320" dirty="0">
                <a:solidFill>
                  <a:srgbClr val="464652"/>
                </a:solidFill>
                <a:latin typeface="Trebuchet MS"/>
                <a:cs typeface="Trebuchet MS"/>
              </a:rPr>
              <a:t> </a:t>
            </a:r>
            <a:r>
              <a:rPr sz="2300" spc="-20" dirty="0">
                <a:solidFill>
                  <a:srgbClr val="464652"/>
                </a:solidFill>
                <a:latin typeface="Trebuchet MS"/>
                <a:cs typeface="Trebuchet MS"/>
              </a:rPr>
              <a:t>Type</a:t>
            </a:r>
            <a:endParaRPr sz="23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90"/>
              </a:spcBef>
              <a:tabLst>
                <a:tab pos="286385" algn="l"/>
              </a:tabLst>
            </a:pPr>
            <a:r>
              <a:rPr sz="1950" spc="-50" dirty="0">
                <a:solidFill>
                  <a:srgbClr val="717BA2"/>
                </a:solidFill>
                <a:latin typeface="Segoe UI Symbol"/>
                <a:cs typeface="Segoe UI Symbol"/>
              </a:rPr>
              <a:t>🞂</a:t>
            </a:r>
            <a:r>
              <a:rPr sz="1950" dirty="0">
                <a:solidFill>
                  <a:srgbClr val="717BA2"/>
                </a:solidFill>
                <a:latin typeface="Segoe UI Symbol"/>
                <a:cs typeface="Segoe UI Symbol"/>
              </a:rPr>
              <a:t>​	</a:t>
            </a:r>
            <a:r>
              <a:rPr sz="2600" spc="-130" dirty="0">
                <a:latin typeface="Trebuchet MS"/>
                <a:cs typeface="Trebuchet MS"/>
              </a:rPr>
              <a:t>Usually</a:t>
            </a:r>
            <a:r>
              <a:rPr sz="2600" spc="-85" dirty="0">
                <a:latin typeface="Trebuchet MS"/>
                <a:cs typeface="Trebuchet MS"/>
              </a:rPr>
              <a:t> </a:t>
            </a:r>
            <a:r>
              <a:rPr sz="2600" spc="-155" dirty="0">
                <a:latin typeface="Trebuchet MS"/>
                <a:cs typeface="Trebuchet MS"/>
              </a:rPr>
              <a:t>generated</a:t>
            </a:r>
            <a:r>
              <a:rPr sz="2600" spc="-65" dirty="0">
                <a:latin typeface="Trebuchet MS"/>
                <a:cs typeface="Trebuchet MS"/>
              </a:rPr>
              <a:t> </a:t>
            </a:r>
            <a:r>
              <a:rPr sz="2600" spc="-190" dirty="0">
                <a:latin typeface="Trebuchet MS"/>
                <a:cs typeface="Trebuchet MS"/>
              </a:rPr>
              <a:t>after</a:t>
            </a:r>
            <a:r>
              <a:rPr sz="2600" spc="-55" dirty="0">
                <a:latin typeface="Trebuchet MS"/>
                <a:cs typeface="Trebuchet MS"/>
              </a:rPr>
              <a:t> </a:t>
            </a:r>
            <a:r>
              <a:rPr sz="2600" spc="-75" dirty="0">
                <a:latin typeface="Trebuchet MS"/>
                <a:cs typeface="Trebuchet MS"/>
              </a:rPr>
              <a:t>some</a:t>
            </a:r>
            <a:r>
              <a:rPr sz="2600" spc="-55" dirty="0">
                <a:latin typeface="Trebuchet MS"/>
                <a:cs typeface="Trebuchet MS"/>
              </a:rPr>
              <a:t> </a:t>
            </a:r>
            <a:r>
              <a:rPr sz="2600" spc="-70" dirty="0">
                <a:latin typeface="Trebuchet MS"/>
                <a:cs typeface="Trebuchet MS"/>
              </a:rPr>
              <a:t>user</a:t>
            </a:r>
            <a:r>
              <a:rPr sz="2600" spc="-55" dirty="0">
                <a:latin typeface="Trebuchet MS"/>
                <a:cs typeface="Trebuchet MS"/>
              </a:rPr>
              <a:t> </a:t>
            </a:r>
            <a:r>
              <a:rPr sz="2600" spc="-10" dirty="0">
                <a:latin typeface="Trebuchet MS"/>
                <a:cs typeface="Trebuchet MS"/>
              </a:rPr>
              <a:t>action</a:t>
            </a:r>
            <a:endParaRPr sz="26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  <a:tabLst>
                <a:tab pos="286385" algn="l"/>
              </a:tabLst>
            </a:pPr>
            <a:r>
              <a:rPr sz="1950" spc="-50" dirty="0">
                <a:solidFill>
                  <a:srgbClr val="717BA2"/>
                </a:solidFill>
                <a:latin typeface="Segoe UI Symbol"/>
                <a:cs typeface="Segoe UI Symbol"/>
              </a:rPr>
              <a:t>🞂</a:t>
            </a:r>
            <a:r>
              <a:rPr sz="1950" dirty="0">
                <a:solidFill>
                  <a:srgbClr val="717BA2"/>
                </a:solidFill>
                <a:latin typeface="Segoe UI Symbol"/>
                <a:cs typeface="Segoe UI Symbol"/>
              </a:rPr>
              <a:t>​	</a:t>
            </a:r>
            <a:r>
              <a:rPr sz="2600" spc="-155" dirty="0">
                <a:latin typeface="Trebuchet MS"/>
                <a:cs typeface="Trebuchet MS"/>
              </a:rPr>
              <a:t>Event</a:t>
            </a:r>
            <a:r>
              <a:rPr sz="2600" spc="-385" dirty="0">
                <a:latin typeface="Trebuchet MS"/>
                <a:cs typeface="Trebuchet MS"/>
              </a:rPr>
              <a:t> </a:t>
            </a:r>
            <a:r>
              <a:rPr sz="2600" spc="-10" dirty="0">
                <a:latin typeface="Trebuchet MS"/>
                <a:cs typeface="Trebuchet MS"/>
              </a:rPr>
              <a:t>Types</a:t>
            </a:r>
            <a:endParaRPr sz="26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  <a:tabLst>
                <a:tab pos="286385" algn="l"/>
              </a:tabLst>
            </a:pPr>
            <a:r>
              <a:rPr sz="1950" spc="-50" dirty="0">
                <a:solidFill>
                  <a:srgbClr val="717BA2"/>
                </a:solidFill>
                <a:latin typeface="Segoe UI Symbol"/>
                <a:cs typeface="Segoe UI Symbol"/>
              </a:rPr>
              <a:t>🞂</a:t>
            </a:r>
            <a:r>
              <a:rPr sz="1950" dirty="0">
                <a:solidFill>
                  <a:srgbClr val="717BA2"/>
                </a:solidFill>
                <a:latin typeface="Segoe UI Symbol"/>
                <a:cs typeface="Segoe UI Symbol"/>
              </a:rPr>
              <a:t>​	</a:t>
            </a:r>
            <a:r>
              <a:rPr sz="2600" spc="-135" dirty="0">
                <a:latin typeface="Trebuchet MS"/>
                <a:cs typeface="Trebuchet MS"/>
              </a:rPr>
              <a:t>You</a:t>
            </a:r>
            <a:r>
              <a:rPr sz="2600" spc="-70" dirty="0">
                <a:latin typeface="Trebuchet MS"/>
                <a:cs typeface="Trebuchet MS"/>
              </a:rPr>
              <a:t> </a:t>
            </a:r>
            <a:r>
              <a:rPr sz="2600" spc="-180" dirty="0">
                <a:latin typeface="Trebuchet MS"/>
                <a:cs typeface="Trebuchet MS"/>
              </a:rPr>
              <a:t>can</a:t>
            </a:r>
            <a:r>
              <a:rPr sz="2600" spc="-55" dirty="0">
                <a:latin typeface="Trebuchet MS"/>
                <a:cs typeface="Trebuchet MS"/>
              </a:rPr>
              <a:t> </a:t>
            </a:r>
            <a:r>
              <a:rPr sz="2600" spc="-185" dirty="0">
                <a:latin typeface="Trebuchet MS"/>
                <a:cs typeface="Trebuchet MS"/>
              </a:rPr>
              <a:t>define</a:t>
            </a:r>
            <a:r>
              <a:rPr sz="2600" spc="-65" dirty="0">
                <a:latin typeface="Trebuchet MS"/>
                <a:cs typeface="Trebuchet MS"/>
              </a:rPr>
              <a:t> </a:t>
            </a:r>
            <a:r>
              <a:rPr sz="2600" b="1" spc="-60" dirty="0">
                <a:latin typeface="Trebuchet MS"/>
                <a:cs typeface="Trebuchet MS"/>
              </a:rPr>
              <a:t>event</a:t>
            </a:r>
            <a:r>
              <a:rPr sz="2600" b="1" spc="-140" dirty="0">
                <a:latin typeface="Trebuchet MS"/>
                <a:cs typeface="Trebuchet MS"/>
              </a:rPr>
              <a:t> </a:t>
            </a:r>
            <a:r>
              <a:rPr sz="2600" b="1" spc="-10" dirty="0">
                <a:latin typeface="Trebuchet MS"/>
                <a:cs typeface="Trebuchet MS"/>
              </a:rPr>
              <a:t>handlers</a:t>
            </a:r>
            <a:r>
              <a:rPr sz="2600" b="1" spc="-95" dirty="0">
                <a:latin typeface="Trebuchet MS"/>
                <a:cs typeface="Trebuchet MS"/>
              </a:rPr>
              <a:t> </a:t>
            </a:r>
            <a:r>
              <a:rPr sz="2600" spc="-155" dirty="0">
                <a:latin typeface="Trebuchet MS"/>
                <a:cs typeface="Trebuchet MS"/>
              </a:rPr>
              <a:t>in</a:t>
            </a:r>
            <a:r>
              <a:rPr sz="2600" spc="-50" dirty="0">
                <a:latin typeface="Trebuchet MS"/>
                <a:cs typeface="Trebuchet MS"/>
              </a:rPr>
              <a:t> </a:t>
            </a:r>
            <a:r>
              <a:rPr sz="2600" spc="-70" dirty="0">
                <a:latin typeface="Trebuchet MS"/>
                <a:cs typeface="Trebuchet MS"/>
              </a:rPr>
              <a:t>your</a:t>
            </a:r>
            <a:r>
              <a:rPr sz="2600" spc="-95" dirty="0">
                <a:latin typeface="Trebuchet MS"/>
                <a:cs typeface="Trebuchet MS"/>
              </a:rPr>
              <a:t> </a:t>
            </a:r>
            <a:r>
              <a:rPr sz="2600" spc="-140" dirty="0">
                <a:latin typeface="Trebuchet MS"/>
                <a:cs typeface="Trebuchet MS"/>
              </a:rPr>
              <a:t>application</a:t>
            </a:r>
            <a:endParaRPr sz="26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4151" y="6432803"/>
            <a:ext cx="120396" cy="190499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192023" y="1351788"/>
            <a:ext cx="8786495" cy="4819650"/>
            <a:chOff x="192023" y="1351788"/>
            <a:chExt cx="8786495" cy="4819650"/>
          </a:xfrm>
        </p:grpSpPr>
        <p:pic>
          <p:nvPicPr>
            <p:cNvPr id="4" name="object 4" descr="Description of Figure 1-1 follows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58515" y="3322707"/>
              <a:ext cx="5619750" cy="284834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2023" y="1351788"/>
              <a:ext cx="6274308" cy="222046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803903" y="1559052"/>
              <a:ext cx="4141470" cy="1578102"/>
            </a:xfrm>
            <a:prstGeom prst="rect">
              <a:avLst/>
            </a:prstGeom>
          </p:spPr>
        </p:pic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220" dirty="0"/>
              <a:t>What</a:t>
            </a:r>
            <a:r>
              <a:rPr spc="315" dirty="0"/>
              <a:t> </a:t>
            </a:r>
            <a:r>
              <a:rPr spc="175" dirty="0"/>
              <a:t>is</a:t>
            </a:r>
            <a:r>
              <a:rPr spc="325" dirty="0"/>
              <a:t> </a:t>
            </a:r>
            <a:r>
              <a:rPr spc="295" dirty="0"/>
              <a:t>an</a:t>
            </a:r>
            <a:r>
              <a:rPr spc="325" dirty="0"/>
              <a:t> </a:t>
            </a:r>
            <a:r>
              <a:rPr spc="160" dirty="0"/>
              <a:t>event?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xfrm>
            <a:off x="4229227" y="6395259"/>
            <a:ext cx="2094864" cy="21608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it-IT" spc="-95" dirty="0" err="1"/>
              <a:t>JavaFX</a:t>
            </a:r>
            <a:endParaRPr spc="-6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4151" y="6432803"/>
            <a:ext cx="120650" cy="190500"/>
          </a:xfrm>
          <a:custGeom>
            <a:avLst/>
            <a:gdLst/>
            <a:ahLst/>
            <a:cxnLst/>
            <a:rect l="l" t="t" r="r" b="b"/>
            <a:pathLst>
              <a:path w="120650" h="190500">
                <a:moveTo>
                  <a:pt x="0" y="0"/>
                </a:moveTo>
                <a:lnTo>
                  <a:pt x="0" y="190500"/>
                </a:lnTo>
                <a:lnTo>
                  <a:pt x="120396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9FB8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204" dirty="0"/>
              <a:t>Event</a:t>
            </a:r>
            <a:r>
              <a:rPr spc="295" dirty="0"/>
              <a:t> </a:t>
            </a:r>
            <a:r>
              <a:rPr spc="145" dirty="0"/>
              <a:t>types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4796" y="1238601"/>
            <a:ext cx="7074408" cy="491835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867402" y="179323"/>
            <a:ext cx="35109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u="sng" spc="-110" dirty="0">
                <a:solidFill>
                  <a:srgbClr val="B192C9"/>
                </a:solidFill>
                <a:uFill>
                  <a:solidFill>
                    <a:srgbClr val="B192C9"/>
                  </a:solidFill>
                </a:uFill>
                <a:latin typeface="Trebuchet MS"/>
                <a:cs typeface="Trebuchet MS"/>
                <a:hlinkClick r:id="rId3"/>
              </a:rPr>
              <a:t>http://falkhausen.de/JavaFX-8/event/Event-</a:t>
            </a:r>
            <a:r>
              <a:rPr sz="1200" u="sng" spc="-60" dirty="0">
                <a:solidFill>
                  <a:srgbClr val="B192C9"/>
                </a:solidFill>
                <a:uFill>
                  <a:solidFill>
                    <a:srgbClr val="B192C9"/>
                  </a:solidFill>
                </a:uFill>
                <a:latin typeface="Trebuchet MS"/>
                <a:cs typeface="Trebuchet MS"/>
                <a:hlinkClick r:id="rId3"/>
              </a:rPr>
              <a:t>Hierarchy.html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xfrm>
            <a:off x="4229227" y="6395259"/>
            <a:ext cx="2094864" cy="21608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it-IT" spc="-95" dirty="0" err="1"/>
              <a:t>JavaFX</a:t>
            </a:r>
            <a:endParaRPr spc="-6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4151" y="6432803"/>
            <a:ext cx="120650" cy="190500"/>
          </a:xfrm>
          <a:custGeom>
            <a:avLst/>
            <a:gdLst/>
            <a:ahLst/>
            <a:cxnLst/>
            <a:rect l="l" t="t" r="r" b="b"/>
            <a:pathLst>
              <a:path w="120650" h="190500">
                <a:moveTo>
                  <a:pt x="0" y="0"/>
                </a:moveTo>
                <a:lnTo>
                  <a:pt x="0" y="190500"/>
                </a:lnTo>
                <a:lnTo>
                  <a:pt x="120396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9FB8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80" dirty="0"/>
              <a:t>Defining</a:t>
            </a:r>
            <a:r>
              <a:rPr spc="335" dirty="0"/>
              <a:t> </a:t>
            </a:r>
            <a:r>
              <a:rPr spc="280" dirty="0"/>
              <a:t>a</a:t>
            </a:r>
            <a:r>
              <a:rPr spc="345" dirty="0"/>
              <a:t> </a:t>
            </a:r>
            <a:r>
              <a:rPr spc="150" dirty="0"/>
              <a:t>Controller</a:t>
            </a:r>
            <a:r>
              <a:rPr spc="305" dirty="0"/>
              <a:t> </a:t>
            </a:r>
            <a:r>
              <a:rPr spc="220" dirty="0"/>
              <a:t>class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35940" y="1234186"/>
            <a:ext cx="8112759" cy="22474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319405" indent="-274320">
              <a:lnSpc>
                <a:spcPct val="100000"/>
              </a:lnSpc>
              <a:spcBef>
                <a:spcPts val="105"/>
              </a:spcBef>
              <a:tabLst>
                <a:tab pos="286385" algn="l"/>
              </a:tabLst>
            </a:pPr>
            <a:r>
              <a:rPr sz="1950" spc="-50" dirty="0">
                <a:solidFill>
                  <a:srgbClr val="717BA2"/>
                </a:solidFill>
                <a:latin typeface="Segoe UI Symbol"/>
                <a:cs typeface="Segoe UI Symbol"/>
              </a:rPr>
              <a:t>🞂</a:t>
            </a:r>
            <a:r>
              <a:rPr sz="1950" dirty="0">
                <a:solidFill>
                  <a:srgbClr val="717BA2"/>
                </a:solidFill>
                <a:latin typeface="Segoe UI Symbol"/>
                <a:cs typeface="Segoe UI Symbol"/>
              </a:rPr>
              <a:t>​	</a:t>
            </a:r>
            <a:r>
              <a:rPr sz="2600" spc="-60" dirty="0">
                <a:latin typeface="Trebuchet MS"/>
                <a:cs typeface="Trebuchet MS"/>
              </a:rPr>
              <a:t>The</a:t>
            </a:r>
            <a:r>
              <a:rPr sz="2600" spc="-50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Root</a:t>
            </a:r>
            <a:r>
              <a:rPr sz="2600" spc="-55" dirty="0">
                <a:latin typeface="Trebuchet MS"/>
                <a:cs typeface="Trebuchet MS"/>
              </a:rPr>
              <a:t> </a:t>
            </a:r>
            <a:r>
              <a:rPr sz="2600" spc="-175" dirty="0">
                <a:latin typeface="Trebuchet MS"/>
                <a:cs typeface="Trebuchet MS"/>
              </a:rPr>
              <a:t>element</a:t>
            </a:r>
            <a:r>
              <a:rPr sz="2600" spc="-50" dirty="0">
                <a:latin typeface="Trebuchet MS"/>
                <a:cs typeface="Trebuchet MS"/>
              </a:rPr>
              <a:t> </a:t>
            </a:r>
            <a:r>
              <a:rPr sz="2600" spc="-145" dirty="0">
                <a:latin typeface="Trebuchet MS"/>
                <a:cs typeface="Trebuchet MS"/>
              </a:rPr>
              <a:t>of</a:t>
            </a:r>
            <a:r>
              <a:rPr sz="2600" spc="-65" dirty="0">
                <a:latin typeface="Trebuchet MS"/>
                <a:cs typeface="Trebuchet MS"/>
              </a:rPr>
              <a:t> </a:t>
            </a:r>
            <a:r>
              <a:rPr sz="2600" spc="-160" dirty="0">
                <a:latin typeface="Trebuchet MS"/>
                <a:cs typeface="Trebuchet MS"/>
              </a:rPr>
              <a:t>the</a:t>
            </a:r>
            <a:r>
              <a:rPr sz="2600" spc="-55" dirty="0">
                <a:latin typeface="Trebuchet MS"/>
                <a:cs typeface="Trebuchet MS"/>
              </a:rPr>
              <a:t> </a:t>
            </a:r>
            <a:r>
              <a:rPr sz="2600" spc="-140" dirty="0">
                <a:latin typeface="Trebuchet MS"/>
                <a:cs typeface="Trebuchet MS"/>
              </a:rPr>
              <a:t>scene</a:t>
            </a:r>
            <a:r>
              <a:rPr sz="2600" spc="-55" dirty="0">
                <a:latin typeface="Trebuchet MS"/>
                <a:cs typeface="Trebuchet MS"/>
              </a:rPr>
              <a:t> </a:t>
            </a:r>
            <a:r>
              <a:rPr sz="2600" spc="-155" dirty="0">
                <a:latin typeface="Trebuchet MS"/>
                <a:cs typeface="Trebuchet MS"/>
              </a:rPr>
              <a:t>graph</a:t>
            </a:r>
            <a:r>
              <a:rPr sz="2600" spc="-70" dirty="0">
                <a:latin typeface="Trebuchet MS"/>
                <a:cs typeface="Trebuchet MS"/>
              </a:rPr>
              <a:t> </a:t>
            </a:r>
            <a:r>
              <a:rPr sz="2600" spc="-240" dirty="0">
                <a:latin typeface="Trebuchet MS"/>
                <a:cs typeface="Trebuchet MS"/>
              </a:rPr>
              <a:t>may</a:t>
            </a:r>
            <a:r>
              <a:rPr sz="2600" spc="-55" dirty="0">
                <a:latin typeface="Trebuchet MS"/>
                <a:cs typeface="Trebuchet MS"/>
              </a:rPr>
              <a:t> </a:t>
            </a:r>
            <a:r>
              <a:rPr sz="2600" spc="-175" dirty="0">
                <a:latin typeface="Trebuchet MS"/>
                <a:cs typeface="Trebuchet MS"/>
              </a:rPr>
              <a:t>specify</a:t>
            </a:r>
            <a:r>
              <a:rPr sz="2600" spc="-55" dirty="0">
                <a:latin typeface="Trebuchet MS"/>
                <a:cs typeface="Trebuchet MS"/>
              </a:rPr>
              <a:t> </a:t>
            </a:r>
            <a:r>
              <a:rPr sz="2600" spc="-260" dirty="0">
                <a:latin typeface="Trebuchet MS"/>
                <a:cs typeface="Trebuchet MS"/>
              </a:rPr>
              <a:t>a</a:t>
            </a:r>
            <a:r>
              <a:rPr sz="2600" spc="-50" dirty="0">
                <a:latin typeface="Trebuchet MS"/>
                <a:cs typeface="Trebuchet MS"/>
              </a:rPr>
              <a:t> </a:t>
            </a:r>
            <a:r>
              <a:rPr sz="2600" b="1" spc="-25" dirty="0">
                <a:latin typeface="Consolas"/>
                <a:cs typeface="Consolas"/>
              </a:rPr>
              <a:t>fx: </a:t>
            </a:r>
            <a:r>
              <a:rPr sz="2600" b="1" spc="-10" dirty="0">
                <a:latin typeface="Consolas"/>
                <a:cs typeface="Consolas"/>
              </a:rPr>
              <a:t>controller</a:t>
            </a:r>
            <a:r>
              <a:rPr sz="2600" b="1" spc="-695" dirty="0">
                <a:latin typeface="Consolas"/>
                <a:cs typeface="Consolas"/>
              </a:rPr>
              <a:t> </a:t>
            </a:r>
            <a:r>
              <a:rPr sz="2600" spc="-40" dirty="0">
                <a:latin typeface="Trebuchet MS"/>
                <a:cs typeface="Trebuchet MS"/>
              </a:rPr>
              <a:t>attribute</a:t>
            </a:r>
            <a:endParaRPr sz="2600" dirty="0">
              <a:latin typeface="Trebuchet MS"/>
              <a:cs typeface="Trebuchet MS"/>
            </a:endParaRPr>
          </a:p>
          <a:p>
            <a:pPr marL="561340" marR="5136515" indent="-274955">
              <a:lnSpc>
                <a:spcPct val="100000"/>
              </a:lnSpc>
              <a:spcBef>
                <a:spcPts val="505"/>
              </a:spcBef>
              <a:tabLst>
                <a:tab pos="561340" algn="l"/>
              </a:tabLst>
            </a:pPr>
            <a:r>
              <a:rPr sz="1750" spc="-50" dirty="0">
                <a:solidFill>
                  <a:srgbClr val="9FB8CD"/>
                </a:solidFill>
                <a:latin typeface="Segoe UI Symbol"/>
                <a:cs typeface="Segoe UI Symbol"/>
              </a:rPr>
              <a:t>🞂</a:t>
            </a:r>
            <a:r>
              <a:rPr sz="1750" dirty="0">
                <a:solidFill>
                  <a:srgbClr val="9FB8CD"/>
                </a:solidFill>
                <a:latin typeface="Segoe UI Symbol"/>
                <a:cs typeface="Segoe UI Symbol"/>
              </a:rPr>
              <a:t>​	</a:t>
            </a:r>
            <a:r>
              <a:rPr sz="2300" spc="-10" dirty="0">
                <a:solidFill>
                  <a:srgbClr val="464652"/>
                </a:solidFill>
                <a:latin typeface="Consolas"/>
                <a:cs typeface="Consolas"/>
              </a:rPr>
              <a:t>&lt;BorderPane id="BorderPane"</a:t>
            </a:r>
            <a:endParaRPr sz="2300" dirty="0">
              <a:latin typeface="Consolas"/>
              <a:cs typeface="Consolas"/>
            </a:endParaRPr>
          </a:p>
          <a:p>
            <a:pPr marL="561340">
              <a:lnSpc>
                <a:spcPct val="100000"/>
              </a:lnSpc>
            </a:pPr>
            <a:r>
              <a:rPr sz="2300" spc="-10" dirty="0">
                <a:solidFill>
                  <a:srgbClr val="464652"/>
                </a:solidFill>
                <a:latin typeface="Consolas"/>
                <a:cs typeface="Consolas"/>
              </a:rPr>
              <a:t>xmlns:fx="</a:t>
            </a:r>
            <a:r>
              <a:rPr sz="2300" spc="-10" dirty="0">
                <a:solidFill>
                  <a:srgbClr val="464652"/>
                </a:solidFill>
                <a:latin typeface="Consolas"/>
                <a:cs typeface="Consolas"/>
                <a:hlinkClick r:id="rId2"/>
              </a:rPr>
              <a:t>http://javafx.com/fxml</a:t>
            </a:r>
            <a:r>
              <a:rPr sz="2300" spc="-10" dirty="0">
                <a:solidFill>
                  <a:srgbClr val="464652"/>
                </a:solidFill>
                <a:latin typeface="Consolas"/>
                <a:cs typeface="Consolas"/>
              </a:rPr>
              <a:t>"</a:t>
            </a:r>
            <a:endParaRPr sz="2300" dirty="0">
              <a:latin typeface="Consolas"/>
              <a:cs typeface="Consolas"/>
            </a:endParaRPr>
          </a:p>
          <a:p>
            <a:pPr marL="561340">
              <a:lnSpc>
                <a:spcPct val="100000"/>
              </a:lnSpc>
              <a:spcBef>
                <a:spcPts val="10"/>
              </a:spcBef>
            </a:pPr>
            <a:r>
              <a:rPr sz="2000" b="1" spc="-10" dirty="0">
                <a:solidFill>
                  <a:srgbClr val="464652"/>
                </a:solidFill>
                <a:latin typeface="Consolas"/>
                <a:cs typeface="Consolas"/>
              </a:rPr>
              <a:t>fx:controller="it.</a:t>
            </a:r>
            <a:r>
              <a:rPr lang="it-IT" sz="2000" b="1" spc="-10" dirty="0" err="1">
                <a:solidFill>
                  <a:srgbClr val="464652"/>
                </a:solidFill>
                <a:latin typeface="Consolas"/>
                <a:cs typeface="Consolas"/>
              </a:rPr>
              <a:t>pr.itis</a:t>
            </a:r>
            <a:r>
              <a:rPr sz="2000" b="1" spc="-10" dirty="0">
                <a:solidFill>
                  <a:srgbClr val="464652"/>
                </a:solidFill>
                <a:latin typeface="Consolas"/>
                <a:cs typeface="Consolas"/>
              </a:rPr>
              <a:t>.</a:t>
            </a:r>
            <a:r>
              <a:rPr lang="it-IT" sz="2000" b="1" spc="-10" dirty="0">
                <a:solidFill>
                  <a:srgbClr val="464652"/>
                </a:solidFill>
                <a:latin typeface="Consolas"/>
                <a:cs typeface="Consolas"/>
              </a:rPr>
              <a:t>informatica</a:t>
            </a:r>
            <a:r>
              <a:rPr sz="2000" b="1" spc="-10" dirty="0">
                <a:solidFill>
                  <a:srgbClr val="464652"/>
                </a:solidFill>
                <a:latin typeface="Consolas"/>
                <a:cs typeface="Consolas"/>
              </a:rPr>
              <a:t>.</a:t>
            </a:r>
            <a:r>
              <a:rPr lang="it-IT" sz="2000" b="1" spc="-10" dirty="0">
                <a:solidFill>
                  <a:srgbClr val="464652"/>
                </a:solidFill>
                <a:latin typeface="Consolas"/>
                <a:cs typeface="Consolas"/>
              </a:rPr>
              <a:t>Mio</a:t>
            </a:r>
            <a:r>
              <a:rPr sz="2000" b="1" spc="-10" dirty="0">
                <a:solidFill>
                  <a:srgbClr val="464652"/>
                </a:solidFill>
                <a:latin typeface="Consolas"/>
                <a:cs typeface="Consolas"/>
              </a:rPr>
              <a:t>Controller"</a:t>
            </a:r>
            <a:r>
              <a:rPr sz="2000" spc="-10" dirty="0">
                <a:solidFill>
                  <a:srgbClr val="464652"/>
                </a:solidFill>
                <a:latin typeface="Consolas"/>
                <a:cs typeface="Consolas"/>
              </a:rPr>
              <a:t>&gt;</a:t>
            </a:r>
            <a:endParaRPr sz="2000" dirty="0">
              <a:latin typeface="Consolas"/>
              <a:cs typeface="Consolas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xfrm>
            <a:off x="4229227" y="6395259"/>
            <a:ext cx="2094864" cy="21608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it-IT" spc="-95" dirty="0" err="1"/>
              <a:t>JavaFX</a:t>
            </a:r>
            <a:endParaRPr spc="-6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4151" y="6432803"/>
            <a:ext cx="120650" cy="190500"/>
          </a:xfrm>
          <a:custGeom>
            <a:avLst/>
            <a:gdLst/>
            <a:ahLst/>
            <a:cxnLst/>
            <a:rect l="l" t="t" r="r" b="b"/>
            <a:pathLst>
              <a:path w="120650" h="190500">
                <a:moveTo>
                  <a:pt x="0" y="0"/>
                </a:moveTo>
                <a:lnTo>
                  <a:pt x="0" y="190500"/>
                </a:lnTo>
                <a:lnTo>
                  <a:pt x="120396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9FB8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55" dirty="0"/>
              <a:t>Injection</a:t>
            </a:r>
            <a:r>
              <a:rPr spc="305" dirty="0"/>
              <a:t> </a:t>
            </a:r>
            <a:r>
              <a:rPr spc="65" dirty="0"/>
              <a:t>of</a:t>
            </a:r>
            <a:r>
              <a:rPr spc="315" dirty="0"/>
              <a:t> </a:t>
            </a:r>
            <a:r>
              <a:rPr spc="140" dirty="0"/>
              <a:t>Node</a:t>
            </a:r>
            <a:r>
              <a:rPr spc="305" dirty="0"/>
              <a:t> </a:t>
            </a:r>
            <a:r>
              <a:rPr spc="130" dirty="0"/>
              <a:t>references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19</a:t>
            </a:fld>
            <a:endParaRPr spc="-25" dirty="0"/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xfrm>
            <a:off x="4229227" y="6395259"/>
            <a:ext cx="2094864" cy="21608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it-IT" spc="-95" dirty="0" err="1"/>
              <a:t>JavaFX</a:t>
            </a:r>
            <a:endParaRPr spc="-65" dirty="0"/>
          </a:p>
        </p:txBody>
      </p:sp>
      <p:sp>
        <p:nvSpPr>
          <p:cNvPr id="4" name="object 4"/>
          <p:cNvSpPr txBox="1"/>
          <p:nvPr/>
        </p:nvSpPr>
        <p:spPr>
          <a:xfrm>
            <a:off x="535940" y="1238757"/>
            <a:ext cx="8012430" cy="2952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5080" indent="-274320">
              <a:lnSpc>
                <a:spcPct val="100000"/>
              </a:lnSpc>
              <a:spcBef>
                <a:spcPts val="105"/>
              </a:spcBef>
              <a:tabLst>
                <a:tab pos="286385" algn="l"/>
              </a:tabLst>
            </a:pPr>
            <a:r>
              <a:rPr sz="1950" spc="-50" dirty="0">
                <a:solidFill>
                  <a:srgbClr val="717BA2"/>
                </a:solidFill>
                <a:latin typeface="Segoe UI Symbol"/>
                <a:cs typeface="Segoe UI Symbol"/>
              </a:rPr>
              <a:t>🞂</a:t>
            </a:r>
            <a:r>
              <a:rPr sz="1950" dirty="0">
                <a:solidFill>
                  <a:srgbClr val="717BA2"/>
                </a:solidFill>
                <a:latin typeface="Segoe UI Symbol"/>
                <a:cs typeface="Segoe UI Symbol"/>
              </a:rPr>
              <a:t>​	</a:t>
            </a:r>
            <a:r>
              <a:rPr sz="2600" spc="-60" dirty="0">
                <a:latin typeface="Trebuchet MS"/>
                <a:cs typeface="Trebuchet MS"/>
              </a:rPr>
              <a:t>The</a:t>
            </a:r>
            <a:r>
              <a:rPr sz="2600" spc="-25" dirty="0">
                <a:latin typeface="Trebuchet MS"/>
                <a:cs typeface="Trebuchet MS"/>
              </a:rPr>
              <a:t> </a:t>
            </a:r>
            <a:r>
              <a:rPr sz="2600" spc="-110" dirty="0">
                <a:latin typeface="Trebuchet MS"/>
                <a:cs typeface="Trebuchet MS"/>
              </a:rPr>
              <a:t>controller</a:t>
            </a:r>
            <a:r>
              <a:rPr sz="2600" spc="-55" dirty="0">
                <a:latin typeface="Trebuchet MS"/>
                <a:cs typeface="Trebuchet MS"/>
              </a:rPr>
              <a:t> </a:t>
            </a:r>
            <a:r>
              <a:rPr sz="2600" spc="-114" dirty="0">
                <a:latin typeface="Trebuchet MS"/>
                <a:cs typeface="Trebuchet MS"/>
              </a:rPr>
              <a:t>code</a:t>
            </a:r>
            <a:r>
              <a:rPr sz="2600" spc="-40" dirty="0">
                <a:latin typeface="Trebuchet MS"/>
                <a:cs typeface="Trebuchet MS"/>
              </a:rPr>
              <a:t> </a:t>
            </a:r>
            <a:r>
              <a:rPr sz="2600" spc="-240" dirty="0">
                <a:latin typeface="Trebuchet MS"/>
                <a:cs typeface="Trebuchet MS"/>
              </a:rPr>
              <a:t>may</a:t>
            </a:r>
            <a:r>
              <a:rPr sz="2600" spc="-30" dirty="0">
                <a:latin typeface="Trebuchet MS"/>
                <a:cs typeface="Trebuchet MS"/>
              </a:rPr>
              <a:t> </a:t>
            </a:r>
            <a:r>
              <a:rPr sz="2600" spc="-160" dirty="0">
                <a:latin typeface="Trebuchet MS"/>
                <a:cs typeface="Trebuchet MS"/>
              </a:rPr>
              <a:t>directly</a:t>
            </a:r>
            <a:r>
              <a:rPr sz="2600" spc="-60" dirty="0">
                <a:latin typeface="Trebuchet MS"/>
                <a:cs typeface="Trebuchet MS"/>
              </a:rPr>
              <a:t> </a:t>
            </a:r>
            <a:r>
              <a:rPr sz="2600" spc="-140" dirty="0">
                <a:latin typeface="Trebuchet MS"/>
                <a:cs typeface="Trebuchet MS"/>
              </a:rPr>
              <a:t>access</a:t>
            </a:r>
            <a:r>
              <a:rPr sz="2600" spc="-35" dirty="0">
                <a:latin typeface="Trebuchet MS"/>
                <a:cs typeface="Trebuchet MS"/>
              </a:rPr>
              <a:t> </a:t>
            </a:r>
            <a:r>
              <a:rPr sz="2600" spc="-110" dirty="0">
                <a:latin typeface="Trebuchet MS"/>
                <a:cs typeface="Trebuchet MS"/>
              </a:rPr>
              <a:t>various</a:t>
            </a:r>
            <a:r>
              <a:rPr sz="2600" spc="-55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Nodes</a:t>
            </a:r>
            <a:r>
              <a:rPr sz="2600" spc="-30" dirty="0">
                <a:latin typeface="Trebuchet MS"/>
                <a:cs typeface="Trebuchet MS"/>
              </a:rPr>
              <a:t> </a:t>
            </a:r>
            <a:r>
              <a:rPr sz="2600" spc="-25" dirty="0">
                <a:latin typeface="Trebuchet MS"/>
                <a:cs typeface="Trebuchet MS"/>
              </a:rPr>
              <a:t>in </a:t>
            </a:r>
            <a:r>
              <a:rPr sz="2600" spc="-160" dirty="0">
                <a:latin typeface="Trebuchet MS"/>
                <a:cs typeface="Trebuchet MS"/>
              </a:rPr>
              <a:t>the</a:t>
            </a:r>
            <a:r>
              <a:rPr sz="2600" spc="-15" dirty="0">
                <a:latin typeface="Trebuchet MS"/>
                <a:cs typeface="Trebuchet MS"/>
              </a:rPr>
              <a:t> </a:t>
            </a:r>
            <a:r>
              <a:rPr sz="2600" spc="-150" dirty="0">
                <a:latin typeface="Trebuchet MS"/>
                <a:cs typeface="Trebuchet MS"/>
              </a:rPr>
              <a:t>associated</a:t>
            </a:r>
            <a:r>
              <a:rPr sz="2600" spc="-30" dirty="0">
                <a:latin typeface="Trebuchet MS"/>
                <a:cs typeface="Trebuchet MS"/>
              </a:rPr>
              <a:t> </a:t>
            </a:r>
            <a:r>
              <a:rPr sz="2600" spc="-140" dirty="0">
                <a:latin typeface="Trebuchet MS"/>
                <a:cs typeface="Trebuchet MS"/>
              </a:rPr>
              <a:t>scene</a:t>
            </a:r>
            <a:r>
              <a:rPr sz="2600" spc="-15" dirty="0">
                <a:latin typeface="Trebuchet MS"/>
                <a:cs typeface="Trebuchet MS"/>
              </a:rPr>
              <a:t> </a:t>
            </a:r>
            <a:r>
              <a:rPr sz="2600" spc="-10" dirty="0">
                <a:latin typeface="Trebuchet MS"/>
                <a:cs typeface="Trebuchet MS"/>
              </a:rPr>
              <a:t>graph</a:t>
            </a:r>
            <a:endParaRPr sz="2600">
              <a:latin typeface="Trebuchet MS"/>
              <a:cs typeface="Trebuchet MS"/>
            </a:endParaRPr>
          </a:p>
          <a:p>
            <a:pPr marL="286385" marR="164465" indent="-274320">
              <a:lnSpc>
                <a:spcPct val="100000"/>
              </a:lnSpc>
              <a:spcBef>
                <a:spcPts val="600"/>
              </a:spcBef>
              <a:tabLst>
                <a:tab pos="286385" algn="l"/>
              </a:tabLst>
            </a:pPr>
            <a:r>
              <a:rPr sz="1950" spc="-50" dirty="0">
                <a:solidFill>
                  <a:srgbClr val="717BA2"/>
                </a:solidFill>
                <a:latin typeface="Segoe UI Symbol"/>
                <a:cs typeface="Segoe UI Symbol"/>
              </a:rPr>
              <a:t>🞂</a:t>
            </a:r>
            <a:r>
              <a:rPr sz="1950" dirty="0">
                <a:solidFill>
                  <a:srgbClr val="717BA2"/>
                </a:solidFill>
                <a:latin typeface="Segoe UI Symbol"/>
                <a:cs typeface="Segoe UI Symbol"/>
              </a:rPr>
              <a:t>​	</a:t>
            </a:r>
            <a:r>
              <a:rPr sz="2600" spc="-60" dirty="0">
                <a:latin typeface="Trebuchet MS"/>
                <a:cs typeface="Trebuchet MS"/>
              </a:rPr>
              <a:t>The</a:t>
            </a:r>
            <a:r>
              <a:rPr sz="2600" spc="-20" dirty="0">
                <a:latin typeface="Trebuchet MS"/>
                <a:cs typeface="Trebuchet MS"/>
              </a:rPr>
              <a:t> </a:t>
            </a:r>
            <a:r>
              <a:rPr sz="2600" spc="-160" dirty="0">
                <a:latin typeface="Trebuchet MS"/>
                <a:cs typeface="Trebuchet MS"/>
              </a:rPr>
              <a:t>attribute</a:t>
            </a:r>
            <a:r>
              <a:rPr sz="2600" spc="-60" dirty="0">
                <a:latin typeface="Trebuchet MS"/>
                <a:cs typeface="Trebuchet MS"/>
              </a:rPr>
              <a:t> </a:t>
            </a:r>
            <a:r>
              <a:rPr sz="2600" spc="195" dirty="0">
                <a:latin typeface="Trebuchet MS"/>
                <a:cs typeface="Trebuchet MS"/>
              </a:rPr>
              <a:t>@FXML</a:t>
            </a:r>
            <a:r>
              <a:rPr sz="2600" spc="-50" dirty="0">
                <a:latin typeface="Trebuchet MS"/>
                <a:cs typeface="Trebuchet MS"/>
              </a:rPr>
              <a:t> </a:t>
            </a:r>
            <a:r>
              <a:rPr sz="2600" spc="-140" dirty="0">
                <a:latin typeface="Trebuchet MS"/>
                <a:cs typeface="Trebuchet MS"/>
              </a:rPr>
              <a:t>associates</a:t>
            </a:r>
            <a:r>
              <a:rPr sz="2600" spc="-30" dirty="0">
                <a:latin typeface="Trebuchet MS"/>
                <a:cs typeface="Trebuchet MS"/>
              </a:rPr>
              <a:t> </a:t>
            </a:r>
            <a:r>
              <a:rPr sz="2600" spc="-260" dirty="0">
                <a:latin typeface="Trebuchet MS"/>
                <a:cs typeface="Trebuchet MS"/>
              </a:rPr>
              <a:t>a</a:t>
            </a:r>
            <a:r>
              <a:rPr sz="2600" spc="-20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Node</a:t>
            </a:r>
            <a:r>
              <a:rPr sz="2600" spc="-25" dirty="0">
                <a:latin typeface="Trebuchet MS"/>
                <a:cs typeface="Trebuchet MS"/>
              </a:rPr>
              <a:t> </a:t>
            </a:r>
            <a:r>
              <a:rPr sz="2600" spc="-180" dirty="0">
                <a:latin typeface="Trebuchet MS"/>
                <a:cs typeface="Trebuchet MS"/>
              </a:rPr>
              <a:t>variable</a:t>
            </a:r>
            <a:r>
              <a:rPr sz="2600" spc="-50" dirty="0">
                <a:latin typeface="Trebuchet MS"/>
                <a:cs typeface="Trebuchet MS"/>
              </a:rPr>
              <a:t> </a:t>
            </a:r>
            <a:r>
              <a:rPr sz="2600" spc="-20" dirty="0">
                <a:latin typeface="Trebuchet MS"/>
                <a:cs typeface="Trebuchet MS"/>
              </a:rPr>
              <a:t>with </a:t>
            </a:r>
            <a:r>
              <a:rPr sz="2600" spc="-160" dirty="0">
                <a:latin typeface="Trebuchet MS"/>
                <a:cs typeface="Trebuchet MS"/>
              </a:rPr>
              <a:t>the</a:t>
            </a:r>
            <a:r>
              <a:rPr sz="2600" spc="-30" dirty="0">
                <a:latin typeface="Trebuchet MS"/>
                <a:cs typeface="Trebuchet MS"/>
              </a:rPr>
              <a:t> </a:t>
            </a:r>
            <a:r>
              <a:rPr sz="2600" spc="-105" dirty="0">
                <a:latin typeface="Trebuchet MS"/>
                <a:cs typeface="Trebuchet MS"/>
              </a:rPr>
              <a:t>corresponding</a:t>
            </a:r>
            <a:r>
              <a:rPr sz="2600" spc="-60" dirty="0">
                <a:latin typeface="Trebuchet MS"/>
                <a:cs typeface="Trebuchet MS"/>
              </a:rPr>
              <a:t> </a:t>
            </a:r>
            <a:r>
              <a:rPr sz="2600" spc="-160" dirty="0">
                <a:latin typeface="Trebuchet MS"/>
                <a:cs typeface="Trebuchet MS"/>
              </a:rPr>
              <a:t>node,</a:t>
            </a:r>
            <a:r>
              <a:rPr sz="2600" spc="-315" dirty="0">
                <a:latin typeface="Trebuchet MS"/>
                <a:cs typeface="Trebuchet MS"/>
              </a:rPr>
              <a:t> </a:t>
            </a:r>
            <a:r>
              <a:rPr sz="2600" spc="-135" dirty="0">
                <a:latin typeface="Trebuchet MS"/>
                <a:cs typeface="Trebuchet MS"/>
              </a:rPr>
              <a:t>with</a:t>
            </a:r>
            <a:r>
              <a:rPr sz="2600" spc="-30" dirty="0">
                <a:latin typeface="Trebuchet MS"/>
                <a:cs typeface="Trebuchet MS"/>
              </a:rPr>
              <a:t> </a:t>
            </a:r>
            <a:r>
              <a:rPr sz="2600" spc="-160" dirty="0">
                <a:latin typeface="Trebuchet MS"/>
                <a:cs typeface="Trebuchet MS"/>
              </a:rPr>
              <a:t>the</a:t>
            </a:r>
            <a:r>
              <a:rPr sz="2600" spc="-30" dirty="0">
                <a:latin typeface="Trebuchet MS"/>
                <a:cs typeface="Trebuchet MS"/>
              </a:rPr>
              <a:t> </a:t>
            </a:r>
            <a:r>
              <a:rPr sz="2600" spc="-170" dirty="0">
                <a:latin typeface="Trebuchet MS"/>
                <a:cs typeface="Trebuchet MS"/>
              </a:rPr>
              <a:t>same</a:t>
            </a:r>
            <a:r>
              <a:rPr sz="2600" spc="-25" dirty="0">
                <a:latin typeface="Trebuchet MS"/>
                <a:cs typeface="Trebuchet MS"/>
              </a:rPr>
              <a:t> </a:t>
            </a:r>
            <a:r>
              <a:rPr sz="2600" spc="-210" dirty="0">
                <a:latin typeface="Trebuchet MS"/>
                <a:cs typeface="Trebuchet MS"/>
              </a:rPr>
              <a:t>fx:id</a:t>
            </a:r>
            <a:r>
              <a:rPr sz="2600" spc="-40" dirty="0">
                <a:latin typeface="Trebuchet MS"/>
                <a:cs typeface="Trebuchet MS"/>
              </a:rPr>
              <a:t> </a:t>
            </a:r>
            <a:r>
              <a:rPr sz="2600" spc="-185" dirty="0">
                <a:latin typeface="Trebuchet MS"/>
                <a:cs typeface="Trebuchet MS"/>
              </a:rPr>
              <a:t>value</a:t>
            </a:r>
            <a:r>
              <a:rPr sz="2600" spc="-30" dirty="0">
                <a:latin typeface="Trebuchet MS"/>
                <a:cs typeface="Trebuchet MS"/>
              </a:rPr>
              <a:t> </a:t>
            </a:r>
            <a:r>
              <a:rPr sz="2600" spc="-160" dirty="0">
                <a:latin typeface="Trebuchet MS"/>
                <a:cs typeface="Trebuchet MS"/>
              </a:rPr>
              <a:t>as</a:t>
            </a:r>
            <a:r>
              <a:rPr sz="2600" spc="-30" dirty="0">
                <a:latin typeface="Trebuchet MS"/>
                <a:cs typeface="Trebuchet MS"/>
              </a:rPr>
              <a:t> </a:t>
            </a:r>
            <a:r>
              <a:rPr sz="2600" spc="-65" dirty="0">
                <a:latin typeface="Trebuchet MS"/>
                <a:cs typeface="Trebuchet MS"/>
              </a:rPr>
              <a:t>the </a:t>
            </a:r>
            <a:r>
              <a:rPr sz="2600" spc="-180" dirty="0">
                <a:latin typeface="Trebuchet MS"/>
                <a:cs typeface="Trebuchet MS"/>
              </a:rPr>
              <a:t>variable</a:t>
            </a:r>
            <a:r>
              <a:rPr sz="2600" spc="-15" dirty="0">
                <a:latin typeface="Trebuchet MS"/>
                <a:cs typeface="Trebuchet MS"/>
              </a:rPr>
              <a:t> </a:t>
            </a:r>
            <a:r>
              <a:rPr sz="2600" spc="-20" dirty="0">
                <a:latin typeface="Trebuchet MS"/>
                <a:cs typeface="Trebuchet MS"/>
              </a:rPr>
              <a:t>name</a:t>
            </a:r>
            <a:endParaRPr sz="2600">
              <a:latin typeface="Trebuchet MS"/>
              <a:cs typeface="Trebuchet MS"/>
            </a:endParaRPr>
          </a:p>
          <a:p>
            <a:pPr marL="286385" marR="668655" indent="-274320">
              <a:lnSpc>
                <a:spcPct val="100000"/>
              </a:lnSpc>
              <a:spcBef>
                <a:spcPts val="600"/>
              </a:spcBef>
              <a:tabLst>
                <a:tab pos="286385" algn="l"/>
              </a:tabLst>
            </a:pPr>
            <a:r>
              <a:rPr sz="1950" spc="-50" dirty="0">
                <a:solidFill>
                  <a:srgbClr val="717BA2"/>
                </a:solidFill>
                <a:latin typeface="Segoe UI Symbol"/>
                <a:cs typeface="Segoe UI Symbol"/>
              </a:rPr>
              <a:t>🞂</a:t>
            </a:r>
            <a:r>
              <a:rPr sz="1950" dirty="0">
                <a:solidFill>
                  <a:srgbClr val="717BA2"/>
                </a:solidFill>
                <a:latin typeface="Segoe UI Symbol"/>
                <a:cs typeface="Segoe UI Symbol"/>
              </a:rPr>
              <a:t>​	</a:t>
            </a:r>
            <a:r>
              <a:rPr sz="2600" spc="-180" dirty="0">
                <a:latin typeface="Trebuchet MS"/>
                <a:cs typeface="Trebuchet MS"/>
              </a:rPr>
              <a:t>Try:</a:t>
            </a:r>
            <a:r>
              <a:rPr sz="2600" spc="-20" dirty="0">
                <a:latin typeface="Trebuchet MS"/>
                <a:cs typeface="Trebuchet MS"/>
              </a:rPr>
              <a:t> </a:t>
            </a:r>
            <a:r>
              <a:rPr sz="2600" spc="-90" dirty="0">
                <a:latin typeface="Trebuchet MS"/>
                <a:cs typeface="Trebuchet MS"/>
              </a:rPr>
              <a:t>View</a:t>
            </a:r>
            <a:r>
              <a:rPr sz="2600" spc="-105" dirty="0">
                <a:latin typeface="Trebuchet MS"/>
                <a:cs typeface="Trebuchet MS"/>
              </a:rPr>
              <a:t> </a:t>
            </a:r>
            <a:r>
              <a:rPr sz="2600" spc="-695" dirty="0">
                <a:latin typeface="Trebuchet MS"/>
                <a:cs typeface="Trebuchet MS"/>
              </a:rPr>
              <a:t>|</a:t>
            </a:r>
            <a:r>
              <a:rPr sz="2600" spc="-60" dirty="0">
                <a:latin typeface="Trebuchet MS"/>
                <a:cs typeface="Trebuchet MS"/>
              </a:rPr>
              <a:t> </a:t>
            </a:r>
            <a:r>
              <a:rPr sz="2600" spc="-55" dirty="0">
                <a:latin typeface="Trebuchet MS"/>
                <a:cs typeface="Trebuchet MS"/>
              </a:rPr>
              <a:t>Show</a:t>
            </a:r>
            <a:r>
              <a:rPr sz="2600" spc="-114" dirty="0">
                <a:latin typeface="Trebuchet MS"/>
                <a:cs typeface="Trebuchet MS"/>
              </a:rPr>
              <a:t> </a:t>
            </a:r>
            <a:r>
              <a:rPr sz="2600" spc="-175" dirty="0">
                <a:latin typeface="Trebuchet MS"/>
                <a:cs typeface="Trebuchet MS"/>
              </a:rPr>
              <a:t>Sample</a:t>
            </a:r>
            <a:r>
              <a:rPr sz="2600" spc="-60" dirty="0">
                <a:latin typeface="Trebuchet MS"/>
                <a:cs typeface="Trebuchet MS"/>
              </a:rPr>
              <a:t> </a:t>
            </a:r>
            <a:r>
              <a:rPr sz="2600" spc="-50" dirty="0">
                <a:latin typeface="Trebuchet MS"/>
                <a:cs typeface="Trebuchet MS"/>
              </a:rPr>
              <a:t>Controller</a:t>
            </a:r>
            <a:r>
              <a:rPr sz="2600" spc="-125" dirty="0">
                <a:latin typeface="Trebuchet MS"/>
                <a:cs typeface="Trebuchet MS"/>
              </a:rPr>
              <a:t> </a:t>
            </a:r>
            <a:r>
              <a:rPr sz="2600" spc="-130" dirty="0">
                <a:latin typeface="Trebuchet MS"/>
                <a:cs typeface="Trebuchet MS"/>
              </a:rPr>
              <a:t>Skeleton</a:t>
            </a:r>
            <a:r>
              <a:rPr sz="2600" spc="-65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on</a:t>
            </a:r>
            <a:r>
              <a:rPr sz="2600" spc="-90" dirty="0">
                <a:latin typeface="Trebuchet MS"/>
                <a:cs typeface="Trebuchet MS"/>
              </a:rPr>
              <a:t> </a:t>
            </a:r>
            <a:r>
              <a:rPr sz="2600" spc="-75" dirty="0">
                <a:latin typeface="Trebuchet MS"/>
                <a:cs typeface="Trebuchet MS"/>
              </a:rPr>
              <a:t>the </a:t>
            </a:r>
            <a:r>
              <a:rPr sz="2600" spc="-145" dirty="0">
                <a:latin typeface="Trebuchet MS"/>
                <a:cs typeface="Trebuchet MS"/>
              </a:rPr>
              <a:t>Scene</a:t>
            </a:r>
            <a:r>
              <a:rPr sz="2600" spc="-15" dirty="0">
                <a:latin typeface="Trebuchet MS"/>
                <a:cs typeface="Trebuchet MS"/>
              </a:rPr>
              <a:t> </a:t>
            </a:r>
            <a:r>
              <a:rPr sz="2600" spc="-10" dirty="0">
                <a:latin typeface="Trebuchet MS"/>
                <a:cs typeface="Trebuchet MS"/>
              </a:rPr>
              <a:t>Builder!</a:t>
            </a:r>
            <a:endParaRPr sz="26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298573" y="5229555"/>
            <a:ext cx="440182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onsolas"/>
                <a:cs typeface="Consolas"/>
              </a:rPr>
              <a:t>@FXML</a:t>
            </a:r>
            <a:r>
              <a:rPr sz="2400" spc="-40" dirty="0">
                <a:latin typeface="Consolas"/>
                <a:cs typeface="Consolas"/>
              </a:rPr>
              <a:t> </a:t>
            </a:r>
            <a:r>
              <a:rPr sz="2400" dirty="0">
                <a:latin typeface="Consolas"/>
                <a:cs typeface="Consolas"/>
              </a:rPr>
              <a:t>//</a:t>
            </a:r>
            <a:r>
              <a:rPr sz="2400" spc="-35" dirty="0">
                <a:latin typeface="Consolas"/>
                <a:cs typeface="Consolas"/>
              </a:rPr>
              <a:t> </a:t>
            </a:r>
            <a:r>
              <a:rPr sz="2400" spc="-10" dirty="0">
                <a:latin typeface="Consolas"/>
                <a:cs typeface="Consolas"/>
              </a:rPr>
              <a:t>fx:id="theTitle"</a:t>
            </a:r>
            <a:endParaRPr sz="2400">
              <a:latin typeface="Consolas"/>
              <a:cs typeface="Consolas"/>
            </a:endParaRPr>
          </a:p>
          <a:p>
            <a:pPr marL="516890">
              <a:lnSpc>
                <a:spcPct val="100000"/>
              </a:lnSpc>
              <a:spcBef>
                <a:spcPts val="5"/>
              </a:spcBef>
            </a:pPr>
            <a:r>
              <a:rPr sz="2400" b="1" dirty="0">
                <a:latin typeface="Consolas"/>
                <a:cs typeface="Consolas"/>
              </a:rPr>
              <a:t>private</a:t>
            </a:r>
            <a:r>
              <a:rPr sz="2400" b="1" spc="-50" dirty="0">
                <a:latin typeface="Consolas"/>
                <a:cs typeface="Consolas"/>
              </a:rPr>
              <a:t> </a:t>
            </a:r>
            <a:r>
              <a:rPr sz="2400" b="1" dirty="0">
                <a:latin typeface="Consolas"/>
                <a:cs typeface="Consolas"/>
              </a:rPr>
              <a:t>Label</a:t>
            </a:r>
            <a:r>
              <a:rPr sz="2400" b="1" spc="-25" dirty="0">
                <a:latin typeface="Consolas"/>
                <a:cs typeface="Consolas"/>
              </a:rPr>
              <a:t> </a:t>
            </a:r>
            <a:r>
              <a:rPr sz="2400" b="1" spc="-10" dirty="0">
                <a:latin typeface="Consolas"/>
                <a:cs typeface="Consolas"/>
              </a:rPr>
              <a:t>theTitle;</a:t>
            </a:r>
            <a:endParaRPr sz="24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4151" y="6432803"/>
            <a:ext cx="120650" cy="190500"/>
          </a:xfrm>
          <a:custGeom>
            <a:avLst/>
            <a:gdLst/>
            <a:ahLst/>
            <a:cxnLst/>
            <a:rect l="l" t="t" r="r" b="b"/>
            <a:pathLst>
              <a:path w="120650" h="190500">
                <a:moveTo>
                  <a:pt x="0" y="0"/>
                </a:moveTo>
                <a:lnTo>
                  <a:pt x="0" y="190500"/>
                </a:lnTo>
                <a:lnTo>
                  <a:pt x="120396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9FB8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60" dirty="0"/>
              <a:t>Registration</a:t>
            </a:r>
            <a:r>
              <a:rPr spc="310" dirty="0"/>
              <a:t> </a:t>
            </a:r>
            <a:r>
              <a:rPr spc="65" dirty="0"/>
              <a:t>of</a:t>
            </a:r>
            <a:r>
              <a:rPr spc="335" dirty="0"/>
              <a:t> </a:t>
            </a:r>
            <a:r>
              <a:rPr spc="204" dirty="0"/>
              <a:t>Event</a:t>
            </a:r>
            <a:r>
              <a:rPr spc="305" dirty="0"/>
              <a:t> </a:t>
            </a:r>
            <a:r>
              <a:rPr spc="200" dirty="0"/>
              <a:t>Handlers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35940" y="1238757"/>
            <a:ext cx="5639435" cy="32194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325120" indent="-274320">
              <a:lnSpc>
                <a:spcPct val="100000"/>
              </a:lnSpc>
              <a:spcBef>
                <a:spcPts val="105"/>
              </a:spcBef>
              <a:tabLst>
                <a:tab pos="286385" algn="l"/>
              </a:tabLst>
            </a:pPr>
            <a:r>
              <a:rPr sz="1950" spc="-50" dirty="0">
                <a:solidFill>
                  <a:srgbClr val="717BA2"/>
                </a:solidFill>
                <a:latin typeface="Segoe UI Symbol"/>
                <a:cs typeface="Segoe UI Symbol"/>
              </a:rPr>
              <a:t>🞂</a:t>
            </a:r>
            <a:r>
              <a:rPr sz="1950" dirty="0">
                <a:solidFill>
                  <a:srgbClr val="717BA2"/>
                </a:solidFill>
                <a:latin typeface="Segoe UI Symbol"/>
                <a:cs typeface="Segoe UI Symbol"/>
              </a:rPr>
              <a:t>​	</a:t>
            </a:r>
            <a:r>
              <a:rPr sz="2600" spc="-85" dirty="0">
                <a:latin typeface="Trebuchet MS"/>
                <a:cs typeface="Trebuchet MS"/>
              </a:rPr>
              <a:t>In</a:t>
            </a:r>
            <a:r>
              <a:rPr sz="2600" spc="-55" dirty="0">
                <a:latin typeface="Trebuchet MS"/>
                <a:cs typeface="Trebuchet MS"/>
              </a:rPr>
              <a:t> </a:t>
            </a:r>
            <a:r>
              <a:rPr sz="2600" spc="-10" dirty="0">
                <a:latin typeface="Trebuchet MS"/>
                <a:cs typeface="Trebuchet MS"/>
              </a:rPr>
              <a:t>FXML,</a:t>
            </a:r>
            <a:r>
              <a:rPr sz="2600" spc="-325" dirty="0">
                <a:latin typeface="Trebuchet MS"/>
                <a:cs typeface="Trebuchet MS"/>
              </a:rPr>
              <a:t> </a:t>
            </a:r>
            <a:r>
              <a:rPr sz="2600" spc="-105" dirty="0">
                <a:latin typeface="Trebuchet MS"/>
                <a:cs typeface="Trebuchet MS"/>
              </a:rPr>
              <a:t>you</a:t>
            </a:r>
            <a:r>
              <a:rPr sz="2600" spc="-65" dirty="0">
                <a:latin typeface="Trebuchet MS"/>
                <a:cs typeface="Trebuchet MS"/>
              </a:rPr>
              <a:t> </a:t>
            </a:r>
            <a:r>
              <a:rPr sz="2600" spc="-240" dirty="0">
                <a:latin typeface="Trebuchet MS"/>
                <a:cs typeface="Trebuchet MS"/>
              </a:rPr>
              <a:t>may</a:t>
            </a:r>
            <a:r>
              <a:rPr sz="2600" spc="-50" dirty="0">
                <a:latin typeface="Trebuchet MS"/>
                <a:cs typeface="Trebuchet MS"/>
              </a:rPr>
              <a:t> </a:t>
            </a:r>
            <a:r>
              <a:rPr sz="2600" spc="-135" dirty="0">
                <a:latin typeface="Trebuchet MS"/>
                <a:cs typeface="Trebuchet MS"/>
              </a:rPr>
              <a:t>set</a:t>
            </a:r>
            <a:r>
              <a:rPr sz="2600" spc="-55" dirty="0">
                <a:latin typeface="Trebuchet MS"/>
                <a:cs typeface="Trebuchet MS"/>
              </a:rPr>
              <a:t> </a:t>
            </a:r>
            <a:r>
              <a:rPr sz="2600" spc="-260" dirty="0">
                <a:latin typeface="Trebuchet MS"/>
                <a:cs typeface="Trebuchet MS"/>
              </a:rPr>
              <a:t>a</a:t>
            </a:r>
            <a:r>
              <a:rPr sz="2600" spc="-50" dirty="0">
                <a:latin typeface="Trebuchet MS"/>
                <a:cs typeface="Trebuchet MS"/>
              </a:rPr>
              <a:t> </a:t>
            </a:r>
            <a:r>
              <a:rPr sz="2600" spc="-180" dirty="0">
                <a:latin typeface="Trebuchet MS"/>
                <a:cs typeface="Trebuchet MS"/>
              </a:rPr>
              <a:t>event</a:t>
            </a:r>
            <a:r>
              <a:rPr sz="2600" spc="-70" dirty="0">
                <a:latin typeface="Trebuchet MS"/>
                <a:cs typeface="Trebuchet MS"/>
              </a:rPr>
              <a:t> </a:t>
            </a:r>
            <a:r>
              <a:rPr sz="2600" spc="-120" dirty="0">
                <a:latin typeface="Trebuchet MS"/>
                <a:cs typeface="Trebuchet MS"/>
              </a:rPr>
              <a:t>handler </a:t>
            </a:r>
            <a:r>
              <a:rPr sz="2600" spc="-110" dirty="0">
                <a:latin typeface="Trebuchet MS"/>
                <a:cs typeface="Trebuchet MS"/>
              </a:rPr>
              <a:t>through</a:t>
            </a:r>
            <a:r>
              <a:rPr sz="2600" spc="-65" dirty="0">
                <a:latin typeface="Trebuchet MS"/>
                <a:cs typeface="Trebuchet MS"/>
              </a:rPr>
              <a:t> </a:t>
            </a:r>
            <a:r>
              <a:rPr sz="2600" spc="-45" dirty="0">
                <a:latin typeface="Trebuchet MS"/>
                <a:cs typeface="Trebuchet MS"/>
              </a:rPr>
              <a:t>attributes</a:t>
            </a:r>
            <a:endParaRPr sz="2600">
              <a:latin typeface="Trebuchet MS"/>
              <a:cs typeface="Trebuchet MS"/>
            </a:endParaRPr>
          </a:p>
          <a:p>
            <a:pPr marL="561340" marR="5080" indent="-274955">
              <a:lnSpc>
                <a:spcPct val="100000"/>
              </a:lnSpc>
              <a:spcBef>
                <a:spcPts val="515"/>
              </a:spcBef>
              <a:tabLst>
                <a:tab pos="561340" algn="l"/>
              </a:tabLst>
            </a:pPr>
            <a:r>
              <a:rPr sz="1750" spc="-50" dirty="0">
                <a:solidFill>
                  <a:srgbClr val="9FB8CD"/>
                </a:solidFill>
                <a:latin typeface="Segoe UI Symbol"/>
                <a:cs typeface="Segoe UI Symbol"/>
              </a:rPr>
              <a:t>🞂</a:t>
            </a:r>
            <a:r>
              <a:rPr sz="1750" dirty="0">
                <a:solidFill>
                  <a:srgbClr val="9FB8CD"/>
                </a:solidFill>
                <a:latin typeface="Segoe UI Symbol"/>
                <a:cs typeface="Segoe UI Symbol"/>
              </a:rPr>
              <a:t>​	</a:t>
            </a:r>
            <a:r>
              <a:rPr sz="2300" spc="-100" dirty="0">
                <a:solidFill>
                  <a:srgbClr val="464652"/>
                </a:solidFill>
                <a:latin typeface="Trebuchet MS"/>
                <a:cs typeface="Trebuchet MS"/>
              </a:rPr>
              <a:t>onAction,</a:t>
            </a:r>
            <a:r>
              <a:rPr sz="2300" spc="-215" dirty="0">
                <a:solidFill>
                  <a:srgbClr val="464652"/>
                </a:solidFill>
                <a:latin typeface="Trebuchet MS"/>
                <a:cs typeface="Trebuchet MS"/>
              </a:rPr>
              <a:t> </a:t>
            </a:r>
            <a:r>
              <a:rPr sz="2300" spc="-145" dirty="0">
                <a:solidFill>
                  <a:srgbClr val="464652"/>
                </a:solidFill>
                <a:latin typeface="Trebuchet MS"/>
                <a:cs typeface="Trebuchet MS"/>
              </a:rPr>
              <a:t>onKeyTyped,</a:t>
            </a:r>
            <a:r>
              <a:rPr sz="2300" spc="-215" dirty="0">
                <a:solidFill>
                  <a:srgbClr val="464652"/>
                </a:solidFill>
                <a:latin typeface="Trebuchet MS"/>
                <a:cs typeface="Trebuchet MS"/>
              </a:rPr>
              <a:t> </a:t>
            </a:r>
            <a:r>
              <a:rPr sz="2300" spc="-90" dirty="0">
                <a:solidFill>
                  <a:srgbClr val="464652"/>
                </a:solidFill>
                <a:latin typeface="Trebuchet MS"/>
                <a:cs typeface="Trebuchet MS"/>
              </a:rPr>
              <a:t>onMouseClicked,</a:t>
            </a:r>
            <a:r>
              <a:rPr sz="2300" spc="-229" dirty="0">
                <a:solidFill>
                  <a:srgbClr val="464652"/>
                </a:solidFill>
                <a:latin typeface="Trebuchet MS"/>
                <a:cs typeface="Trebuchet MS"/>
              </a:rPr>
              <a:t> </a:t>
            </a:r>
            <a:r>
              <a:rPr sz="2300" spc="-380" dirty="0">
                <a:solidFill>
                  <a:srgbClr val="464652"/>
                </a:solidFill>
                <a:latin typeface="Trebuchet MS"/>
                <a:cs typeface="Trebuchet MS"/>
              </a:rPr>
              <a:t>... </a:t>
            </a:r>
            <a:r>
              <a:rPr sz="2300" spc="-110" dirty="0">
                <a:solidFill>
                  <a:srgbClr val="464652"/>
                </a:solidFill>
                <a:latin typeface="Trebuchet MS"/>
                <a:cs typeface="Trebuchet MS"/>
              </a:rPr>
              <a:t>hundreds</a:t>
            </a:r>
            <a:r>
              <a:rPr sz="2300" spc="-70" dirty="0">
                <a:solidFill>
                  <a:srgbClr val="464652"/>
                </a:solidFill>
                <a:latin typeface="Trebuchet MS"/>
                <a:cs typeface="Trebuchet MS"/>
              </a:rPr>
              <a:t> more</a:t>
            </a:r>
            <a:r>
              <a:rPr sz="2300" spc="-60" dirty="0">
                <a:solidFill>
                  <a:srgbClr val="464652"/>
                </a:solidFill>
                <a:latin typeface="Trebuchet MS"/>
                <a:cs typeface="Trebuchet MS"/>
              </a:rPr>
              <a:t> </a:t>
            </a:r>
            <a:r>
              <a:rPr sz="2300" spc="-380" dirty="0">
                <a:solidFill>
                  <a:srgbClr val="464652"/>
                </a:solidFill>
                <a:latin typeface="Trebuchet MS"/>
                <a:cs typeface="Trebuchet MS"/>
              </a:rPr>
              <a:t>...</a:t>
            </a:r>
            <a:endParaRPr sz="2300">
              <a:latin typeface="Trebuchet MS"/>
              <a:cs typeface="Trebuchet MS"/>
            </a:endParaRPr>
          </a:p>
          <a:p>
            <a:pPr marL="286385" marR="539115" indent="-274320">
              <a:lnSpc>
                <a:spcPct val="100000"/>
              </a:lnSpc>
              <a:spcBef>
                <a:spcPts val="590"/>
              </a:spcBef>
              <a:tabLst>
                <a:tab pos="286385" algn="l"/>
              </a:tabLst>
            </a:pPr>
            <a:r>
              <a:rPr sz="1950" spc="-50" dirty="0">
                <a:solidFill>
                  <a:srgbClr val="717BA2"/>
                </a:solidFill>
                <a:latin typeface="Segoe UI Symbol"/>
                <a:cs typeface="Segoe UI Symbol"/>
              </a:rPr>
              <a:t>🞂</a:t>
            </a:r>
            <a:r>
              <a:rPr sz="1950" dirty="0">
                <a:solidFill>
                  <a:srgbClr val="717BA2"/>
                </a:solidFill>
                <a:latin typeface="Segoe UI Symbol"/>
                <a:cs typeface="Segoe UI Symbol"/>
              </a:rPr>
              <a:t>​	</a:t>
            </a:r>
            <a:r>
              <a:rPr sz="2600" spc="-60" dirty="0">
                <a:latin typeface="Trebuchet MS"/>
                <a:cs typeface="Trebuchet MS"/>
              </a:rPr>
              <a:t>The</a:t>
            </a:r>
            <a:r>
              <a:rPr sz="2600" spc="-55" dirty="0">
                <a:latin typeface="Trebuchet MS"/>
                <a:cs typeface="Trebuchet MS"/>
              </a:rPr>
              <a:t> </a:t>
            </a:r>
            <a:r>
              <a:rPr sz="2600" spc="-185" dirty="0">
                <a:latin typeface="Trebuchet MS"/>
                <a:cs typeface="Trebuchet MS"/>
              </a:rPr>
              <a:t>value</a:t>
            </a:r>
            <a:r>
              <a:rPr sz="2600" spc="-75" dirty="0">
                <a:latin typeface="Trebuchet MS"/>
                <a:cs typeface="Trebuchet MS"/>
              </a:rPr>
              <a:t> </a:t>
            </a:r>
            <a:r>
              <a:rPr sz="2600" spc="-100" dirty="0">
                <a:latin typeface="Trebuchet MS"/>
                <a:cs typeface="Trebuchet MS"/>
              </a:rPr>
              <a:t>should</a:t>
            </a:r>
            <a:r>
              <a:rPr sz="2600" spc="-65" dirty="0">
                <a:latin typeface="Trebuchet MS"/>
                <a:cs typeface="Trebuchet MS"/>
              </a:rPr>
              <a:t> </a:t>
            </a:r>
            <a:r>
              <a:rPr sz="2600" spc="-160" dirty="0">
                <a:latin typeface="Trebuchet MS"/>
                <a:cs typeface="Trebuchet MS"/>
              </a:rPr>
              <a:t>be</a:t>
            </a:r>
            <a:r>
              <a:rPr sz="2600" spc="-60" dirty="0">
                <a:latin typeface="Trebuchet MS"/>
                <a:cs typeface="Trebuchet MS"/>
              </a:rPr>
              <a:t> </a:t>
            </a:r>
            <a:r>
              <a:rPr sz="2600" spc="-160" dirty="0">
                <a:latin typeface="Trebuchet MS"/>
                <a:cs typeface="Trebuchet MS"/>
              </a:rPr>
              <a:t>the</a:t>
            </a:r>
            <a:r>
              <a:rPr sz="2600" spc="-55" dirty="0">
                <a:latin typeface="Trebuchet MS"/>
                <a:cs typeface="Trebuchet MS"/>
              </a:rPr>
              <a:t> </a:t>
            </a:r>
            <a:r>
              <a:rPr sz="2600" spc="-114" dirty="0">
                <a:latin typeface="Trebuchet MS"/>
                <a:cs typeface="Trebuchet MS"/>
              </a:rPr>
              <a:t>#name</a:t>
            </a:r>
            <a:r>
              <a:rPr sz="2600" spc="-90" dirty="0">
                <a:latin typeface="Trebuchet MS"/>
                <a:cs typeface="Trebuchet MS"/>
              </a:rPr>
              <a:t> </a:t>
            </a:r>
            <a:r>
              <a:rPr sz="2600" spc="-145" dirty="0">
                <a:latin typeface="Trebuchet MS"/>
                <a:cs typeface="Trebuchet MS"/>
              </a:rPr>
              <a:t>of</a:t>
            </a:r>
            <a:r>
              <a:rPr sz="2600" spc="-60" dirty="0">
                <a:latin typeface="Trebuchet MS"/>
                <a:cs typeface="Trebuchet MS"/>
              </a:rPr>
              <a:t> </a:t>
            </a:r>
            <a:r>
              <a:rPr sz="2600" spc="-310" dirty="0">
                <a:latin typeface="Trebuchet MS"/>
                <a:cs typeface="Trebuchet MS"/>
              </a:rPr>
              <a:t>a </a:t>
            </a:r>
            <a:r>
              <a:rPr sz="2600" spc="-120" dirty="0">
                <a:latin typeface="Trebuchet MS"/>
                <a:cs typeface="Trebuchet MS"/>
              </a:rPr>
              <a:t>method</a:t>
            </a:r>
            <a:r>
              <a:rPr sz="2600" spc="-50" dirty="0">
                <a:latin typeface="Trebuchet MS"/>
                <a:cs typeface="Trebuchet MS"/>
              </a:rPr>
              <a:t> </a:t>
            </a:r>
            <a:r>
              <a:rPr sz="2600" spc="-160" dirty="0">
                <a:latin typeface="Trebuchet MS"/>
                <a:cs typeface="Trebuchet MS"/>
              </a:rPr>
              <a:t>in</a:t>
            </a:r>
            <a:r>
              <a:rPr sz="2600" spc="-45" dirty="0">
                <a:latin typeface="Trebuchet MS"/>
                <a:cs typeface="Trebuchet MS"/>
              </a:rPr>
              <a:t> </a:t>
            </a:r>
            <a:r>
              <a:rPr sz="2600" spc="-160" dirty="0">
                <a:latin typeface="Trebuchet MS"/>
                <a:cs typeface="Trebuchet MS"/>
              </a:rPr>
              <a:t>the</a:t>
            </a:r>
            <a:r>
              <a:rPr sz="2600" spc="-30" dirty="0">
                <a:latin typeface="Trebuchet MS"/>
                <a:cs typeface="Trebuchet MS"/>
              </a:rPr>
              <a:t> </a:t>
            </a:r>
            <a:r>
              <a:rPr sz="2600" spc="-100" dirty="0">
                <a:latin typeface="Trebuchet MS"/>
                <a:cs typeface="Trebuchet MS"/>
              </a:rPr>
              <a:t>controller</a:t>
            </a:r>
            <a:r>
              <a:rPr sz="2600" spc="-65" dirty="0">
                <a:latin typeface="Trebuchet MS"/>
                <a:cs typeface="Trebuchet MS"/>
              </a:rPr>
              <a:t> </a:t>
            </a:r>
            <a:r>
              <a:rPr sz="2600" spc="-10" dirty="0">
                <a:latin typeface="Trebuchet MS"/>
                <a:cs typeface="Trebuchet MS"/>
              </a:rPr>
              <a:t>class</a:t>
            </a:r>
            <a:endParaRPr sz="2600">
              <a:latin typeface="Trebuchet MS"/>
              <a:cs typeface="Trebuchet MS"/>
            </a:endParaRPr>
          </a:p>
          <a:p>
            <a:pPr marL="561340" marR="604520" indent="-274955">
              <a:lnSpc>
                <a:spcPct val="100000"/>
              </a:lnSpc>
              <a:spcBef>
                <a:spcPts val="520"/>
              </a:spcBef>
              <a:tabLst>
                <a:tab pos="561340" algn="l"/>
              </a:tabLst>
            </a:pPr>
            <a:r>
              <a:rPr sz="1750" spc="-50" dirty="0">
                <a:solidFill>
                  <a:srgbClr val="9FB8CD"/>
                </a:solidFill>
                <a:latin typeface="Segoe UI Symbol"/>
                <a:cs typeface="Segoe UI Symbol"/>
              </a:rPr>
              <a:t>🞂</a:t>
            </a:r>
            <a:r>
              <a:rPr sz="1750" dirty="0">
                <a:solidFill>
                  <a:srgbClr val="9FB8CD"/>
                </a:solidFill>
                <a:latin typeface="Segoe UI Symbol"/>
                <a:cs typeface="Segoe UI Symbol"/>
              </a:rPr>
              <a:t>​	</a:t>
            </a:r>
            <a:r>
              <a:rPr sz="2300" dirty="0">
                <a:solidFill>
                  <a:srgbClr val="464652"/>
                </a:solidFill>
                <a:latin typeface="Trebuchet MS"/>
                <a:cs typeface="Trebuchet MS"/>
              </a:rPr>
              <a:t>With</a:t>
            </a:r>
            <a:r>
              <a:rPr sz="2300" spc="-55" dirty="0">
                <a:solidFill>
                  <a:srgbClr val="464652"/>
                </a:solidFill>
                <a:latin typeface="Trebuchet MS"/>
                <a:cs typeface="Trebuchet MS"/>
              </a:rPr>
              <a:t> </a:t>
            </a:r>
            <a:r>
              <a:rPr sz="2300" spc="-145" dirty="0">
                <a:solidFill>
                  <a:srgbClr val="464652"/>
                </a:solidFill>
                <a:latin typeface="Trebuchet MS"/>
                <a:cs typeface="Trebuchet MS"/>
              </a:rPr>
              <a:t>the</a:t>
            </a:r>
            <a:r>
              <a:rPr sz="2300" spc="-55" dirty="0">
                <a:solidFill>
                  <a:srgbClr val="464652"/>
                </a:solidFill>
                <a:latin typeface="Trebuchet MS"/>
                <a:cs typeface="Trebuchet MS"/>
              </a:rPr>
              <a:t> </a:t>
            </a:r>
            <a:r>
              <a:rPr sz="2300" spc="-120" dirty="0">
                <a:solidFill>
                  <a:srgbClr val="464652"/>
                </a:solidFill>
                <a:latin typeface="Trebuchet MS"/>
                <a:cs typeface="Trebuchet MS"/>
              </a:rPr>
              <a:t>right</a:t>
            </a:r>
            <a:r>
              <a:rPr sz="2300" spc="-35" dirty="0">
                <a:solidFill>
                  <a:srgbClr val="464652"/>
                </a:solidFill>
                <a:latin typeface="Trebuchet MS"/>
                <a:cs typeface="Trebuchet MS"/>
              </a:rPr>
              <a:t> </a:t>
            </a:r>
            <a:r>
              <a:rPr sz="2300" spc="-140" dirty="0">
                <a:solidFill>
                  <a:srgbClr val="464652"/>
                </a:solidFill>
                <a:latin typeface="Trebuchet MS"/>
                <a:cs typeface="Trebuchet MS"/>
              </a:rPr>
              <a:t>signature</a:t>
            </a:r>
            <a:r>
              <a:rPr sz="2300" spc="-55" dirty="0">
                <a:solidFill>
                  <a:srgbClr val="464652"/>
                </a:solidFill>
                <a:latin typeface="Trebuchet MS"/>
                <a:cs typeface="Trebuchet MS"/>
              </a:rPr>
              <a:t> </a:t>
            </a:r>
            <a:r>
              <a:rPr sz="2300" spc="-80" dirty="0">
                <a:solidFill>
                  <a:srgbClr val="464652"/>
                </a:solidFill>
                <a:latin typeface="Trebuchet MS"/>
                <a:cs typeface="Trebuchet MS"/>
              </a:rPr>
              <a:t>for</a:t>
            </a:r>
            <a:r>
              <a:rPr sz="2300" spc="-30" dirty="0">
                <a:solidFill>
                  <a:srgbClr val="464652"/>
                </a:solidFill>
                <a:latin typeface="Trebuchet MS"/>
                <a:cs typeface="Trebuchet MS"/>
              </a:rPr>
              <a:t> </a:t>
            </a:r>
            <a:r>
              <a:rPr sz="2300" spc="-145" dirty="0">
                <a:solidFill>
                  <a:srgbClr val="464652"/>
                </a:solidFill>
                <a:latin typeface="Trebuchet MS"/>
                <a:cs typeface="Trebuchet MS"/>
              </a:rPr>
              <a:t>the</a:t>
            </a:r>
            <a:r>
              <a:rPr sz="2300" spc="-55" dirty="0">
                <a:solidFill>
                  <a:srgbClr val="464652"/>
                </a:solidFill>
                <a:latin typeface="Trebuchet MS"/>
                <a:cs typeface="Trebuchet MS"/>
              </a:rPr>
              <a:t> </a:t>
            </a:r>
            <a:r>
              <a:rPr sz="2300" spc="-120" dirty="0">
                <a:solidFill>
                  <a:srgbClr val="464652"/>
                </a:solidFill>
                <a:latin typeface="Trebuchet MS"/>
                <a:cs typeface="Trebuchet MS"/>
              </a:rPr>
              <a:t>event </a:t>
            </a:r>
            <a:r>
              <a:rPr sz="2300" spc="-20" dirty="0">
                <a:solidFill>
                  <a:srgbClr val="464652"/>
                </a:solidFill>
                <a:latin typeface="Trebuchet MS"/>
                <a:cs typeface="Trebuchet MS"/>
              </a:rPr>
              <a:t>type</a:t>
            </a:r>
            <a:endParaRPr sz="23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22910" y="4918964"/>
            <a:ext cx="423227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onsolas"/>
                <a:cs typeface="Consolas"/>
              </a:rPr>
              <a:t>&lt;Button</a:t>
            </a:r>
            <a:r>
              <a:rPr sz="2400" spc="-65" dirty="0">
                <a:latin typeface="Consolas"/>
                <a:cs typeface="Consolas"/>
              </a:rPr>
              <a:t> </a:t>
            </a:r>
            <a:r>
              <a:rPr sz="2400" spc="-10" dirty="0">
                <a:latin typeface="Consolas"/>
                <a:cs typeface="Consolas"/>
              </a:rPr>
              <a:t>fx:id=</a:t>
            </a:r>
            <a:r>
              <a:rPr sz="2400" i="1" spc="-10" dirty="0">
                <a:latin typeface="Consolas"/>
                <a:cs typeface="Consolas"/>
              </a:rPr>
              <a:t>"cercaBtn" </a:t>
            </a:r>
            <a:r>
              <a:rPr sz="2400" i="1" spc="-10" dirty="0">
                <a:solidFill>
                  <a:srgbClr val="FF0000"/>
                </a:solidFill>
                <a:latin typeface="Consolas"/>
                <a:cs typeface="Consolas"/>
              </a:rPr>
              <a:t>on</a:t>
            </a:r>
            <a:r>
              <a:rPr sz="2400" i="1" spc="-10" dirty="0">
                <a:solidFill>
                  <a:srgbClr val="00AF50"/>
                </a:solidFill>
                <a:latin typeface="Consolas"/>
                <a:cs typeface="Consolas"/>
              </a:rPr>
              <a:t>Action</a:t>
            </a:r>
            <a:r>
              <a:rPr sz="2400" i="1" spc="-10" dirty="0">
                <a:solidFill>
                  <a:srgbClr val="FF0000"/>
                </a:solidFill>
                <a:latin typeface="Consolas"/>
                <a:cs typeface="Consolas"/>
              </a:rPr>
              <a:t>="#</a:t>
            </a:r>
            <a:r>
              <a:rPr sz="2400" i="1" spc="-10" dirty="0">
                <a:solidFill>
                  <a:srgbClr val="006FC0"/>
                </a:solidFill>
                <a:latin typeface="Consolas"/>
                <a:cs typeface="Consolas"/>
              </a:rPr>
              <a:t>doCercaParola</a:t>
            </a:r>
            <a:r>
              <a:rPr sz="2400" i="1" spc="-10" dirty="0">
                <a:solidFill>
                  <a:srgbClr val="FF0000"/>
                </a:solidFill>
                <a:latin typeface="Consolas"/>
                <a:cs typeface="Consolas"/>
              </a:rPr>
              <a:t>" </a:t>
            </a:r>
            <a:r>
              <a:rPr sz="2400" i="1" dirty="0">
                <a:latin typeface="Consolas"/>
                <a:cs typeface="Consolas"/>
              </a:rPr>
              <a:t>text="Cerca"</a:t>
            </a:r>
            <a:r>
              <a:rPr sz="2400" i="1" spc="-110" dirty="0">
                <a:latin typeface="Consolas"/>
                <a:cs typeface="Consolas"/>
              </a:rPr>
              <a:t> </a:t>
            </a:r>
            <a:r>
              <a:rPr sz="2400" i="1" spc="-25" dirty="0">
                <a:latin typeface="Consolas"/>
                <a:cs typeface="Consolas"/>
              </a:rPr>
              <a:t>/&gt;</a:t>
            </a:r>
            <a:endParaRPr sz="2400">
              <a:latin typeface="Consolas"/>
              <a:cs typeface="Consolas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49923" y="1196339"/>
            <a:ext cx="2723387" cy="3610355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5155438" y="4918964"/>
            <a:ext cx="355663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Consolas"/>
                <a:cs typeface="Consolas"/>
              </a:rPr>
              <a:t>@FXML</a:t>
            </a:r>
            <a:endParaRPr sz="2400">
              <a:latin typeface="Consolas"/>
              <a:cs typeface="Consolas"/>
            </a:endParaRPr>
          </a:p>
          <a:p>
            <a:pPr marL="12700" marR="5080">
              <a:lnSpc>
                <a:spcPct val="100000"/>
              </a:lnSpc>
            </a:pPr>
            <a:r>
              <a:rPr sz="2400" dirty="0">
                <a:latin typeface="Consolas"/>
                <a:cs typeface="Consolas"/>
              </a:rPr>
              <a:t>void</a:t>
            </a:r>
            <a:r>
              <a:rPr sz="2400" spc="-75" dirty="0">
                <a:latin typeface="Consolas"/>
                <a:cs typeface="Consolas"/>
              </a:rPr>
              <a:t> </a:t>
            </a:r>
            <a:r>
              <a:rPr sz="2400" dirty="0">
                <a:solidFill>
                  <a:srgbClr val="006FC0"/>
                </a:solidFill>
                <a:latin typeface="Consolas"/>
                <a:cs typeface="Consolas"/>
              </a:rPr>
              <a:t>doCercaParola</a:t>
            </a:r>
            <a:r>
              <a:rPr sz="2400" spc="-5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2400" spc="-50" dirty="0">
                <a:latin typeface="Consolas"/>
                <a:cs typeface="Consolas"/>
              </a:rPr>
              <a:t>( </a:t>
            </a:r>
            <a:r>
              <a:rPr sz="2400" dirty="0">
                <a:solidFill>
                  <a:srgbClr val="00AF50"/>
                </a:solidFill>
                <a:latin typeface="Consolas"/>
                <a:cs typeface="Consolas"/>
              </a:rPr>
              <a:t>Action</a:t>
            </a:r>
            <a:r>
              <a:rPr sz="2400" dirty="0">
                <a:latin typeface="Consolas"/>
                <a:cs typeface="Consolas"/>
              </a:rPr>
              <a:t>Event</a:t>
            </a:r>
            <a:r>
              <a:rPr sz="2400" spc="-50" dirty="0">
                <a:latin typeface="Consolas"/>
                <a:cs typeface="Consolas"/>
              </a:rPr>
              <a:t> </a:t>
            </a:r>
            <a:r>
              <a:rPr sz="2400" dirty="0">
                <a:latin typeface="Consolas"/>
                <a:cs typeface="Consolas"/>
              </a:rPr>
              <a:t>event</a:t>
            </a:r>
            <a:r>
              <a:rPr sz="2400" spc="-35" dirty="0">
                <a:latin typeface="Consolas"/>
                <a:cs typeface="Consolas"/>
              </a:rPr>
              <a:t> </a:t>
            </a:r>
            <a:r>
              <a:rPr sz="2400" dirty="0">
                <a:latin typeface="Consolas"/>
                <a:cs typeface="Consolas"/>
              </a:rPr>
              <a:t>)</a:t>
            </a:r>
            <a:r>
              <a:rPr sz="2400" spc="-60" dirty="0">
                <a:latin typeface="Consolas"/>
                <a:cs typeface="Consolas"/>
              </a:rPr>
              <a:t> </a:t>
            </a:r>
            <a:r>
              <a:rPr sz="2400" spc="-50" dirty="0">
                <a:latin typeface="Consolas"/>
                <a:cs typeface="Consolas"/>
              </a:rPr>
              <a:t>{</a:t>
            </a:r>
            <a:endParaRPr sz="2400">
              <a:latin typeface="Consolas"/>
              <a:cs typeface="Consolas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20</a:t>
            </a:fld>
            <a:endParaRPr spc="-25" dirty="0"/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xfrm>
            <a:off x="4229227" y="6395259"/>
            <a:ext cx="2094864" cy="21608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it-IT" spc="-95" dirty="0" err="1"/>
              <a:t>JavaFX</a:t>
            </a:r>
            <a:endParaRPr spc="-6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4151" y="6432803"/>
            <a:ext cx="120396" cy="190499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204" dirty="0"/>
              <a:t>Minimal</a:t>
            </a:r>
            <a:r>
              <a:rPr spc="340" dirty="0"/>
              <a:t> </a:t>
            </a:r>
            <a:r>
              <a:rPr spc="170" dirty="0"/>
              <a:t>program</a:t>
            </a:r>
            <a:r>
              <a:rPr spc="340" dirty="0"/>
              <a:t> </a:t>
            </a:r>
            <a:r>
              <a:rPr spc="195" dirty="0"/>
              <a:t>structure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4779645" y="1332357"/>
            <a:ext cx="3114675" cy="1314450"/>
            <a:chOff x="4779645" y="1332357"/>
            <a:chExt cx="3114675" cy="1314450"/>
          </a:xfrm>
        </p:grpSpPr>
        <p:sp>
          <p:nvSpPr>
            <p:cNvPr id="5" name="object 5"/>
            <p:cNvSpPr/>
            <p:nvPr/>
          </p:nvSpPr>
          <p:spPr>
            <a:xfrm>
              <a:off x="4789170" y="1341882"/>
              <a:ext cx="3095625" cy="1295400"/>
            </a:xfrm>
            <a:custGeom>
              <a:avLst/>
              <a:gdLst/>
              <a:ahLst/>
              <a:cxnLst/>
              <a:rect l="l" t="t" r="r" b="b"/>
              <a:pathLst>
                <a:path w="3095625" h="1295400">
                  <a:moveTo>
                    <a:pt x="2879344" y="0"/>
                  </a:moveTo>
                  <a:lnTo>
                    <a:pt x="215900" y="0"/>
                  </a:lnTo>
                  <a:lnTo>
                    <a:pt x="166391" y="5701"/>
                  </a:lnTo>
                  <a:lnTo>
                    <a:pt x="120946" y="21941"/>
                  </a:lnTo>
                  <a:lnTo>
                    <a:pt x="80859" y="47426"/>
                  </a:lnTo>
                  <a:lnTo>
                    <a:pt x="47426" y="80859"/>
                  </a:lnTo>
                  <a:lnTo>
                    <a:pt x="21941" y="120946"/>
                  </a:lnTo>
                  <a:lnTo>
                    <a:pt x="5701" y="166391"/>
                  </a:lnTo>
                  <a:lnTo>
                    <a:pt x="0" y="215900"/>
                  </a:lnTo>
                  <a:lnTo>
                    <a:pt x="0" y="1079500"/>
                  </a:lnTo>
                  <a:lnTo>
                    <a:pt x="5701" y="1129008"/>
                  </a:lnTo>
                  <a:lnTo>
                    <a:pt x="21941" y="1174453"/>
                  </a:lnTo>
                  <a:lnTo>
                    <a:pt x="47426" y="1214540"/>
                  </a:lnTo>
                  <a:lnTo>
                    <a:pt x="80859" y="1247973"/>
                  </a:lnTo>
                  <a:lnTo>
                    <a:pt x="120946" y="1273458"/>
                  </a:lnTo>
                  <a:lnTo>
                    <a:pt x="166391" y="1289698"/>
                  </a:lnTo>
                  <a:lnTo>
                    <a:pt x="215900" y="1295400"/>
                  </a:lnTo>
                  <a:lnTo>
                    <a:pt x="2879344" y="1295400"/>
                  </a:lnTo>
                  <a:lnTo>
                    <a:pt x="2928852" y="1289698"/>
                  </a:lnTo>
                  <a:lnTo>
                    <a:pt x="2974297" y="1273458"/>
                  </a:lnTo>
                  <a:lnTo>
                    <a:pt x="3014384" y="1247973"/>
                  </a:lnTo>
                  <a:lnTo>
                    <a:pt x="3047817" y="1214540"/>
                  </a:lnTo>
                  <a:lnTo>
                    <a:pt x="3073302" y="1174453"/>
                  </a:lnTo>
                  <a:lnTo>
                    <a:pt x="3089542" y="1129008"/>
                  </a:lnTo>
                  <a:lnTo>
                    <a:pt x="3095244" y="1079500"/>
                  </a:lnTo>
                  <a:lnTo>
                    <a:pt x="3095244" y="215900"/>
                  </a:lnTo>
                  <a:lnTo>
                    <a:pt x="3089542" y="166391"/>
                  </a:lnTo>
                  <a:lnTo>
                    <a:pt x="3073302" y="120946"/>
                  </a:lnTo>
                  <a:lnTo>
                    <a:pt x="3047817" y="80859"/>
                  </a:lnTo>
                  <a:lnTo>
                    <a:pt x="3014384" y="47426"/>
                  </a:lnTo>
                  <a:lnTo>
                    <a:pt x="2974297" y="21941"/>
                  </a:lnTo>
                  <a:lnTo>
                    <a:pt x="2928852" y="5701"/>
                  </a:lnTo>
                  <a:lnTo>
                    <a:pt x="2879344" y="0"/>
                  </a:lnTo>
                  <a:close/>
                </a:path>
              </a:pathLst>
            </a:custGeom>
            <a:solidFill>
              <a:srgbClr val="717BA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789170" y="1341882"/>
              <a:ext cx="3095625" cy="1295400"/>
            </a:xfrm>
            <a:custGeom>
              <a:avLst/>
              <a:gdLst/>
              <a:ahLst/>
              <a:cxnLst/>
              <a:rect l="l" t="t" r="r" b="b"/>
              <a:pathLst>
                <a:path w="3095625" h="1295400">
                  <a:moveTo>
                    <a:pt x="0" y="215900"/>
                  </a:moveTo>
                  <a:lnTo>
                    <a:pt x="5701" y="166391"/>
                  </a:lnTo>
                  <a:lnTo>
                    <a:pt x="21941" y="120946"/>
                  </a:lnTo>
                  <a:lnTo>
                    <a:pt x="47426" y="80859"/>
                  </a:lnTo>
                  <a:lnTo>
                    <a:pt x="80859" y="47426"/>
                  </a:lnTo>
                  <a:lnTo>
                    <a:pt x="120946" y="21941"/>
                  </a:lnTo>
                  <a:lnTo>
                    <a:pt x="166391" y="5701"/>
                  </a:lnTo>
                  <a:lnTo>
                    <a:pt x="215900" y="0"/>
                  </a:lnTo>
                  <a:lnTo>
                    <a:pt x="2879344" y="0"/>
                  </a:lnTo>
                  <a:lnTo>
                    <a:pt x="2928852" y="5701"/>
                  </a:lnTo>
                  <a:lnTo>
                    <a:pt x="2974297" y="21941"/>
                  </a:lnTo>
                  <a:lnTo>
                    <a:pt x="3014384" y="47426"/>
                  </a:lnTo>
                  <a:lnTo>
                    <a:pt x="3047817" y="80859"/>
                  </a:lnTo>
                  <a:lnTo>
                    <a:pt x="3073302" y="120946"/>
                  </a:lnTo>
                  <a:lnTo>
                    <a:pt x="3089542" y="166391"/>
                  </a:lnTo>
                  <a:lnTo>
                    <a:pt x="3095244" y="215900"/>
                  </a:lnTo>
                  <a:lnTo>
                    <a:pt x="3095244" y="1079500"/>
                  </a:lnTo>
                  <a:lnTo>
                    <a:pt x="3089542" y="1129008"/>
                  </a:lnTo>
                  <a:lnTo>
                    <a:pt x="3073302" y="1174453"/>
                  </a:lnTo>
                  <a:lnTo>
                    <a:pt x="3047817" y="1214540"/>
                  </a:lnTo>
                  <a:lnTo>
                    <a:pt x="3014384" y="1247973"/>
                  </a:lnTo>
                  <a:lnTo>
                    <a:pt x="2974297" y="1273458"/>
                  </a:lnTo>
                  <a:lnTo>
                    <a:pt x="2928852" y="1289698"/>
                  </a:lnTo>
                  <a:lnTo>
                    <a:pt x="2879344" y="1295400"/>
                  </a:lnTo>
                  <a:lnTo>
                    <a:pt x="215900" y="1295400"/>
                  </a:lnTo>
                  <a:lnTo>
                    <a:pt x="166391" y="1289698"/>
                  </a:lnTo>
                  <a:lnTo>
                    <a:pt x="120946" y="1273458"/>
                  </a:lnTo>
                  <a:lnTo>
                    <a:pt x="80859" y="1247973"/>
                  </a:lnTo>
                  <a:lnTo>
                    <a:pt x="47426" y="1214540"/>
                  </a:lnTo>
                  <a:lnTo>
                    <a:pt x="21941" y="1174453"/>
                  </a:lnTo>
                  <a:lnTo>
                    <a:pt x="5701" y="1129008"/>
                  </a:lnTo>
                  <a:lnTo>
                    <a:pt x="0" y="1079500"/>
                  </a:lnTo>
                  <a:lnTo>
                    <a:pt x="0" y="215900"/>
                  </a:lnTo>
                  <a:close/>
                </a:path>
              </a:pathLst>
            </a:custGeom>
            <a:ln w="19050">
              <a:solidFill>
                <a:srgbClr val="52587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5121655" y="1555750"/>
            <a:ext cx="243014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spc="-85" dirty="0">
                <a:solidFill>
                  <a:srgbClr val="FFFFFF"/>
                </a:solidFill>
                <a:latin typeface="Trebuchet MS"/>
                <a:cs typeface="Trebuchet MS"/>
              </a:rPr>
              <a:t>«</a:t>
            </a:r>
            <a:r>
              <a:rPr sz="1800" spc="-3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70" dirty="0">
                <a:solidFill>
                  <a:srgbClr val="FFFFFF"/>
                </a:solidFill>
                <a:latin typeface="Trebuchet MS"/>
                <a:cs typeface="Trebuchet MS"/>
              </a:rPr>
              <a:t>View</a:t>
            </a:r>
            <a:r>
              <a:rPr sz="1800" spc="-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Trebuchet MS"/>
                <a:cs typeface="Trebuchet MS"/>
              </a:rPr>
              <a:t>»</a:t>
            </a:r>
            <a:endParaRPr sz="18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</a:pPr>
            <a:r>
              <a:rPr sz="1800" spc="55" dirty="0">
                <a:solidFill>
                  <a:srgbClr val="FFFFFF"/>
                </a:solidFill>
                <a:latin typeface="Trebuchet MS"/>
                <a:cs typeface="Trebuchet MS"/>
              </a:rPr>
              <a:t>FXML</a:t>
            </a:r>
            <a:r>
              <a:rPr sz="180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Trebuchet MS"/>
                <a:cs typeface="Trebuchet MS"/>
              </a:rPr>
              <a:t>file</a:t>
            </a:r>
            <a:endParaRPr sz="18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Trebuchet MS"/>
                <a:cs typeface="Trebuchet MS"/>
              </a:rPr>
              <a:t>Nodes</a:t>
            </a:r>
            <a:r>
              <a:rPr sz="180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125" dirty="0">
                <a:solidFill>
                  <a:srgbClr val="FFFFFF"/>
                </a:solidFill>
                <a:latin typeface="Trebuchet MS"/>
                <a:cs typeface="Trebuchet MS"/>
              </a:rPr>
              <a:t>(layout</a:t>
            </a:r>
            <a:r>
              <a:rPr sz="18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95" dirty="0">
                <a:solidFill>
                  <a:srgbClr val="FFFFFF"/>
                </a:solidFill>
                <a:latin typeface="Trebuchet MS"/>
                <a:cs typeface="Trebuchet MS"/>
              </a:rPr>
              <a:t>+</a:t>
            </a:r>
            <a:r>
              <a:rPr sz="1800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35" dirty="0">
                <a:solidFill>
                  <a:srgbClr val="FFFFFF"/>
                </a:solidFill>
                <a:latin typeface="Trebuchet MS"/>
                <a:cs typeface="Trebuchet MS"/>
              </a:rPr>
              <a:t>controls)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779645" y="4212716"/>
            <a:ext cx="3114675" cy="1386205"/>
            <a:chOff x="4779645" y="4212716"/>
            <a:chExt cx="3114675" cy="1386205"/>
          </a:xfrm>
        </p:grpSpPr>
        <p:sp>
          <p:nvSpPr>
            <p:cNvPr id="9" name="object 9"/>
            <p:cNvSpPr/>
            <p:nvPr/>
          </p:nvSpPr>
          <p:spPr>
            <a:xfrm>
              <a:off x="4789170" y="4222241"/>
              <a:ext cx="3095625" cy="1367155"/>
            </a:xfrm>
            <a:custGeom>
              <a:avLst/>
              <a:gdLst/>
              <a:ahLst/>
              <a:cxnLst/>
              <a:rect l="l" t="t" r="r" b="b"/>
              <a:pathLst>
                <a:path w="3095625" h="1367154">
                  <a:moveTo>
                    <a:pt x="2867405" y="0"/>
                  </a:moveTo>
                  <a:lnTo>
                    <a:pt x="227837" y="0"/>
                  </a:lnTo>
                  <a:lnTo>
                    <a:pt x="181913" y="4627"/>
                  </a:lnTo>
                  <a:lnTo>
                    <a:pt x="139142" y="17901"/>
                  </a:lnTo>
                  <a:lnTo>
                    <a:pt x="100440" y="38904"/>
                  </a:lnTo>
                  <a:lnTo>
                    <a:pt x="66722" y="66722"/>
                  </a:lnTo>
                  <a:lnTo>
                    <a:pt x="38904" y="100440"/>
                  </a:lnTo>
                  <a:lnTo>
                    <a:pt x="17901" y="139142"/>
                  </a:lnTo>
                  <a:lnTo>
                    <a:pt x="4627" y="181913"/>
                  </a:lnTo>
                  <a:lnTo>
                    <a:pt x="0" y="227837"/>
                  </a:lnTo>
                  <a:lnTo>
                    <a:pt x="0" y="1139189"/>
                  </a:lnTo>
                  <a:lnTo>
                    <a:pt x="4627" y="1185114"/>
                  </a:lnTo>
                  <a:lnTo>
                    <a:pt x="17901" y="1227885"/>
                  </a:lnTo>
                  <a:lnTo>
                    <a:pt x="38904" y="1266587"/>
                  </a:lnTo>
                  <a:lnTo>
                    <a:pt x="66722" y="1300305"/>
                  </a:lnTo>
                  <a:lnTo>
                    <a:pt x="100440" y="1328123"/>
                  </a:lnTo>
                  <a:lnTo>
                    <a:pt x="139142" y="1349126"/>
                  </a:lnTo>
                  <a:lnTo>
                    <a:pt x="181913" y="1362400"/>
                  </a:lnTo>
                  <a:lnTo>
                    <a:pt x="227837" y="1367027"/>
                  </a:lnTo>
                  <a:lnTo>
                    <a:pt x="2867405" y="1367027"/>
                  </a:lnTo>
                  <a:lnTo>
                    <a:pt x="2913330" y="1362400"/>
                  </a:lnTo>
                  <a:lnTo>
                    <a:pt x="2956101" y="1349126"/>
                  </a:lnTo>
                  <a:lnTo>
                    <a:pt x="2994803" y="1328123"/>
                  </a:lnTo>
                  <a:lnTo>
                    <a:pt x="3028521" y="1300305"/>
                  </a:lnTo>
                  <a:lnTo>
                    <a:pt x="3056339" y="1266587"/>
                  </a:lnTo>
                  <a:lnTo>
                    <a:pt x="3077342" y="1227885"/>
                  </a:lnTo>
                  <a:lnTo>
                    <a:pt x="3090616" y="1185114"/>
                  </a:lnTo>
                  <a:lnTo>
                    <a:pt x="3095244" y="1139189"/>
                  </a:lnTo>
                  <a:lnTo>
                    <a:pt x="3095244" y="227837"/>
                  </a:lnTo>
                  <a:lnTo>
                    <a:pt x="3090616" y="181913"/>
                  </a:lnTo>
                  <a:lnTo>
                    <a:pt x="3077342" y="139142"/>
                  </a:lnTo>
                  <a:lnTo>
                    <a:pt x="3056339" y="100440"/>
                  </a:lnTo>
                  <a:lnTo>
                    <a:pt x="3028521" y="66722"/>
                  </a:lnTo>
                  <a:lnTo>
                    <a:pt x="2994803" y="38904"/>
                  </a:lnTo>
                  <a:lnTo>
                    <a:pt x="2956101" y="17901"/>
                  </a:lnTo>
                  <a:lnTo>
                    <a:pt x="2913330" y="4627"/>
                  </a:lnTo>
                  <a:lnTo>
                    <a:pt x="2867405" y="0"/>
                  </a:lnTo>
                  <a:close/>
                </a:path>
              </a:pathLst>
            </a:custGeom>
            <a:solidFill>
              <a:srgbClr val="717BA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789170" y="4222241"/>
              <a:ext cx="3095625" cy="1367155"/>
            </a:xfrm>
            <a:custGeom>
              <a:avLst/>
              <a:gdLst/>
              <a:ahLst/>
              <a:cxnLst/>
              <a:rect l="l" t="t" r="r" b="b"/>
              <a:pathLst>
                <a:path w="3095625" h="1367154">
                  <a:moveTo>
                    <a:pt x="0" y="227837"/>
                  </a:moveTo>
                  <a:lnTo>
                    <a:pt x="4627" y="181913"/>
                  </a:lnTo>
                  <a:lnTo>
                    <a:pt x="17901" y="139142"/>
                  </a:lnTo>
                  <a:lnTo>
                    <a:pt x="38904" y="100440"/>
                  </a:lnTo>
                  <a:lnTo>
                    <a:pt x="66722" y="66722"/>
                  </a:lnTo>
                  <a:lnTo>
                    <a:pt x="100440" y="38904"/>
                  </a:lnTo>
                  <a:lnTo>
                    <a:pt x="139142" y="17901"/>
                  </a:lnTo>
                  <a:lnTo>
                    <a:pt x="181913" y="4627"/>
                  </a:lnTo>
                  <a:lnTo>
                    <a:pt x="227837" y="0"/>
                  </a:lnTo>
                  <a:lnTo>
                    <a:pt x="2867405" y="0"/>
                  </a:lnTo>
                  <a:lnTo>
                    <a:pt x="2913330" y="4627"/>
                  </a:lnTo>
                  <a:lnTo>
                    <a:pt x="2956101" y="17901"/>
                  </a:lnTo>
                  <a:lnTo>
                    <a:pt x="2994803" y="38904"/>
                  </a:lnTo>
                  <a:lnTo>
                    <a:pt x="3028521" y="66722"/>
                  </a:lnTo>
                  <a:lnTo>
                    <a:pt x="3056339" y="100440"/>
                  </a:lnTo>
                  <a:lnTo>
                    <a:pt x="3077342" y="139142"/>
                  </a:lnTo>
                  <a:lnTo>
                    <a:pt x="3090616" y="181913"/>
                  </a:lnTo>
                  <a:lnTo>
                    <a:pt x="3095244" y="227837"/>
                  </a:lnTo>
                  <a:lnTo>
                    <a:pt x="3095244" y="1139189"/>
                  </a:lnTo>
                  <a:lnTo>
                    <a:pt x="3090616" y="1185114"/>
                  </a:lnTo>
                  <a:lnTo>
                    <a:pt x="3077342" y="1227885"/>
                  </a:lnTo>
                  <a:lnTo>
                    <a:pt x="3056339" y="1266587"/>
                  </a:lnTo>
                  <a:lnTo>
                    <a:pt x="3028521" y="1300305"/>
                  </a:lnTo>
                  <a:lnTo>
                    <a:pt x="2994803" y="1328123"/>
                  </a:lnTo>
                  <a:lnTo>
                    <a:pt x="2956101" y="1349126"/>
                  </a:lnTo>
                  <a:lnTo>
                    <a:pt x="2913330" y="1362400"/>
                  </a:lnTo>
                  <a:lnTo>
                    <a:pt x="2867405" y="1367027"/>
                  </a:lnTo>
                  <a:lnTo>
                    <a:pt x="227837" y="1367027"/>
                  </a:lnTo>
                  <a:lnTo>
                    <a:pt x="181913" y="1362400"/>
                  </a:lnTo>
                  <a:lnTo>
                    <a:pt x="139142" y="1349126"/>
                  </a:lnTo>
                  <a:lnTo>
                    <a:pt x="100440" y="1328123"/>
                  </a:lnTo>
                  <a:lnTo>
                    <a:pt x="66722" y="1300305"/>
                  </a:lnTo>
                  <a:lnTo>
                    <a:pt x="38904" y="1266587"/>
                  </a:lnTo>
                  <a:lnTo>
                    <a:pt x="17901" y="1227885"/>
                  </a:lnTo>
                  <a:lnTo>
                    <a:pt x="4627" y="1185114"/>
                  </a:lnTo>
                  <a:lnTo>
                    <a:pt x="0" y="1139189"/>
                  </a:lnTo>
                  <a:lnTo>
                    <a:pt x="0" y="227837"/>
                  </a:lnTo>
                  <a:close/>
                </a:path>
              </a:pathLst>
            </a:custGeom>
            <a:ln w="19050">
              <a:solidFill>
                <a:srgbClr val="52587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652261" y="4747005"/>
            <a:ext cx="13665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Trebuchet MS"/>
                <a:cs typeface="Trebuchet MS"/>
              </a:rPr>
              <a:t>«</a:t>
            </a:r>
            <a:r>
              <a:rPr sz="1800" spc="-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40" dirty="0">
                <a:solidFill>
                  <a:srgbClr val="FFFFFF"/>
                </a:solidFill>
                <a:latin typeface="Trebuchet MS"/>
                <a:cs typeface="Trebuchet MS"/>
              </a:rPr>
              <a:t>Controller</a:t>
            </a:r>
            <a:r>
              <a:rPr sz="1800" spc="-9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Trebuchet MS"/>
                <a:cs typeface="Trebuchet MS"/>
              </a:rPr>
              <a:t>»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96848" y="2642997"/>
            <a:ext cx="3115945" cy="1386205"/>
            <a:chOff x="696848" y="2642997"/>
            <a:chExt cx="3115945" cy="1386205"/>
          </a:xfrm>
        </p:grpSpPr>
        <p:sp>
          <p:nvSpPr>
            <p:cNvPr id="13" name="object 13"/>
            <p:cNvSpPr/>
            <p:nvPr/>
          </p:nvSpPr>
          <p:spPr>
            <a:xfrm>
              <a:off x="706373" y="2652522"/>
              <a:ext cx="3096895" cy="1367155"/>
            </a:xfrm>
            <a:custGeom>
              <a:avLst/>
              <a:gdLst/>
              <a:ahLst/>
              <a:cxnLst/>
              <a:rect l="l" t="t" r="r" b="b"/>
              <a:pathLst>
                <a:path w="3096895" h="1367154">
                  <a:moveTo>
                    <a:pt x="2868929" y="0"/>
                  </a:moveTo>
                  <a:lnTo>
                    <a:pt x="227838" y="0"/>
                  </a:lnTo>
                  <a:lnTo>
                    <a:pt x="181920" y="4627"/>
                  </a:lnTo>
                  <a:lnTo>
                    <a:pt x="139153" y="17901"/>
                  </a:lnTo>
                  <a:lnTo>
                    <a:pt x="100451" y="38904"/>
                  </a:lnTo>
                  <a:lnTo>
                    <a:pt x="66732" y="66722"/>
                  </a:lnTo>
                  <a:lnTo>
                    <a:pt x="38911" y="100440"/>
                  </a:lnTo>
                  <a:lnTo>
                    <a:pt x="17904" y="139142"/>
                  </a:lnTo>
                  <a:lnTo>
                    <a:pt x="4628" y="181913"/>
                  </a:lnTo>
                  <a:lnTo>
                    <a:pt x="0" y="227837"/>
                  </a:lnTo>
                  <a:lnTo>
                    <a:pt x="0" y="1139189"/>
                  </a:lnTo>
                  <a:lnTo>
                    <a:pt x="4628" y="1185114"/>
                  </a:lnTo>
                  <a:lnTo>
                    <a:pt x="17904" y="1227885"/>
                  </a:lnTo>
                  <a:lnTo>
                    <a:pt x="38911" y="1266587"/>
                  </a:lnTo>
                  <a:lnTo>
                    <a:pt x="66732" y="1300305"/>
                  </a:lnTo>
                  <a:lnTo>
                    <a:pt x="100451" y="1328123"/>
                  </a:lnTo>
                  <a:lnTo>
                    <a:pt x="139153" y="1349126"/>
                  </a:lnTo>
                  <a:lnTo>
                    <a:pt x="181920" y="1362400"/>
                  </a:lnTo>
                  <a:lnTo>
                    <a:pt x="227838" y="1367027"/>
                  </a:lnTo>
                  <a:lnTo>
                    <a:pt x="2868929" y="1367027"/>
                  </a:lnTo>
                  <a:lnTo>
                    <a:pt x="2914854" y="1362400"/>
                  </a:lnTo>
                  <a:lnTo>
                    <a:pt x="2957625" y="1349126"/>
                  </a:lnTo>
                  <a:lnTo>
                    <a:pt x="2996327" y="1328123"/>
                  </a:lnTo>
                  <a:lnTo>
                    <a:pt x="3030045" y="1300305"/>
                  </a:lnTo>
                  <a:lnTo>
                    <a:pt x="3057863" y="1266587"/>
                  </a:lnTo>
                  <a:lnTo>
                    <a:pt x="3078866" y="1227885"/>
                  </a:lnTo>
                  <a:lnTo>
                    <a:pt x="3092140" y="1185114"/>
                  </a:lnTo>
                  <a:lnTo>
                    <a:pt x="3096767" y="1139189"/>
                  </a:lnTo>
                  <a:lnTo>
                    <a:pt x="3096767" y="227837"/>
                  </a:lnTo>
                  <a:lnTo>
                    <a:pt x="3092140" y="181913"/>
                  </a:lnTo>
                  <a:lnTo>
                    <a:pt x="3078866" y="139142"/>
                  </a:lnTo>
                  <a:lnTo>
                    <a:pt x="3057863" y="100440"/>
                  </a:lnTo>
                  <a:lnTo>
                    <a:pt x="3030045" y="66722"/>
                  </a:lnTo>
                  <a:lnTo>
                    <a:pt x="2996327" y="38904"/>
                  </a:lnTo>
                  <a:lnTo>
                    <a:pt x="2957625" y="17901"/>
                  </a:lnTo>
                  <a:lnTo>
                    <a:pt x="2914854" y="4627"/>
                  </a:lnTo>
                  <a:lnTo>
                    <a:pt x="2868929" y="0"/>
                  </a:lnTo>
                  <a:close/>
                </a:path>
              </a:pathLst>
            </a:custGeom>
            <a:solidFill>
              <a:srgbClr val="717BA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06373" y="2652522"/>
              <a:ext cx="3096895" cy="1367155"/>
            </a:xfrm>
            <a:custGeom>
              <a:avLst/>
              <a:gdLst/>
              <a:ahLst/>
              <a:cxnLst/>
              <a:rect l="l" t="t" r="r" b="b"/>
              <a:pathLst>
                <a:path w="3096895" h="1367154">
                  <a:moveTo>
                    <a:pt x="0" y="227837"/>
                  </a:moveTo>
                  <a:lnTo>
                    <a:pt x="4628" y="181913"/>
                  </a:lnTo>
                  <a:lnTo>
                    <a:pt x="17904" y="139142"/>
                  </a:lnTo>
                  <a:lnTo>
                    <a:pt x="38911" y="100440"/>
                  </a:lnTo>
                  <a:lnTo>
                    <a:pt x="66732" y="66722"/>
                  </a:lnTo>
                  <a:lnTo>
                    <a:pt x="100451" y="38904"/>
                  </a:lnTo>
                  <a:lnTo>
                    <a:pt x="139153" y="17901"/>
                  </a:lnTo>
                  <a:lnTo>
                    <a:pt x="181920" y="4627"/>
                  </a:lnTo>
                  <a:lnTo>
                    <a:pt x="227838" y="0"/>
                  </a:lnTo>
                  <a:lnTo>
                    <a:pt x="2868929" y="0"/>
                  </a:lnTo>
                  <a:lnTo>
                    <a:pt x="2914854" y="4627"/>
                  </a:lnTo>
                  <a:lnTo>
                    <a:pt x="2957625" y="17901"/>
                  </a:lnTo>
                  <a:lnTo>
                    <a:pt x="2996327" y="38904"/>
                  </a:lnTo>
                  <a:lnTo>
                    <a:pt x="3030045" y="66722"/>
                  </a:lnTo>
                  <a:lnTo>
                    <a:pt x="3057863" y="100440"/>
                  </a:lnTo>
                  <a:lnTo>
                    <a:pt x="3078866" y="139142"/>
                  </a:lnTo>
                  <a:lnTo>
                    <a:pt x="3092140" y="181913"/>
                  </a:lnTo>
                  <a:lnTo>
                    <a:pt x="3096767" y="227837"/>
                  </a:lnTo>
                  <a:lnTo>
                    <a:pt x="3096767" y="1139189"/>
                  </a:lnTo>
                  <a:lnTo>
                    <a:pt x="3092140" y="1185114"/>
                  </a:lnTo>
                  <a:lnTo>
                    <a:pt x="3078866" y="1227885"/>
                  </a:lnTo>
                  <a:lnTo>
                    <a:pt x="3057863" y="1266587"/>
                  </a:lnTo>
                  <a:lnTo>
                    <a:pt x="3030045" y="1300305"/>
                  </a:lnTo>
                  <a:lnTo>
                    <a:pt x="2996327" y="1328123"/>
                  </a:lnTo>
                  <a:lnTo>
                    <a:pt x="2957625" y="1349126"/>
                  </a:lnTo>
                  <a:lnTo>
                    <a:pt x="2914854" y="1362400"/>
                  </a:lnTo>
                  <a:lnTo>
                    <a:pt x="2868929" y="1367027"/>
                  </a:lnTo>
                  <a:lnTo>
                    <a:pt x="227838" y="1367027"/>
                  </a:lnTo>
                  <a:lnTo>
                    <a:pt x="181920" y="1362400"/>
                  </a:lnTo>
                  <a:lnTo>
                    <a:pt x="139153" y="1349126"/>
                  </a:lnTo>
                  <a:lnTo>
                    <a:pt x="100451" y="1328123"/>
                  </a:lnTo>
                  <a:lnTo>
                    <a:pt x="66732" y="1300305"/>
                  </a:lnTo>
                  <a:lnTo>
                    <a:pt x="38911" y="1266587"/>
                  </a:lnTo>
                  <a:lnTo>
                    <a:pt x="17904" y="1227885"/>
                  </a:lnTo>
                  <a:lnTo>
                    <a:pt x="4628" y="1185114"/>
                  </a:lnTo>
                  <a:lnTo>
                    <a:pt x="0" y="1139189"/>
                  </a:lnTo>
                  <a:lnTo>
                    <a:pt x="0" y="227837"/>
                  </a:lnTo>
                  <a:close/>
                </a:path>
              </a:pathLst>
            </a:custGeom>
            <a:ln w="19050">
              <a:solidFill>
                <a:srgbClr val="52587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542033" y="3039871"/>
            <a:ext cx="14236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478155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solidFill>
                  <a:srgbClr val="FFFFFF"/>
                </a:solidFill>
                <a:latin typeface="Trebuchet MS"/>
                <a:cs typeface="Trebuchet MS"/>
              </a:rPr>
              <a:t>Main </a:t>
            </a:r>
            <a:r>
              <a:rPr sz="1800" spc="-100" dirty="0">
                <a:solidFill>
                  <a:srgbClr val="FFFFFF"/>
                </a:solidFill>
                <a:latin typeface="Trebuchet MS"/>
                <a:cs typeface="Trebuchet MS"/>
              </a:rPr>
              <a:t>(load</a:t>
            </a:r>
            <a:r>
              <a:rPr sz="18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160" dirty="0">
                <a:solidFill>
                  <a:srgbClr val="FFFFFF"/>
                </a:solidFill>
                <a:latin typeface="Trebuchet MS"/>
                <a:cs typeface="Trebuchet MS"/>
              </a:rPr>
              <a:t>&amp;</a:t>
            </a:r>
            <a:r>
              <a:rPr sz="18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114" dirty="0">
                <a:solidFill>
                  <a:srgbClr val="FFFFFF"/>
                </a:solidFill>
                <a:latin typeface="Trebuchet MS"/>
                <a:cs typeface="Trebuchet MS"/>
              </a:rPr>
              <a:t>launch)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5614415" y="2709672"/>
            <a:ext cx="76200" cy="1440180"/>
          </a:xfrm>
          <a:custGeom>
            <a:avLst/>
            <a:gdLst/>
            <a:ahLst/>
            <a:cxnLst/>
            <a:rect l="l" t="t" r="r" b="b"/>
            <a:pathLst>
              <a:path w="76200" h="1440179">
                <a:moveTo>
                  <a:pt x="44450" y="63500"/>
                </a:moveTo>
                <a:lnTo>
                  <a:pt x="31750" y="63500"/>
                </a:lnTo>
                <a:lnTo>
                  <a:pt x="31750" y="1440179"/>
                </a:lnTo>
                <a:lnTo>
                  <a:pt x="44450" y="1440179"/>
                </a:lnTo>
                <a:lnTo>
                  <a:pt x="44450" y="63500"/>
                </a:lnTo>
                <a:close/>
              </a:path>
              <a:path w="76200" h="1440179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1440179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717BA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829300" y="2709672"/>
            <a:ext cx="76200" cy="1440180"/>
          </a:xfrm>
          <a:custGeom>
            <a:avLst/>
            <a:gdLst/>
            <a:ahLst/>
            <a:cxnLst/>
            <a:rect l="l" t="t" r="r" b="b"/>
            <a:pathLst>
              <a:path w="76200" h="1440179">
                <a:moveTo>
                  <a:pt x="31750" y="1363979"/>
                </a:moveTo>
                <a:lnTo>
                  <a:pt x="0" y="1363979"/>
                </a:lnTo>
                <a:lnTo>
                  <a:pt x="38100" y="1440179"/>
                </a:lnTo>
                <a:lnTo>
                  <a:pt x="69850" y="1376679"/>
                </a:lnTo>
                <a:lnTo>
                  <a:pt x="31750" y="1376679"/>
                </a:lnTo>
                <a:lnTo>
                  <a:pt x="31750" y="1363979"/>
                </a:lnTo>
                <a:close/>
              </a:path>
              <a:path w="76200" h="1440179">
                <a:moveTo>
                  <a:pt x="44450" y="0"/>
                </a:moveTo>
                <a:lnTo>
                  <a:pt x="31750" y="0"/>
                </a:lnTo>
                <a:lnTo>
                  <a:pt x="31750" y="1376679"/>
                </a:lnTo>
                <a:lnTo>
                  <a:pt x="44450" y="1376679"/>
                </a:lnTo>
                <a:lnTo>
                  <a:pt x="44450" y="0"/>
                </a:lnTo>
                <a:close/>
              </a:path>
              <a:path w="76200" h="1440179">
                <a:moveTo>
                  <a:pt x="76200" y="1363979"/>
                </a:moveTo>
                <a:lnTo>
                  <a:pt x="44450" y="1363979"/>
                </a:lnTo>
                <a:lnTo>
                  <a:pt x="44450" y="1376679"/>
                </a:lnTo>
                <a:lnTo>
                  <a:pt x="69850" y="1376679"/>
                </a:lnTo>
                <a:lnTo>
                  <a:pt x="76200" y="1363979"/>
                </a:lnTo>
                <a:close/>
              </a:path>
            </a:pathLst>
          </a:custGeom>
          <a:solidFill>
            <a:srgbClr val="717BA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5252973" y="3215766"/>
            <a:ext cx="9925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5146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Trebuchet MS"/>
                <a:cs typeface="Trebuchet MS"/>
              </a:rPr>
              <a:t>node </a:t>
            </a:r>
            <a:r>
              <a:rPr sz="1800" spc="-80" dirty="0">
                <a:latin typeface="Trebuchet MS"/>
                <a:cs typeface="Trebuchet MS"/>
              </a:rPr>
              <a:t>properties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7054595" y="2709672"/>
            <a:ext cx="76200" cy="1440180"/>
          </a:xfrm>
          <a:custGeom>
            <a:avLst/>
            <a:gdLst/>
            <a:ahLst/>
            <a:cxnLst/>
            <a:rect l="l" t="t" r="r" b="b"/>
            <a:pathLst>
              <a:path w="76200" h="1440179">
                <a:moveTo>
                  <a:pt x="31750" y="1363979"/>
                </a:moveTo>
                <a:lnTo>
                  <a:pt x="0" y="1363979"/>
                </a:lnTo>
                <a:lnTo>
                  <a:pt x="38100" y="1440179"/>
                </a:lnTo>
                <a:lnTo>
                  <a:pt x="69850" y="1376679"/>
                </a:lnTo>
                <a:lnTo>
                  <a:pt x="31750" y="1376679"/>
                </a:lnTo>
                <a:lnTo>
                  <a:pt x="31750" y="1363979"/>
                </a:lnTo>
                <a:close/>
              </a:path>
              <a:path w="76200" h="1440179">
                <a:moveTo>
                  <a:pt x="44450" y="0"/>
                </a:moveTo>
                <a:lnTo>
                  <a:pt x="31750" y="0"/>
                </a:lnTo>
                <a:lnTo>
                  <a:pt x="31750" y="1376679"/>
                </a:lnTo>
                <a:lnTo>
                  <a:pt x="44450" y="1376679"/>
                </a:lnTo>
                <a:lnTo>
                  <a:pt x="44450" y="0"/>
                </a:lnTo>
                <a:close/>
              </a:path>
              <a:path w="76200" h="1440179">
                <a:moveTo>
                  <a:pt x="76200" y="1363979"/>
                </a:moveTo>
                <a:lnTo>
                  <a:pt x="44450" y="1363979"/>
                </a:lnTo>
                <a:lnTo>
                  <a:pt x="44450" y="1376679"/>
                </a:lnTo>
                <a:lnTo>
                  <a:pt x="69850" y="1376679"/>
                </a:lnTo>
                <a:lnTo>
                  <a:pt x="76200" y="1363979"/>
                </a:lnTo>
                <a:close/>
              </a:path>
            </a:pathLst>
          </a:custGeom>
          <a:solidFill>
            <a:srgbClr val="717BA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6724268" y="2915539"/>
            <a:ext cx="80581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3843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Trebuchet MS"/>
                <a:cs typeface="Trebuchet MS"/>
              </a:rPr>
              <a:t>event </a:t>
            </a:r>
            <a:r>
              <a:rPr sz="1800" spc="-100" dirty="0">
                <a:latin typeface="Trebuchet MS"/>
                <a:cs typeface="Trebuchet MS"/>
              </a:rPr>
              <a:t>handlers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3991483" y="2348483"/>
            <a:ext cx="659765" cy="652780"/>
          </a:xfrm>
          <a:custGeom>
            <a:avLst/>
            <a:gdLst/>
            <a:ahLst/>
            <a:cxnLst/>
            <a:rect l="l" t="t" r="r" b="b"/>
            <a:pathLst>
              <a:path w="659764" h="652780">
                <a:moveTo>
                  <a:pt x="610107" y="40131"/>
                </a:moveTo>
                <a:lnTo>
                  <a:pt x="0" y="643508"/>
                </a:lnTo>
                <a:lnTo>
                  <a:pt x="8889" y="652526"/>
                </a:lnTo>
                <a:lnTo>
                  <a:pt x="610035" y="58136"/>
                </a:lnTo>
                <a:lnTo>
                  <a:pt x="601132" y="49149"/>
                </a:lnTo>
                <a:lnTo>
                  <a:pt x="619125" y="49149"/>
                </a:lnTo>
                <a:lnTo>
                  <a:pt x="610107" y="40131"/>
                </a:lnTo>
                <a:close/>
              </a:path>
              <a:path w="659764" h="652780">
                <a:moveTo>
                  <a:pt x="646113" y="40131"/>
                </a:moveTo>
                <a:lnTo>
                  <a:pt x="610107" y="40131"/>
                </a:lnTo>
                <a:lnTo>
                  <a:pt x="619125" y="49149"/>
                </a:lnTo>
                <a:lnTo>
                  <a:pt x="610035" y="58136"/>
                </a:lnTo>
                <a:lnTo>
                  <a:pt x="632332" y="80644"/>
                </a:lnTo>
                <a:lnTo>
                  <a:pt x="646113" y="40131"/>
                </a:lnTo>
                <a:close/>
              </a:path>
              <a:path w="659764" h="652780">
                <a:moveTo>
                  <a:pt x="659764" y="0"/>
                </a:moveTo>
                <a:lnTo>
                  <a:pt x="578738" y="26542"/>
                </a:lnTo>
                <a:lnTo>
                  <a:pt x="610035" y="58136"/>
                </a:lnTo>
                <a:lnTo>
                  <a:pt x="619125" y="49149"/>
                </a:lnTo>
                <a:lnTo>
                  <a:pt x="600990" y="49149"/>
                </a:lnTo>
                <a:lnTo>
                  <a:pt x="610107" y="40131"/>
                </a:lnTo>
                <a:lnTo>
                  <a:pt x="646113" y="40131"/>
                </a:lnTo>
                <a:lnTo>
                  <a:pt x="659764" y="0"/>
                </a:lnTo>
                <a:close/>
              </a:path>
            </a:pathLst>
          </a:custGeom>
          <a:solidFill>
            <a:srgbClr val="717BA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3991483" y="3564635"/>
            <a:ext cx="659765" cy="652780"/>
          </a:xfrm>
          <a:custGeom>
            <a:avLst/>
            <a:gdLst/>
            <a:ahLst/>
            <a:cxnLst/>
            <a:rect l="l" t="t" r="r" b="b"/>
            <a:pathLst>
              <a:path w="659764" h="652779">
                <a:moveTo>
                  <a:pt x="601062" y="603575"/>
                </a:moveTo>
                <a:lnTo>
                  <a:pt x="578738" y="626109"/>
                </a:lnTo>
                <a:lnTo>
                  <a:pt x="659764" y="652652"/>
                </a:lnTo>
                <a:lnTo>
                  <a:pt x="646113" y="612520"/>
                </a:lnTo>
                <a:lnTo>
                  <a:pt x="610107" y="612520"/>
                </a:lnTo>
                <a:lnTo>
                  <a:pt x="601062" y="603575"/>
                </a:lnTo>
                <a:close/>
              </a:path>
              <a:path w="659764" h="652779">
                <a:moveTo>
                  <a:pt x="610036" y="594515"/>
                </a:moveTo>
                <a:lnTo>
                  <a:pt x="601062" y="603575"/>
                </a:lnTo>
                <a:lnTo>
                  <a:pt x="610107" y="612520"/>
                </a:lnTo>
                <a:lnTo>
                  <a:pt x="619053" y="603575"/>
                </a:lnTo>
                <a:lnTo>
                  <a:pt x="619196" y="603575"/>
                </a:lnTo>
                <a:lnTo>
                  <a:pt x="610036" y="594515"/>
                </a:lnTo>
                <a:close/>
              </a:path>
              <a:path w="659764" h="652779">
                <a:moveTo>
                  <a:pt x="632332" y="572007"/>
                </a:moveTo>
                <a:lnTo>
                  <a:pt x="610036" y="594515"/>
                </a:lnTo>
                <a:lnTo>
                  <a:pt x="619196" y="603575"/>
                </a:lnTo>
                <a:lnTo>
                  <a:pt x="619053" y="603575"/>
                </a:lnTo>
                <a:lnTo>
                  <a:pt x="610107" y="612520"/>
                </a:lnTo>
                <a:lnTo>
                  <a:pt x="646113" y="612520"/>
                </a:lnTo>
                <a:lnTo>
                  <a:pt x="632332" y="572007"/>
                </a:lnTo>
                <a:close/>
              </a:path>
              <a:path w="659764" h="652779">
                <a:moveTo>
                  <a:pt x="8889" y="0"/>
                </a:moveTo>
                <a:lnTo>
                  <a:pt x="0" y="9143"/>
                </a:lnTo>
                <a:lnTo>
                  <a:pt x="601062" y="603575"/>
                </a:lnTo>
                <a:lnTo>
                  <a:pt x="610036" y="594515"/>
                </a:lnTo>
                <a:lnTo>
                  <a:pt x="8889" y="0"/>
                </a:lnTo>
                <a:close/>
              </a:path>
            </a:pathLst>
          </a:custGeom>
          <a:solidFill>
            <a:srgbClr val="717BA2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3" name="object 23"/>
          <p:cNvGrpSpPr/>
          <p:nvPr/>
        </p:nvGrpSpPr>
        <p:grpSpPr>
          <a:xfrm>
            <a:off x="1199769" y="4979289"/>
            <a:ext cx="3115945" cy="1052830"/>
            <a:chOff x="1199769" y="4979289"/>
            <a:chExt cx="3115945" cy="1052830"/>
          </a:xfrm>
        </p:grpSpPr>
        <p:pic>
          <p:nvPicPr>
            <p:cNvPr id="24" name="object 2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09294" y="4988814"/>
              <a:ext cx="3096768" cy="1033272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1209294" y="4988814"/>
              <a:ext cx="3096895" cy="1033780"/>
            </a:xfrm>
            <a:custGeom>
              <a:avLst/>
              <a:gdLst/>
              <a:ahLst/>
              <a:cxnLst/>
              <a:rect l="l" t="t" r="r" b="b"/>
              <a:pathLst>
                <a:path w="3096895" h="1033779">
                  <a:moveTo>
                    <a:pt x="0" y="172212"/>
                  </a:moveTo>
                  <a:lnTo>
                    <a:pt x="6150" y="126426"/>
                  </a:lnTo>
                  <a:lnTo>
                    <a:pt x="23509" y="85287"/>
                  </a:lnTo>
                  <a:lnTo>
                    <a:pt x="50434" y="50434"/>
                  </a:lnTo>
                  <a:lnTo>
                    <a:pt x="85287" y="23509"/>
                  </a:lnTo>
                  <a:lnTo>
                    <a:pt x="126426" y="6150"/>
                  </a:lnTo>
                  <a:lnTo>
                    <a:pt x="172212" y="0"/>
                  </a:lnTo>
                  <a:lnTo>
                    <a:pt x="2924556" y="0"/>
                  </a:lnTo>
                  <a:lnTo>
                    <a:pt x="2970341" y="6150"/>
                  </a:lnTo>
                  <a:lnTo>
                    <a:pt x="3011480" y="23509"/>
                  </a:lnTo>
                  <a:lnTo>
                    <a:pt x="3046333" y="50434"/>
                  </a:lnTo>
                  <a:lnTo>
                    <a:pt x="3073258" y="85287"/>
                  </a:lnTo>
                  <a:lnTo>
                    <a:pt x="3090617" y="126426"/>
                  </a:lnTo>
                  <a:lnTo>
                    <a:pt x="3096768" y="172212"/>
                  </a:lnTo>
                  <a:lnTo>
                    <a:pt x="3096768" y="861060"/>
                  </a:lnTo>
                  <a:lnTo>
                    <a:pt x="3090617" y="906840"/>
                  </a:lnTo>
                  <a:lnTo>
                    <a:pt x="3073258" y="947978"/>
                  </a:lnTo>
                  <a:lnTo>
                    <a:pt x="3046333" y="982832"/>
                  </a:lnTo>
                  <a:lnTo>
                    <a:pt x="3011480" y="1009760"/>
                  </a:lnTo>
                  <a:lnTo>
                    <a:pt x="2970341" y="1027120"/>
                  </a:lnTo>
                  <a:lnTo>
                    <a:pt x="2924556" y="1033272"/>
                  </a:lnTo>
                  <a:lnTo>
                    <a:pt x="172212" y="1033272"/>
                  </a:lnTo>
                  <a:lnTo>
                    <a:pt x="126426" y="1027120"/>
                  </a:lnTo>
                  <a:lnTo>
                    <a:pt x="85287" y="1009760"/>
                  </a:lnTo>
                  <a:lnTo>
                    <a:pt x="50434" y="982832"/>
                  </a:lnTo>
                  <a:lnTo>
                    <a:pt x="23509" y="947978"/>
                  </a:lnTo>
                  <a:lnTo>
                    <a:pt x="6150" y="906840"/>
                  </a:lnTo>
                  <a:lnTo>
                    <a:pt x="0" y="861060"/>
                  </a:lnTo>
                  <a:lnTo>
                    <a:pt x="0" y="172212"/>
                  </a:lnTo>
                  <a:close/>
                </a:path>
              </a:pathLst>
            </a:custGeom>
            <a:ln w="19050">
              <a:solidFill>
                <a:srgbClr val="52587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1367408" y="5209794"/>
            <a:ext cx="277939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911225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464652"/>
                </a:solidFill>
                <a:latin typeface="Trebuchet MS"/>
                <a:cs typeface="Trebuchet MS"/>
              </a:rPr>
              <a:t>«</a:t>
            </a:r>
            <a:r>
              <a:rPr sz="1800" spc="-80" dirty="0">
                <a:solidFill>
                  <a:srgbClr val="464652"/>
                </a:solidFill>
                <a:latin typeface="Trebuchet MS"/>
                <a:cs typeface="Trebuchet MS"/>
              </a:rPr>
              <a:t> </a:t>
            </a:r>
            <a:r>
              <a:rPr sz="1800" spc="-45" dirty="0">
                <a:solidFill>
                  <a:srgbClr val="464652"/>
                </a:solidFill>
                <a:latin typeface="Trebuchet MS"/>
                <a:cs typeface="Trebuchet MS"/>
              </a:rPr>
              <a:t>Model</a:t>
            </a:r>
            <a:r>
              <a:rPr sz="1800" spc="-90" dirty="0">
                <a:solidFill>
                  <a:srgbClr val="464652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464652"/>
                </a:solidFill>
                <a:latin typeface="Trebuchet MS"/>
                <a:cs typeface="Trebuchet MS"/>
              </a:rPr>
              <a:t>» </a:t>
            </a:r>
            <a:r>
              <a:rPr sz="1800" spc="-55" dirty="0">
                <a:solidFill>
                  <a:srgbClr val="464652"/>
                </a:solidFill>
                <a:latin typeface="Trebuchet MS"/>
                <a:cs typeface="Trebuchet MS"/>
              </a:rPr>
              <a:t>Algorithms</a:t>
            </a:r>
            <a:r>
              <a:rPr sz="1800" spc="-80" dirty="0">
                <a:solidFill>
                  <a:srgbClr val="464652"/>
                </a:solidFill>
                <a:latin typeface="Trebuchet MS"/>
                <a:cs typeface="Trebuchet MS"/>
              </a:rPr>
              <a:t> </a:t>
            </a:r>
            <a:r>
              <a:rPr sz="1800" spc="-160" dirty="0">
                <a:solidFill>
                  <a:srgbClr val="464652"/>
                </a:solidFill>
                <a:latin typeface="Trebuchet MS"/>
                <a:cs typeface="Trebuchet MS"/>
              </a:rPr>
              <a:t>&amp;</a:t>
            </a:r>
            <a:r>
              <a:rPr sz="1800" spc="-50" dirty="0">
                <a:solidFill>
                  <a:srgbClr val="464652"/>
                </a:solidFill>
                <a:latin typeface="Trebuchet MS"/>
                <a:cs typeface="Trebuchet MS"/>
              </a:rPr>
              <a:t> </a:t>
            </a:r>
            <a:r>
              <a:rPr sz="1800" spc="-60" dirty="0">
                <a:solidFill>
                  <a:srgbClr val="464652"/>
                </a:solidFill>
                <a:latin typeface="Trebuchet MS"/>
                <a:cs typeface="Trebuchet MS"/>
              </a:rPr>
              <a:t>Data</a:t>
            </a:r>
            <a:r>
              <a:rPr sz="1800" spc="-55" dirty="0">
                <a:solidFill>
                  <a:srgbClr val="464652"/>
                </a:solidFill>
                <a:latin typeface="Trebuchet MS"/>
                <a:cs typeface="Trebuchet MS"/>
              </a:rPr>
              <a:t> </a:t>
            </a:r>
            <a:r>
              <a:rPr sz="1800" spc="-75" dirty="0">
                <a:solidFill>
                  <a:srgbClr val="464652"/>
                </a:solidFill>
                <a:latin typeface="Trebuchet MS"/>
                <a:cs typeface="Trebuchet MS"/>
              </a:rPr>
              <a:t>Structures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4301744" y="5228844"/>
            <a:ext cx="418465" cy="376555"/>
          </a:xfrm>
          <a:custGeom>
            <a:avLst/>
            <a:gdLst/>
            <a:ahLst/>
            <a:cxnLst/>
            <a:rect l="l" t="t" r="r" b="b"/>
            <a:pathLst>
              <a:path w="418464" h="376554">
                <a:moveTo>
                  <a:pt x="414782" y="0"/>
                </a:moveTo>
                <a:lnTo>
                  <a:pt x="330327" y="10795"/>
                </a:lnTo>
                <a:lnTo>
                  <a:pt x="347992" y="37147"/>
                </a:lnTo>
                <a:lnTo>
                  <a:pt x="0" y="270256"/>
                </a:lnTo>
                <a:lnTo>
                  <a:pt x="7112" y="280797"/>
                </a:lnTo>
                <a:lnTo>
                  <a:pt x="355079" y="47713"/>
                </a:lnTo>
                <a:lnTo>
                  <a:pt x="372745" y="74041"/>
                </a:lnTo>
                <a:lnTo>
                  <a:pt x="397687" y="30099"/>
                </a:lnTo>
                <a:lnTo>
                  <a:pt x="414782" y="0"/>
                </a:lnTo>
                <a:close/>
              </a:path>
              <a:path w="418464" h="376554">
                <a:moveTo>
                  <a:pt x="418338" y="105918"/>
                </a:moveTo>
                <a:lnTo>
                  <a:pt x="411226" y="95250"/>
                </a:lnTo>
                <a:lnTo>
                  <a:pt x="63322" y="328498"/>
                </a:lnTo>
                <a:lnTo>
                  <a:pt x="45593" y="302006"/>
                </a:lnTo>
                <a:lnTo>
                  <a:pt x="3556" y="376123"/>
                </a:lnTo>
                <a:lnTo>
                  <a:pt x="88011" y="365366"/>
                </a:lnTo>
                <a:lnTo>
                  <a:pt x="75095" y="346075"/>
                </a:lnTo>
                <a:lnTo>
                  <a:pt x="70358" y="339013"/>
                </a:lnTo>
                <a:lnTo>
                  <a:pt x="418338" y="105918"/>
                </a:lnTo>
                <a:close/>
              </a:path>
            </a:pathLst>
          </a:custGeom>
          <a:solidFill>
            <a:srgbClr val="717BA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21</a:t>
            </a:fld>
            <a:endParaRPr spc="-25" dirty="0"/>
          </a:p>
        </p:txBody>
      </p:sp>
      <p:sp>
        <p:nvSpPr>
          <p:cNvPr id="29" name="object 29"/>
          <p:cNvSpPr txBox="1">
            <a:spLocks noGrp="1"/>
          </p:cNvSpPr>
          <p:nvPr>
            <p:ph type="dt" sz="half" idx="6"/>
          </p:nvPr>
        </p:nvSpPr>
        <p:spPr>
          <a:xfrm>
            <a:off x="4229227" y="6395259"/>
            <a:ext cx="2094864" cy="21608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it-IT" spc="-95" dirty="0" err="1"/>
              <a:t>JavaFX</a:t>
            </a:r>
            <a:endParaRPr spc="-6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</TotalTime>
  <Words>1005</Words>
  <Application>Microsoft Office PowerPoint</Application>
  <PresentationFormat>Presentazione su schermo (4:3)</PresentationFormat>
  <Paragraphs>202</Paragraphs>
  <Slides>21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21</vt:i4>
      </vt:variant>
    </vt:vector>
  </HeadingPairs>
  <TitlesOfParts>
    <vt:vector size="27" baseType="lpstr">
      <vt:lpstr>Calibri</vt:lpstr>
      <vt:lpstr>Cambria</vt:lpstr>
      <vt:lpstr>Consolas</vt:lpstr>
      <vt:lpstr>Segoe UI Symbol</vt:lpstr>
      <vt:lpstr>Trebuchet MS</vt:lpstr>
      <vt:lpstr>Office Theme</vt:lpstr>
      <vt:lpstr>Presentazione standard di PowerPoint</vt:lpstr>
      <vt:lpstr>JavaFX applications</vt:lpstr>
      <vt:lpstr>Application structure</vt:lpstr>
      <vt:lpstr>Nested nodes</vt:lpstr>
      <vt:lpstr>Presentazione standard di PowerPoint</vt:lpstr>
      <vt:lpstr>Essential Reference</vt:lpstr>
      <vt:lpstr>General rules</vt:lpstr>
      <vt:lpstr>Nodes</vt:lpstr>
      <vt:lpstr>Panes</vt:lpstr>
      <vt:lpstr>Controls</vt:lpstr>
      <vt:lpstr>JavaFX Scene Builder 2.0 Oracle</vt:lpstr>
      <vt:lpstr>Building a scene from FXML</vt:lpstr>
      <vt:lpstr>Key concepts in JavaFX</vt:lpstr>
      <vt:lpstr>Properties</vt:lpstr>
      <vt:lpstr>Events</vt:lpstr>
      <vt:lpstr>What is an event?</vt:lpstr>
      <vt:lpstr>Event types</vt:lpstr>
      <vt:lpstr>Defining a Controller class</vt:lpstr>
      <vt:lpstr>Injection of Node references</vt:lpstr>
      <vt:lpstr>Registration of Event Handlers</vt:lpstr>
      <vt:lpstr>Minimal program structure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JavaFX</dc:title>
  <dc:creator>Alberto Paganuzzi</dc:creator>
  <cp:lastModifiedBy>Alberto Paganuzzi</cp:lastModifiedBy>
  <cp:revision>5</cp:revision>
  <dcterms:created xsi:type="dcterms:W3CDTF">2025-12-23T09:41:13Z</dcterms:created>
  <dcterms:modified xsi:type="dcterms:W3CDTF">2025-12-29T11:20:19Z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2023-02-26T00:00:00Z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2025-12-23T00:00:00Z</vt:filetime>
  </property>
  <property fmtid="{D5CDD505-2E9C-101B-9397-08002B2CF9AE}" pid="5" name="Producer">
    <vt:lpwstr>Microsoft® PowerPoint® for Microsoft 365</vt:lpwstr>
  </property>
</Properties>
</file>